
<file path=[Content_Types].xml><?xml version="1.0" encoding="utf-8"?>
<Types xmlns="http://schemas.openxmlformats.org/package/2006/content-types">
  <Default Extension="xml" ContentType="application/xml"/>
  <Default Extension="jpeg" ContentType="image/jpeg"/>
  <Default Extension="png" ContentType="image/png"/>
  <Default Extension="wdp" ContentType="image/vnd.ms-photo"/>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tags/tag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2" r:id="rId3"/>
    <p:sldMasterId id="2147483686" r:id="rId4"/>
  </p:sldMasterIdLst>
  <p:notesMasterIdLst>
    <p:notesMasterId r:id="rId24"/>
  </p:notesMasterIdLst>
  <p:sldIdLst>
    <p:sldId id="256" r:id="rId5"/>
    <p:sldId id="257" r:id="rId6"/>
    <p:sldId id="258" r:id="rId7"/>
    <p:sldId id="259" r:id="rId8"/>
    <p:sldId id="260" r:id="rId9"/>
    <p:sldId id="261" r:id="rId10"/>
    <p:sldId id="262" r:id="rId11"/>
    <p:sldId id="274" r:id="rId12"/>
    <p:sldId id="276" r:id="rId13"/>
    <p:sldId id="277" r:id="rId14"/>
    <p:sldId id="263" r:id="rId15"/>
    <p:sldId id="269" r:id="rId16"/>
    <p:sldId id="270" r:id="rId17"/>
    <p:sldId id="271" r:id="rId18"/>
    <p:sldId id="272" r:id="rId19"/>
    <p:sldId id="273" r:id="rId20"/>
    <p:sldId id="278" r:id="rId21"/>
    <p:sldId id="264" r:id="rId22"/>
    <p:sldId id="266" r:id="rId2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E3E3E3"/>
    <a:srgbClr val="91C6ED"/>
    <a:srgbClr val="6EA5D2"/>
    <a:srgbClr val="5AAAE4"/>
    <a:srgbClr val="969696"/>
    <a:srgbClr val="6FBE44"/>
    <a:srgbClr val="EE2A2F"/>
    <a:srgbClr val="6EBE43"/>
    <a:srgbClr val="2859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1033" autoAdjust="0"/>
  </p:normalViewPr>
  <p:slideViewPr>
    <p:cSldViewPr snapToGrid="0">
      <p:cViewPr varScale="1">
        <p:scale>
          <a:sx n="103" d="100"/>
          <a:sy n="103" d="100"/>
        </p:scale>
        <p:origin x="1880" y="176"/>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F17275-9FC6-485B-AE47-1CB26024E2D5}" type="datetimeFigureOut">
              <a:rPr lang="zh-CN" altLang="en-US" smtClean="0"/>
              <a:t>2018/6/4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C6A921-254F-470A-B8D4-0FC279F95E59}" type="slidenum">
              <a:rPr lang="zh-CN" altLang="en-US" smtClean="0"/>
              <a:t>‹#›</a:t>
            </a:fld>
            <a:endParaRPr lang="zh-CN" altLang="en-US"/>
          </a:p>
        </p:txBody>
      </p:sp>
    </p:spTree>
    <p:extLst>
      <p:ext uri="{BB962C8B-B14F-4D97-AF65-F5344CB8AC3E}">
        <p14:creationId xmlns:p14="http://schemas.microsoft.com/office/powerpoint/2010/main" val="4160982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en-US" altLang="zh-CN" baseline="0" dirty="0" smtClean="0"/>
              <a:t> </a:t>
            </a:r>
            <a:r>
              <a:rPr lang="zh-CN" altLang="en-US" baseline="0" dirty="0" smtClean="0"/>
              <a:t>大家好，我叫牛超越，我毕设的课题是数据市场中可验证性的、保护隐私的计算，我的导师是吴帆老师。</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1</a:t>
            </a:fld>
            <a:endParaRPr lang="zh-CN" altLang="en-US"/>
          </a:p>
        </p:txBody>
      </p:sp>
    </p:spTree>
    <p:extLst>
      <p:ext uri="{BB962C8B-B14F-4D97-AF65-F5344CB8AC3E}">
        <p14:creationId xmlns:p14="http://schemas.microsoft.com/office/powerpoint/2010/main" val="637112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首先，我们来看一下研究问题的背景</a:t>
            </a:r>
            <a:endParaRPr lang="en-US" altLang="zh-CN" dirty="0" smtClean="0"/>
          </a:p>
          <a:p>
            <a:pPr marL="228600" indent="-228600">
              <a:buAutoNum type="arabicPeriod"/>
            </a:pPr>
            <a:r>
              <a:rPr lang="zh-CN" altLang="en-US" dirty="0" smtClean="0"/>
              <a:t>在大数据时代，由于数据资源开放和流通不足，严重制约着产业的发展。为了推动数据的流通，充分发挥数据的商品属性，许多数据交易平台纷纷出现。</a:t>
            </a:r>
            <a:endParaRPr lang="en-US" altLang="zh-CN" dirty="0" smtClean="0"/>
          </a:p>
          <a:p>
            <a:pPr marL="228600" indent="-228600">
              <a:buAutoNum type="arabicPeriod"/>
            </a:pPr>
            <a:r>
              <a:rPr lang="zh-CN" altLang="en-US" dirty="0" smtClean="0"/>
              <a:t>例如，</a:t>
            </a:r>
            <a:r>
              <a:rPr lang="zh-CN" altLang="en-US" baseline="0" dirty="0" smtClean="0"/>
              <a:t>交易一般通用数据</a:t>
            </a:r>
            <a:r>
              <a:rPr lang="en-US" altLang="zh-CN" dirty="0" smtClean="0"/>
              <a:t>Microsoft</a:t>
            </a:r>
            <a:r>
              <a:rPr lang="en-US" altLang="zh-CN" baseline="0" dirty="0" smtClean="0"/>
              <a:t> Azure, </a:t>
            </a:r>
            <a:r>
              <a:rPr lang="zh-CN" altLang="en-US" baseline="0" dirty="0" smtClean="0"/>
              <a:t>贵阳大数据交易所；交易基于位置数据的</a:t>
            </a:r>
            <a:r>
              <a:rPr lang="en-US" altLang="zh-CN" baseline="0" dirty="0" err="1" smtClean="0"/>
              <a:t>AggData</a:t>
            </a:r>
            <a:r>
              <a:rPr lang="en-US" altLang="zh-CN" baseline="0" dirty="0" smtClean="0"/>
              <a:t>, Factual</a:t>
            </a:r>
            <a:r>
              <a:rPr lang="zh-CN" altLang="en-US" baseline="0" dirty="0" smtClean="0"/>
              <a:t>；</a:t>
            </a:r>
            <a:r>
              <a:rPr lang="en-US" altLang="zh-CN" baseline="0" dirty="0" smtClean="0"/>
              <a:t> </a:t>
            </a:r>
            <a:r>
              <a:rPr lang="zh-CN" altLang="en-US" baseline="0" dirty="0" smtClean="0"/>
              <a:t>交易社交媒体数据的</a:t>
            </a:r>
            <a:r>
              <a:rPr lang="en-US" altLang="zh-CN" baseline="0" dirty="0" err="1" smtClean="0"/>
              <a:t>DataSift</a:t>
            </a:r>
            <a:r>
              <a:rPr lang="en-US" altLang="zh-CN" baseline="0" dirty="0" smtClean="0"/>
              <a:t> </a:t>
            </a:r>
            <a:r>
              <a:rPr lang="zh-CN" altLang="en-US" baseline="0" dirty="0" smtClean="0"/>
              <a:t>和 </a:t>
            </a:r>
            <a:r>
              <a:rPr lang="en-US" altLang="zh-CN" baseline="0" dirty="0" err="1" smtClean="0"/>
              <a:t>Gnip</a:t>
            </a:r>
            <a:r>
              <a:rPr lang="zh-CN" altLang="en-US" baseline="0" dirty="0" smtClean="0"/>
              <a:t>；</a:t>
            </a:r>
            <a:r>
              <a:rPr lang="en-US" altLang="zh-CN" baseline="0" dirty="0" smtClean="0"/>
              <a:t> </a:t>
            </a:r>
            <a:r>
              <a:rPr lang="zh-CN" altLang="en-US" baseline="0" dirty="0" smtClean="0"/>
              <a:t>以及 交易个人数据的</a:t>
            </a:r>
            <a:r>
              <a:rPr lang="en-US" altLang="zh-CN" baseline="0" dirty="0" err="1" smtClean="0"/>
              <a:t>DataCoup</a:t>
            </a:r>
            <a:r>
              <a:rPr lang="en-US" altLang="zh-CN" baseline="0" dirty="0" smtClean="0"/>
              <a:t> </a:t>
            </a:r>
            <a:r>
              <a:rPr lang="zh-CN" altLang="en-US" baseline="0" dirty="0" smtClean="0"/>
              <a:t>和 </a:t>
            </a:r>
            <a:r>
              <a:rPr lang="en-US" altLang="zh-CN" baseline="0" dirty="0" err="1" smtClean="0"/>
              <a:t>citizenme</a:t>
            </a:r>
            <a:r>
              <a:rPr lang="en-US" altLang="zh-CN" baseline="0" dirty="0" smtClean="0"/>
              <a:t>.</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2</a:t>
            </a:fld>
            <a:endParaRPr lang="zh-CN" altLang="en-US"/>
          </a:p>
        </p:txBody>
      </p:sp>
    </p:spTree>
    <p:extLst>
      <p:ext uri="{BB962C8B-B14F-4D97-AF65-F5344CB8AC3E}">
        <p14:creationId xmlns:p14="http://schemas.microsoft.com/office/powerpoint/2010/main" val="1420026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此外，我们发现越来越多的数据市场从数据源采集数据后，更倾向于为数据消费者提供数据服务而非原始数据。</a:t>
            </a:r>
            <a:endParaRPr lang="en-US" altLang="zh-CN" dirty="0" smtClean="0"/>
          </a:p>
          <a:p>
            <a:pPr marL="228600" indent="-228600">
              <a:buAutoNum type="arabicPeriod"/>
            </a:pPr>
            <a:r>
              <a:rPr lang="zh-CN" altLang="en-US" dirty="0" smtClean="0"/>
              <a:t>主要有下面三方面的原因：</a:t>
            </a:r>
            <a:endParaRPr lang="en-US" altLang="zh-CN" dirty="0" smtClean="0"/>
          </a:p>
          <a:p>
            <a:pPr marL="0" indent="0">
              <a:buNone/>
            </a:pPr>
            <a:r>
              <a:rPr lang="en-US" altLang="zh-CN" dirty="0" smtClean="0"/>
              <a:t>    </a:t>
            </a:r>
            <a:r>
              <a:rPr lang="zh-CN" altLang="en-US" dirty="0" smtClean="0"/>
              <a:t>（</a:t>
            </a:r>
            <a:r>
              <a:rPr lang="en-US" altLang="zh-CN" dirty="0" smtClean="0"/>
              <a:t>1</a:t>
            </a:r>
            <a:r>
              <a:rPr lang="zh-CN" altLang="en-US" dirty="0" smtClean="0"/>
              <a:t>）从数据提供者来看，他们存在着隐私顾虑；根据</a:t>
            </a:r>
            <a:r>
              <a:rPr lang="en-US" altLang="zh-CN" dirty="0" smtClean="0"/>
              <a:t>2016</a:t>
            </a:r>
            <a:r>
              <a:rPr lang="zh-CN" altLang="en-US" dirty="0" smtClean="0"/>
              <a:t>年美国计算机安全协会</a:t>
            </a:r>
            <a:r>
              <a:rPr lang="zh-CN" altLang="en-US" baseline="0" dirty="0" smtClean="0"/>
              <a:t> </a:t>
            </a:r>
            <a:r>
              <a:rPr lang="en-US" altLang="zh-CN" dirty="0" smtClean="0"/>
              <a:t>National Computer Security Association </a:t>
            </a:r>
            <a:r>
              <a:rPr lang="zh-CN" altLang="en-US" dirty="0" smtClean="0"/>
              <a:t>的调查表明，</a:t>
            </a:r>
            <a:r>
              <a:rPr lang="en-US" altLang="zh-CN" dirty="0" smtClean="0"/>
              <a:t>89%</a:t>
            </a:r>
            <a:r>
              <a:rPr lang="zh-CN" altLang="en-US" dirty="0" smtClean="0"/>
              <a:t>的受众表示将避免与那些不能保护自己隐私的公司分享数据；</a:t>
            </a:r>
            <a:endParaRPr lang="en-US" altLang="zh-CN" dirty="0" smtClean="0"/>
          </a:p>
          <a:p>
            <a:pPr marL="0" indent="0">
              <a:buNone/>
            </a:pPr>
            <a:r>
              <a:rPr lang="en-US" altLang="zh-CN" dirty="0" smtClean="0"/>
              <a:t>     </a:t>
            </a:r>
            <a:r>
              <a:rPr lang="zh-CN" altLang="en-US" dirty="0" smtClean="0"/>
              <a:t>（</a:t>
            </a:r>
            <a:r>
              <a:rPr lang="en-US" altLang="zh-CN" dirty="0" smtClean="0"/>
              <a:t>2</a:t>
            </a:r>
            <a:r>
              <a:rPr lang="zh-CN" altLang="en-US" dirty="0" smtClean="0"/>
              <a:t>）从数据市场本身来看，增值的数据服务意味着更丰厚的利润；</a:t>
            </a:r>
            <a:endParaRPr lang="en-US" altLang="zh-CN" dirty="0" smtClean="0"/>
          </a:p>
          <a:p>
            <a:pPr marL="0" indent="0">
              <a:buNone/>
            </a:pPr>
            <a:r>
              <a:rPr lang="en-US" altLang="zh-CN" dirty="0" smtClean="0"/>
              <a:t>     </a:t>
            </a:r>
            <a:r>
              <a:rPr lang="zh-CN" altLang="en-US" dirty="0" smtClean="0"/>
              <a:t>（</a:t>
            </a:r>
            <a:r>
              <a:rPr lang="en-US" altLang="zh-CN" dirty="0" smtClean="0"/>
              <a:t>3</a:t>
            </a:r>
            <a:r>
              <a:rPr lang="zh-CN" altLang="en-US" dirty="0" smtClean="0"/>
              <a:t>）从数据消费者来看，以数据集的二次贩卖问题所代表的数据版权问题日趋严重。</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3</a:t>
            </a:fld>
            <a:endParaRPr lang="zh-CN" altLang="en-US"/>
          </a:p>
        </p:txBody>
      </p:sp>
    </p:spTree>
    <p:extLst>
      <p:ext uri="{BB962C8B-B14F-4D97-AF65-F5344CB8AC3E}">
        <p14:creationId xmlns:p14="http://schemas.microsoft.com/office/powerpoint/2010/main" val="196914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在现有的数据市场相关工作中，大部分的工作重点在于数据定价机制，而忽略了安全机制的设计。</a:t>
            </a:r>
            <a:endParaRPr lang="en-US" altLang="zh-CN" dirty="0" smtClean="0"/>
          </a:p>
          <a:p>
            <a:pPr marL="228600" indent="-228600">
              <a:buAutoNum type="arabicPeriod"/>
            </a:pPr>
            <a:r>
              <a:rPr lang="zh-CN" altLang="en-US" dirty="0" smtClean="0"/>
              <a:t>在这篇工作中，我们发现了两个有趣的且具有挑战性的安全问题：</a:t>
            </a:r>
            <a:endParaRPr lang="en-US" altLang="zh-CN" dirty="0" smtClean="0"/>
          </a:p>
          <a:p>
            <a:pPr marL="0" indent="0">
              <a:buNone/>
            </a:pPr>
            <a:r>
              <a:rPr lang="en-US" altLang="zh-CN" baseline="0" dirty="0" smtClean="0"/>
              <a:t>     </a:t>
            </a:r>
            <a:r>
              <a:rPr lang="zh-CN" altLang="en-US" baseline="0" dirty="0" smtClean="0"/>
              <a:t>（</a:t>
            </a:r>
            <a:r>
              <a:rPr lang="en-US" altLang="zh-CN" baseline="0" dirty="0" smtClean="0"/>
              <a:t>1</a:t>
            </a:r>
            <a:r>
              <a:rPr lang="zh-CN" altLang="en-US" baseline="0" dirty="0" smtClean="0"/>
              <a:t>）隐私保护：主要是数据提供者的身份隐私和数据机密性这两方面，其中数据机密性主要针对的攻击者是数据消费者们；</a:t>
            </a:r>
            <a:endParaRPr lang="en-US" altLang="zh-CN" baseline="0" dirty="0" smtClean="0"/>
          </a:p>
          <a:p>
            <a:pPr marL="0" indent="0">
              <a:buNone/>
            </a:pPr>
            <a:r>
              <a:rPr lang="en-US" altLang="zh-CN" baseline="0" dirty="0" smtClean="0"/>
              <a:t>     </a:t>
            </a:r>
            <a:r>
              <a:rPr lang="zh-CN" altLang="en-US" baseline="0" dirty="0" smtClean="0"/>
              <a:t>（</a:t>
            </a:r>
            <a:r>
              <a:rPr lang="en-US" altLang="zh-CN" baseline="0" dirty="0" smtClean="0"/>
              <a:t>2</a:t>
            </a:r>
            <a:r>
              <a:rPr lang="zh-CN" altLang="en-US" baseline="0" dirty="0" smtClean="0"/>
              <a:t>）数据真实性：包含数据采集的真实性与数据处理的真实性；其中数据采集的真实性所对应的攻击场景是“数据市场为了削减数据采集的开销，在原始数据集中参杂虚假数据”；而数据处理的真实性包含正确性与完整性两方面，针对的攻击模型是“数据市场为了减少操作开销，不处理所指定的数据集，或只处理部分数据集。”</a:t>
            </a:r>
            <a:endParaRPr lang="en-US" altLang="zh-CN" baseline="0" dirty="0" smtClean="0"/>
          </a:p>
        </p:txBody>
      </p:sp>
      <p:sp>
        <p:nvSpPr>
          <p:cNvPr id="4" name="灯片编号占位符 3"/>
          <p:cNvSpPr>
            <a:spLocks noGrp="1"/>
          </p:cNvSpPr>
          <p:nvPr>
            <p:ph type="sldNum" sz="quarter" idx="10"/>
          </p:nvPr>
        </p:nvSpPr>
        <p:spPr/>
        <p:txBody>
          <a:bodyPr/>
          <a:lstStyle/>
          <a:p>
            <a:fld id="{00C6A921-254F-470A-B8D4-0FC279F95E59}" type="slidenum">
              <a:rPr lang="zh-CN" altLang="en-US" smtClean="0"/>
              <a:t>4</a:t>
            </a:fld>
            <a:endParaRPr lang="zh-CN" altLang="en-US"/>
          </a:p>
        </p:txBody>
      </p:sp>
    </p:spTree>
    <p:extLst>
      <p:ext uri="{BB962C8B-B14F-4D97-AF65-F5344CB8AC3E}">
        <p14:creationId xmlns:p14="http://schemas.microsoft.com/office/powerpoint/2010/main" val="2669061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下面，我将从密码学和数据库领域现有的工具出发介绍一下我们的设计挑战。</a:t>
            </a:r>
            <a:endParaRPr lang="en-US" altLang="zh-CN" dirty="0" smtClean="0"/>
          </a:p>
          <a:p>
            <a:pPr marL="228600" indent="-228600">
              <a:buAutoNum type="arabicPeriod"/>
            </a:pPr>
            <a:r>
              <a:rPr lang="zh-CN" altLang="en-US" dirty="0" smtClean="0"/>
              <a:t>首先，数据采集真实性的验证类似于数字签名的不可抵赖性（</a:t>
            </a:r>
            <a:r>
              <a:rPr lang="en-US" altLang="zh-CN" dirty="0" smtClean="0"/>
              <a:t>non-repudiation</a:t>
            </a:r>
            <a:r>
              <a:rPr lang="zh-CN" altLang="en-US" dirty="0" smtClean="0"/>
              <a:t>）</a:t>
            </a:r>
            <a:r>
              <a:rPr lang="en-US" altLang="zh-CN" dirty="0" smtClean="0"/>
              <a:t>,</a:t>
            </a:r>
            <a:r>
              <a:rPr lang="en-US" altLang="zh-CN" baseline="0" dirty="0" smtClean="0"/>
              <a:t> </a:t>
            </a:r>
            <a:r>
              <a:rPr lang="zh-CN" altLang="en-US" baseline="0" dirty="0" smtClean="0"/>
              <a:t>即服务提供商向数据消费者（作为第三方）证明数据提供者的合法性；而如果是服务提供商（作为接收方）验证数据提供者（作为发送方）的合法性以及数据的完整性，</a:t>
            </a:r>
            <a:r>
              <a:rPr lang="zh-CN" altLang="en-US" baseline="0" smtClean="0"/>
              <a:t>则是常见的</a:t>
            </a:r>
            <a:r>
              <a:rPr lang="en-US" altLang="zh-CN" baseline="0" dirty="0" smtClean="0"/>
              <a:t>data authentication </a:t>
            </a:r>
            <a:r>
              <a:rPr lang="zh-CN" altLang="en-US" baseline="0" dirty="0" smtClean="0"/>
              <a:t>以及 </a:t>
            </a:r>
            <a:r>
              <a:rPr lang="en-US" altLang="zh-CN" baseline="0" dirty="0" smtClean="0"/>
              <a:t>data integrity. </a:t>
            </a:r>
            <a:r>
              <a:rPr lang="zh-CN" altLang="en-US" baseline="0" dirty="0" smtClean="0"/>
              <a:t>然而，传统数字签名机制的验证需要知道身份信息与原始数据内容。</a:t>
            </a:r>
            <a:endParaRPr lang="en-US" altLang="zh-CN" baseline="0" dirty="0" smtClean="0"/>
          </a:p>
          <a:p>
            <a:pPr marL="228600" indent="-228600">
              <a:buAutoNum type="arabicPeriod"/>
            </a:pPr>
            <a:r>
              <a:rPr lang="zh-CN" altLang="en-US" dirty="0" smtClean="0"/>
              <a:t>其次，数据采集真实性的验证与数据库领域的</a:t>
            </a:r>
            <a:r>
              <a:rPr lang="en-US" altLang="zh-CN" dirty="0" smtClean="0"/>
              <a:t>data lineage [‘</a:t>
            </a:r>
            <a:r>
              <a:rPr lang="en-US" altLang="zh-CN" dirty="0" err="1" smtClean="0"/>
              <a:t>lɪnɪɪdʒ</a:t>
            </a:r>
            <a:r>
              <a:rPr lang="en-US" altLang="zh-CN" dirty="0" smtClean="0"/>
              <a:t>]/provenance</a:t>
            </a:r>
            <a:r>
              <a:rPr lang="en-US" altLang="zh-CN" baseline="0" dirty="0" smtClean="0"/>
              <a:t> </a:t>
            </a:r>
            <a:r>
              <a:rPr lang="zh-CN" altLang="en-US" baseline="0" dirty="0" smtClean="0"/>
              <a:t>有着本质区别。</a:t>
            </a:r>
            <a:r>
              <a:rPr lang="en-US" altLang="zh-CN" baseline="0" dirty="0" smtClean="0"/>
              <a:t>Data lineage</a:t>
            </a:r>
            <a:r>
              <a:rPr lang="zh-CN" altLang="en-US" baseline="0" dirty="0" smtClean="0"/>
              <a:t>记载着数据处理的输入到输出的整个过程，但是并不能保证输入本身的合法性。</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5</a:t>
            </a:fld>
            <a:endParaRPr lang="zh-CN" altLang="en-US"/>
          </a:p>
        </p:txBody>
      </p:sp>
    </p:spTree>
    <p:extLst>
      <p:ext uri="{BB962C8B-B14F-4D97-AF65-F5344CB8AC3E}">
        <p14:creationId xmlns:p14="http://schemas.microsoft.com/office/powerpoint/2010/main" val="3999641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4. </a:t>
            </a:r>
            <a:r>
              <a:rPr lang="zh-CN" altLang="en-US" dirty="0" smtClean="0"/>
              <a:t>此外，我们数据处理真实性的验证与外包场景中的可验证性计算也有着本质区别，因为数据消费者作为验证方在数据处理前并没有原始数据。</a:t>
            </a:r>
            <a:endParaRPr lang="en-US" altLang="zh-CN" dirty="0" smtClean="0"/>
          </a:p>
          <a:p>
            <a:r>
              <a:rPr lang="en-US" altLang="zh-CN" dirty="0" smtClean="0"/>
              <a:t>5. </a:t>
            </a:r>
            <a:r>
              <a:rPr lang="zh-CN" altLang="en-US" dirty="0" smtClean="0"/>
              <a:t>最后的设计挑战在于数据采集的大规模性，例如，</a:t>
            </a:r>
            <a:r>
              <a:rPr lang="en-US" altLang="zh-CN" dirty="0" err="1" smtClean="0"/>
              <a:t>Gnip</a:t>
            </a:r>
            <a:r>
              <a:rPr lang="en-US" altLang="zh-CN" dirty="0" smtClean="0"/>
              <a:t> </a:t>
            </a:r>
            <a:r>
              <a:rPr lang="zh-CN" altLang="en-US" dirty="0" smtClean="0"/>
              <a:t>上每天发生</a:t>
            </a:r>
            <a:r>
              <a:rPr lang="en-US" altLang="zh-CN" dirty="0" smtClean="0"/>
              <a:t>250</a:t>
            </a:r>
            <a:r>
              <a:rPr lang="zh-CN" altLang="en-US" dirty="0" smtClean="0"/>
              <a:t>亿的数据采集活动，因此我们的验证机制，无论是从计算开销还是通讯开销，需要足够高效。</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6</a:t>
            </a:fld>
            <a:endParaRPr lang="zh-CN" altLang="en-US"/>
          </a:p>
        </p:txBody>
      </p:sp>
    </p:spTree>
    <p:extLst>
      <p:ext uri="{BB962C8B-B14F-4D97-AF65-F5344CB8AC3E}">
        <p14:creationId xmlns:p14="http://schemas.microsoft.com/office/powerpoint/2010/main" val="3629476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baseline="0" dirty="0" smtClean="0"/>
              <a:t> 现在，我将介绍一下我们的设计协议，</a:t>
            </a:r>
            <a:r>
              <a:rPr lang="en-US" altLang="zh-CN" baseline="0" dirty="0" smtClean="0"/>
              <a:t>TPDM, </a:t>
            </a:r>
            <a:r>
              <a:rPr lang="zh-CN" altLang="en-US" baseline="0" dirty="0" smtClean="0"/>
              <a:t>主要以用户简介匹配为背景。</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7</a:t>
            </a:fld>
            <a:endParaRPr lang="zh-CN" altLang="en-US"/>
          </a:p>
        </p:txBody>
      </p:sp>
    </p:spTree>
    <p:extLst>
      <p:ext uri="{BB962C8B-B14F-4D97-AF65-F5344CB8AC3E}">
        <p14:creationId xmlns:p14="http://schemas.microsoft.com/office/powerpoint/2010/main" val="2409550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我们先来简要的看一下，用户简介。</a:t>
            </a:r>
            <a:endParaRPr lang="en-US" altLang="zh-CN" dirty="0" smtClean="0"/>
          </a:p>
          <a:p>
            <a:pPr marL="0" indent="0">
              <a:buNone/>
            </a:pPr>
            <a:r>
              <a:rPr lang="zh-CN" altLang="en-US" dirty="0" smtClean="0"/>
              <a:t>    （</a:t>
            </a:r>
            <a:r>
              <a:rPr lang="en-US" altLang="zh-CN" dirty="0" smtClean="0"/>
              <a:t>1</a:t>
            </a:r>
            <a:r>
              <a:rPr lang="zh-CN" altLang="en-US" dirty="0" smtClean="0"/>
              <a:t>）首先，服务提供商，例如在线约会平台</a:t>
            </a:r>
            <a:r>
              <a:rPr lang="en-US" altLang="zh-CN" dirty="0" err="1" smtClean="0"/>
              <a:t>OkCupid</a:t>
            </a:r>
            <a:r>
              <a:rPr lang="en-US" altLang="zh-CN" dirty="0" smtClean="0"/>
              <a:t>,</a:t>
            </a:r>
            <a:r>
              <a:rPr lang="en-US" altLang="zh-CN" baseline="0" dirty="0" smtClean="0"/>
              <a:t> </a:t>
            </a:r>
            <a:r>
              <a:rPr lang="zh-CN" altLang="en-US" dirty="0" smtClean="0"/>
              <a:t>定义一个公共的属性，包含</a:t>
            </a:r>
            <a:r>
              <a:rPr lang="en-US" altLang="zh-CN" dirty="0" smtClean="0"/>
              <a:t>\beta</a:t>
            </a:r>
            <a:r>
              <a:rPr lang="zh-CN" altLang="en-US" dirty="0" smtClean="0"/>
              <a:t>个属性。</a:t>
            </a:r>
            <a:endParaRPr lang="en-US" altLang="zh-CN" dirty="0" smtClean="0"/>
          </a:p>
          <a:p>
            <a:pPr marL="0" indent="0">
              <a:buNone/>
            </a:pPr>
            <a:r>
              <a:rPr lang="en-US" altLang="zh-CN" dirty="0" smtClean="0"/>
              <a:t>    </a:t>
            </a:r>
            <a:r>
              <a:rPr lang="zh-CN" altLang="en-US" dirty="0" smtClean="0"/>
              <a:t>（</a:t>
            </a:r>
            <a:r>
              <a:rPr lang="en-US" altLang="zh-CN" dirty="0" smtClean="0"/>
              <a:t>2</a:t>
            </a:r>
            <a:r>
              <a:rPr lang="zh-CN" altLang="en-US" dirty="0" smtClean="0"/>
              <a:t>）然后，每一个数据提供者挑选</a:t>
            </a:r>
            <a:r>
              <a:rPr lang="en-US" altLang="zh-CN" dirty="0" smtClean="0"/>
              <a:t>\beta</a:t>
            </a:r>
            <a:r>
              <a:rPr lang="en-US" altLang="zh-CN" baseline="0" dirty="0" smtClean="0"/>
              <a:t> </a:t>
            </a:r>
            <a:r>
              <a:rPr lang="zh-CN" altLang="en-US" dirty="0" smtClean="0"/>
              <a:t>个非负整数来表示他对于属性集的兴趣程度，并形成自己的简介。</a:t>
            </a:r>
            <a:endParaRPr lang="en-US" altLang="zh-CN" dirty="0" smtClean="0"/>
          </a:p>
          <a:p>
            <a:pPr marL="0" indent="0">
              <a:buNone/>
            </a:pPr>
            <a:r>
              <a:rPr lang="en-US" altLang="zh-CN" dirty="0" smtClean="0"/>
              <a:t>    </a:t>
            </a:r>
            <a:r>
              <a:rPr lang="zh-CN" altLang="en-US" dirty="0" smtClean="0"/>
              <a:t>（</a:t>
            </a:r>
            <a:r>
              <a:rPr lang="en-US" altLang="zh-CN" dirty="0" smtClean="0"/>
              <a:t>3</a:t>
            </a:r>
            <a:r>
              <a:rPr lang="zh-CN" altLang="en-US" dirty="0" smtClean="0"/>
              <a:t>）数据消费者也需要提供自己的简介，以及一个可接受的相似度阈值。</a:t>
            </a:r>
            <a:endParaRPr lang="en-US" altLang="zh-CN" dirty="0" smtClean="0"/>
          </a:p>
          <a:p>
            <a:pPr marL="0" indent="0">
              <a:buNone/>
            </a:pPr>
            <a:r>
              <a:rPr lang="en-US" altLang="zh-CN" dirty="0" smtClean="0"/>
              <a:t>    </a:t>
            </a:r>
            <a:r>
              <a:rPr lang="zh-CN" altLang="en-US" dirty="0" smtClean="0"/>
              <a:t>（</a:t>
            </a:r>
            <a:r>
              <a:rPr lang="en-US" altLang="zh-CN" dirty="0" smtClean="0"/>
              <a:t>4</a:t>
            </a:r>
            <a:r>
              <a:rPr lang="zh-CN" altLang="en-US" dirty="0" smtClean="0"/>
              <a:t>）不失一般性的，我们假定服务提供商采用欧几里得距离（</a:t>
            </a:r>
            <a:r>
              <a:rPr lang="en-US" altLang="zh-CN" dirty="0" smtClean="0"/>
              <a:t>l2 distance</a:t>
            </a:r>
            <a:r>
              <a:rPr lang="zh-CN" altLang="en-US" dirty="0" smtClean="0"/>
              <a:t>）来衡量两者的相适度。 </a:t>
            </a:r>
            <a:endParaRPr lang="en-US" altLang="zh-CN" dirty="0" smtClean="0"/>
          </a:p>
          <a:p>
            <a:pPr marL="228600" indent="-228600">
              <a:buAutoNum type="arabicPeriod" startAt="2"/>
            </a:pPr>
            <a:r>
              <a:rPr lang="zh-CN" altLang="en-US" baseline="0" dirty="0" smtClean="0"/>
              <a:t>在用户简介匹配的实例中，我们可以更为形象直观地理解一下攻击模型和我们的设计需求：</a:t>
            </a:r>
            <a:endParaRPr lang="en-US" altLang="zh-CN" baseline="0" dirty="0" smtClean="0"/>
          </a:p>
          <a:p>
            <a:pPr marL="0" indent="0">
              <a:buNone/>
            </a:pPr>
            <a:r>
              <a:rPr lang="en-US" altLang="zh-CN" baseline="0" dirty="0" smtClean="0"/>
              <a:t>     </a:t>
            </a:r>
            <a:r>
              <a:rPr lang="zh-CN" altLang="en-US" baseline="0" dirty="0" smtClean="0"/>
              <a:t>（</a:t>
            </a:r>
            <a:r>
              <a:rPr lang="en-US" altLang="zh-CN" baseline="0" dirty="0" smtClean="0"/>
              <a:t>1</a:t>
            </a:r>
            <a:r>
              <a:rPr lang="zh-CN" altLang="en-US" baseline="0" dirty="0" smtClean="0"/>
              <a:t>）如图</a:t>
            </a:r>
            <a:r>
              <a:rPr lang="en-US" altLang="zh-CN" baseline="0" dirty="0" smtClean="0"/>
              <a:t>2</a:t>
            </a:r>
            <a:r>
              <a:rPr lang="zh-CN" altLang="en-US" baseline="0" dirty="0" smtClean="0"/>
              <a:t>所示，</a:t>
            </a:r>
            <a:r>
              <a:rPr lang="en-US" altLang="zh-CN" baseline="0" dirty="0" smtClean="0"/>
              <a:t>Alice </a:t>
            </a:r>
            <a:r>
              <a:rPr lang="zh-CN" altLang="en-US" baseline="0" dirty="0" smtClean="0"/>
              <a:t>和 </a:t>
            </a:r>
            <a:r>
              <a:rPr lang="en-US" altLang="zh-CN" baseline="0" dirty="0" smtClean="0"/>
              <a:t>Bob</a:t>
            </a:r>
            <a:r>
              <a:rPr lang="zh-CN" altLang="en-US" baseline="0" dirty="0" smtClean="0"/>
              <a:t>为真实的注册用户，</a:t>
            </a:r>
            <a:r>
              <a:rPr lang="en-US" altLang="zh-CN" baseline="0" dirty="0" smtClean="0"/>
              <a:t>Charlie </a:t>
            </a:r>
            <a:r>
              <a:rPr lang="zh-CN" altLang="en-US" baseline="0" dirty="0" smtClean="0"/>
              <a:t>是一个数据消费者；攻击场景为：为了削减数据采集开销，服务提供商参杂伪造的</a:t>
            </a:r>
            <a:r>
              <a:rPr lang="en-US" altLang="zh-CN" baseline="0" dirty="0" smtClean="0"/>
              <a:t>David</a:t>
            </a:r>
            <a:r>
              <a:rPr lang="zh-CN" altLang="en-US" baseline="0" dirty="0" smtClean="0"/>
              <a:t>数据；为了削减操作开销，服务提供商只计算</a:t>
            </a:r>
            <a:r>
              <a:rPr lang="en-US" altLang="zh-CN" baseline="0" dirty="0" smtClean="0"/>
              <a:t>Alice, Bob</a:t>
            </a:r>
            <a:r>
              <a:rPr lang="zh-CN" altLang="en-US" baseline="0" dirty="0" smtClean="0"/>
              <a:t>当中的一个与</a:t>
            </a:r>
            <a:r>
              <a:rPr lang="en-US" altLang="zh-CN" baseline="0" dirty="0" smtClean="0"/>
              <a:t>Charlie</a:t>
            </a:r>
            <a:r>
              <a:rPr lang="zh-CN" altLang="en-US" baseline="0" dirty="0" smtClean="0"/>
              <a:t>的相识度；</a:t>
            </a:r>
            <a:endParaRPr lang="en-US" altLang="zh-CN" baseline="0" dirty="0" smtClean="0"/>
          </a:p>
          <a:p>
            <a:pPr marL="0" indent="0">
              <a:buNone/>
            </a:pPr>
            <a:r>
              <a:rPr lang="en-US" altLang="zh-CN" baseline="0" dirty="0" smtClean="0"/>
              <a:t>3. </a:t>
            </a:r>
            <a:r>
              <a:rPr lang="zh-CN" altLang="en-US" baseline="0" dirty="0" smtClean="0"/>
              <a:t>设计需求：</a:t>
            </a:r>
            <a:r>
              <a:rPr lang="en-US" altLang="zh-CN" baseline="0" dirty="0" smtClean="0"/>
              <a:t>  </a:t>
            </a:r>
          </a:p>
          <a:p>
            <a:pPr marL="0" indent="0">
              <a:buNone/>
            </a:pPr>
            <a:r>
              <a:rPr lang="en-US" altLang="zh-CN" baseline="0" dirty="0" smtClean="0"/>
              <a:t>      </a:t>
            </a:r>
            <a:r>
              <a:rPr lang="zh-CN" altLang="en-US" baseline="0" dirty="0" smtClean="0"/>
              <a:t>（</a:t>
            </a:r>
            <a:r>
              <a:rPr lang="en-US" altLang="zh-CN" baseline="0" dirty="0" smtClean="0"/>
              <a:t>1</a:t>
            </a:r>
            <a:r>
              <a:rPr lang="zh-CN" altLang="en-US" baseline="0" dirty="0" smtClean="0"/>
              <a:t>）在不泄露</a:t>
            </a:r>
            <a:r>
              <a:rPr lang="en-US" altLang="zh-CN" baseline="0" dirty="0" smtClean="0"/>
              <a:t>A, B</a:t>
            </a:r>
            <a:r>
              <a:rPr lang="zh-CN" altLang="en-US" baseline="0" dirty="0" smtClean="0"/>
              <a:t>的真实身份和数据的前提下，服务提供商向</a:t>
            </a:r>
            <a:r>
              <a:rPr lang="en-US" altLang="zh-CN" baseline="0" dirty="0" smtClean="0"/>
              <a:t>Charlie</a:t>
            </a:r>
            <a:r>
              <a:rPr lang="zh-CN" altLang="en-US" baseline="0" dirty="0" smtClean="0"/>
              <a:t>证明数据源的合法性；</a:t>
            </a:r>
            <a:endParaRPr lang="en-US" altLang="zh-CN" baseline="0" dirty="0" smtClean="0"/>
          </a:p>
          <a:p>
            <a:pPr marL="0" indent="0">
              <a:buNone/>
            </a:pPr>
            <a:r>
              <a:rPr lang="en-US" altLang="zh-CN" baseline="0" dirty="0" smtClean="0"/>
              <a:t>      </a:t>
            </a:r>
            <a:r>
              <a:rPr lang="zh-CN" altLang="en-US" baseline="0" dirty="0" smtClean="0"/>
              <a:t>（</a:t>
            </a:r>
            <a:r>
              <a:rPr lang="en-US" altLang="zh-CN" baseline="0" dirty="0" smtClean="0"/>
              <a:t>2</a:t>
            </a:r>
            <a:r>
              <a:rPr lang="zh-CN" altLang="en-US" baseline="0" dirty="0" smtClean="0"/>
              <a:t>）在不知道</a:t>
            </a:r>
            <a:r>
              <a:rPr lang="en-US" altLang="zh-CN" baseline="0" dirty="0" smtClean="0"/>
              <a:t>Alice, Bob</a:t>
            </a:r>
            <a:r>
              <a:rPr lang="zh-CN" altLang="en-US" baseline="0" dirty="0" smtClean="0"/>
              <a:t>数据内容的情况下，</a:t>
            </a:r>
            <a:r>
              <a:rPr lang="en-US" altLang="zh-CN" baseline="0" dirty="0" smtClean="0"/>
              <a:t>Charlie</a:t>
            </a:r>
            <a:r>
              <a:rPr lang="zh-CN" altLang="en-US" baseline="0" dirty="0" smtClean="0"/>
              <a:t>能验证匹配结果的正确性与完整性。 </a:t>
            </a:r>
            <a:endParaRPr lang="en-US" altLang="zh-CN" dirty="0" smtClean="0"/>
          </a:p>
        </p:txBody>
      </p:sp>
      <p:sp>
        <p:nvSpPr>
          <p:cNvPr id="4" name="灯片编号占位符 3"/>
          <p:cNvSpPr>
            <a:spLocks noGrp="1"/>
          </p:cNvSpPr>
          <p:nvPr>
            <p:ph type="sldNum" sz="quarter" idx="10"/>
          </p:nvPr>
        </p:nvSpPr>
        <p:spPr/>
        <p:txBody>
          <a:bodyPr/>
          <a:lstStyle/>
          <a:p>
            <a:fld id="{00C6A921-254F-470A-B8D4-0FC279F95E59}" type="slidenum">
              <a:rPr lang="zh-CN" altLang="en-US" smtClean="0"/>
              <a:t>8</a:t>
            </a:fld>
            <a:endParaRPr lang="zh-CN" altLang="en-US"/>
          </a:p>
        </p:txBody>
      </p:sp>
    </p:spTree>
    <p:extLst>
      <p:ext uri="{BB962C8B-B14F-4D97-AF65-F5344CB8AC3E}">
        <p14:creationId xmlns:p14="http://schemas.microsoft.com/office/powerpoint/2010/main" val="3075662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接下来，我将介绍</a:t>
            </a:r>
            <a:r>
              <a:rPr lang="en-US" altLang="zh-CN" dirty="0" smtClean="0"/>
              <a:t>TPDM</a:t>
            </a:r>
            <a:r>
              <a:rPr lang="zh-CN" altLang="en-US" dirty="0" smtClean="0"/>
              <a:t>的核心设计思想。</a:t>
            </a:r>
            <a:endParaRPr lang="en-US" altLang="zh-CN" dirty="0" smtClean="0"/>
          </a:p>
          <a:p>
            <a:pPr marL="228600" indent="-228600">
              <a:buAutoNum type="arabicPeriod"/>
            </a:pPr>
            <a:r>
              <a:rPr lang="zh-CN" altLang="en-US" dirty="0" smtClean="0"/>
              <a:t>首先，为了同时保证数据的机密性，</a:t>
            </a:r>
            <a:r>
              <a:rPr lang="zh-CN" altLang="en-US" smtClean="0"/>
              <a:t>数据的可用性</a:t>
            </a:r>
            <a:r>
              <a:rPr lang="zh-CN" altLang="en-US" dirty="0" smtClean="0"/>
              <a:t>，以及签名的有效性，我们利用部分同态加密协议构造出密文空间，之后的所有操作都是在这个密文空间进行的；例如，用户简介匹配涉及的是二次多项式计算，因此我们采用了</a:t>
            </a:r>
            <a:r>
              <a:rPr lang="en-US" altLang="zh-CN" dirty="0" smtClean="0"/>
              <a:t>BGN</a:t>
            </a:r>
            <a:r>
              <a:rPr lang="zh-CN" altLang="en-US" dirty="0" smtClean="0"/>
              <a:t>协议。</a:t>
            </a:r>
            <a:r>
              <a:rPr lang="en-US" altLang="zh-CN" dirty="0" smtClean="0"/>
              <a:t> </a:t>
            </a:r>
          </a:p>
          <a:p>
            <a:pPr marL="228600" indent="-228600">
              <a:buAutoNum type="arabicPeriod"/>
            </a:pPr>
            <a:r>
              <a:rPr lang="zh-CN" altLang="en-US" dirty="0" smtClean="0"/>
              <a:t>其次，从设计需求以及可行性，我们提出了新的基于身份的签名机制，该签名机制利用双线性映射的性质实现了批量验证。</a:t>
            </a:r>
            <a:endParaRPr lang="en-US" altLang="zh-CN" dirty="0" smtClean="0"/>
          </a:p>
          <a:p>
            <a:pPr marL="228600" indent="-228600">
              <a:buAutoNum type="arabicPeriod"/>
            </a:pPr>
            <a:r>
              <a:rPr lang="zh-CN" altLang="en-US" dirty="0" smtClean="0"/>
              <a:t>最后，我们利用</a:t>
            </a:r>
            <a:r>
              <a:rPr lang="en-US" altLang="zh-CN" dirty="0" err="1" smtClean="0"/>
              <a:t>ElGamal</a:t>
            </a:r>
            <a:r>
              <a:rPr lang="en-US" altLang="zh-CN" dirty="0" smtClean="0"/>
              <a:t> Encryption</a:t>
            </a:r>
            <a:r>
              <a:rPr lang="zh-CN" altLang="en-US" dirty="0" smtClean="0"/>
              <a:t>加密真实身份实现身份隐私的保护。并引入半可信的注册中心来管理真实身份标识。注册中心可以在必要时进行身份恢复操作。 </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9</a:t>
            </a:fld>
            <a:endParaRPr lang="zh-CN" altLang="en-US"/>
          </a:p>
        </p:txBody>
      </p:sp>
    </p:spTree>
    <p:extLst>
      <p:ext uri="{BB962C8B-B14F-4D97-AF65-F5344CB8AC3E}">
        <p14:creationId xmlns:p14="http://schemas.microsoft.com/office/powerpoint/2010/main" val="3177454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我们利用了同态加密的同态性质实现了数据处理的真实性。</a:t>
            </a:r>
            <a:endParaRPr lang="en-US" altLang="zh-CN" dirty="0" smtClean="0"/>
          </a:p>
          <a:p>
            <a:pPr marL="228600" indent="-228600">
              <a:buAutoNum type="arabicPeriod"/>
            </a:pPr>
            <a:r>
              <a:rPr lang="zh-CN" altLang="en-US" dirty="0" smtClean="0"/>
              <a:t>在原始的数据处理中，我们利用了同态加与同态乘操作。</a:t>
            </a:r>
            <a:endParaRPr lang="en-US" altLang="zh-CN" dirty="0" smtClean="0"/>
          </a:p>
          <a:p>
            <a:pPr marL="228600" indent="-228600">
              <a:buAutoNum type="arabicPeriod"/>
            </a:pPr>
            <a:r>
              <a:rPr lang="zh-CN" altLang="en-US" dirty="0" smtClean="0"/>
              <a:t>在结果验证中，不再需要最耗时的同态乘操作。</a:t>
            </a:r>
            <a:endParaRPr lang="en-US" altLang="zh-CN" dirty="0" smtClean="0"/>
          </a:p>
          <a:p>
            <a:pPr marL="228600" indent="-228600">
              <a:buAutoNum type="arabicPeriod"/>
            </a:pPr>
            <a:r>
              <a:rPr lang="zh-CN" altLang="en-US" dirty="0" smtClean="0"/>
              <a:t>因为数据消费者在知道自己数据</a:t>
            </a:r>
            <a:r>
              <a:rPr lang="en-US" altLang="zh-CN" dirty="0" err="1" smtClean="0"/>
              <a:t>v_j</a:t>
            </a:r>
            <a:r>
              <a:rPr lang="zh-CN" altLang="en-US" dirty="0" smtClean="0"/>
              <a:t>的情况下，所有的设计</a:t>
            </a:r>
            <a:r>
              <a:rPr lang="en-US" altLang="zh-CN" dirty="0" err="1" smtClean="0"/>
              <a:t>v_j</a:t>
            </a:r>
            <a:r>
              <a:rPr lang="zh-CN" altLang="en-US" dirty="0" smtClean="0"/>
              <a:t>的交叉项都可以通过在密文上的指数操作来代替。</a:t>
            </a:r>
            <a:endParaRPr lang="en-US" altLang="zh-CN" dirty="0" smtClean="0"/>
          </a:p>
          <a:p>
            <a:pPr marL="228600" indent="-228600">
              <a:buAutoNum type="arabicPeriod"/>
            </a:pPr>
            <a:r>
              <a:rPr lang="zh-CN" altLang="en-US" dirty="0" smtClean="0"/>
              <a:t>这里需要解释一下的是，</a:t>
            </a:r>
            <a:r>
              <a:rPr lang="en-US" altLang="zh-CN" dirty="0" smtClean="0"/>
              <a:t>BGN</a:t>
            </a:r>
            <a:r>
              <a:rPr lang="zh-CN" altLang="en-US" dirty="0" smtClean="0"/>
              <a:t>协议中同态乘操作耗时因为其涉及双线性对操作。</a:t>
            </a:r>
            <a:endParaRPr lang="en-US" altLang="zh-CN" dirty="0" smtClean="0"/>
          </a:p>
          <a:p>
            <a:pPr marL="228600" indent="-228600">
              <a:buAutoNum type="arabicPeriod"/>
            </a:pP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10</a:t>
            </a:fld>
            <a:endParaRPr lang="zh-CN" altLang="en-US"/>
          </a:p>
        </p:txBody>
      </p:sp>
    </p:spTree>
    <p:extLst>
      <p:ext uri="{BB962C8B-B14F-4D97-AF65-F5344CB8AC3E}">
        <p14:creationId xmlns:p14="http://schemas.microsoft.com/office/powerpoint/2010/main" val="42704638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 </a:t>
            </a:r>
            <a:r>
              <a:rPr lang="zh-CN" altLang="en-US" dirty="0" smtClean="0"/>
              <a:t>最后是我们的实验部分，</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11</a:t>
            </a:fld>
            <a:endParaRPr lang="zh-CN" altLang="en-US"/>
          </a:p>
        </p:txBody>
      </p:sp>
    </p:spTree>
    <p:extLst>
      <p:ext uri="{BB962C8B-B14F-4D97-AF65-F5344CB8AC3E}">
        <p14:creationId xmlns:p14="http://schemas.microsoft.com/office/powerpoint/2010/main" val="820885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首先，我们测试用的是一个月量的雅虎音乐用户评分数据集。我们挑选</a:t>
            </a:r>
            <a:r>
              <a:rPr lang="en-US" altLang="zh-CN" dirty="0" smtClean="0"/>
              <a:t>\beta</a:t>
            </a:r>
            <a:r>
              <a:rPr lang="zh-CN" altLang="en-US" dirty="0" smtClean="0"/>
              <a:t>个共同的艺术家作为属性集，并将每个用的评分缩放到</a:t>
            </a:r>
            <a:r>
              <a:rPr lang="en-US" altLang="zh-CN" dirty="0" smtClean="0"/>
              <a:t>0</a:t>
            </a:r>
            <a:r>
              <a:rPr lang="zh-CN" altLang="en-US" dirty="0" smtClean="0"/>
              <a:t>到</a:t>
            </a:r>
            <a:r>
              <a:rPr lang="en-US" altLang="zh-CN" dirty="0" smtClean="0"/>
              <a:t>10.</a:t>
            </a:r>
          </a:p>
          <a:p>
            <a:pPr marL="228600" indent="-228600">
              <a:buAutoNum type="arabicPeriod"/>
            </a:pPr>
            <a:r>
              <a:rPr lang="zh-CN" altLang="en-US" dirty="0" smtClean="0"/>
              <a:t>其次，我们利用</a:t>
            </a:r>
            <a:r>
              <a:rPr lang="en-US" altLang="zh-CN" dirty="0" err="1" smtClean="0"/>
              <a:t>Standford</a:t>
            </a:r>
            <a:r>
              <a:rPr lang="en-US" altLang="zh-CN" baseline="0" dirty="0" smtClean="0"/>
              <a:t> PBC</a:t>
            </a:r>
            <a:r>
              <a:rPr lang="zh-CN" altLang="en-US" baseline="0" dirty="0" smtClean="0"/>
              <a:t> 密码学库实现了整个协议。</a:t>
            </a:r>
            <a:endParaRPr lang="en-US" altLang="zh-CN" baseline="0" dirty="0" smtClean="0"/>
          </a:p>
          <a:p>
            <a:pPr marL="228600" indent="-228600">
              <a:buAutoNum type="arabicPeriod"/>
            </a:pPr>
            <a:r>
              <a:rPr lang="zh-CN" altLang="en-US" baseline="0" dirty="0" smtClean="0"/>
              <a:t>其中，基于身份的签名机制涉及两条椭圆曲线，一个是超奇异（</a:t>
            </a:r>
            <a:r>
              <a:rPr lang="en-US" altLang="zh-CN" baseline="0" dirty="0" err="1" smtClean="0"/>
              <a:t>supersingle</a:t>
            </a:r>
            <a:r>
              <a:rPr lang="zh-CN" altLang="en-US" baseline="0" dirty="0" smtClean="0"/>
              <a:t>）曲线简称为</a:t>
            </a:r>
            <a:r>
              <a:rPr lang="en-US" altLang="zh-CN" baseline="0" dirty="0" smtClean="0"/>
              <a:t>SS512</a:t>
            </a:r>
            <a:r>
              <a:rPr lang="zh-CN" altLang="en-US" baseline="0" dirty="0" smtClean="0"/>
              <a:t>，另一个是</a:t>
            </a:r>
            <a:r>
              <a:rPr lang="en-US" altLang="zh-CN" baseline="0" dirty="0" smtClean="0"/>
              <a:t>MNT</a:t>
            </a:r>
            <a:r>
              <a:rPr lang="zh-CN" altLang="en-US" baseline="0" dirty="0" smtClean="0"/>
              <a:t>曲线，简称为</a:t>
            </a:r>
            <a:r>
              <a:rPr lang="en-US" altLang="zh-CN" baseline="0" dirty="0" smtClean="0"/>
              <a:t>MNT159. </a:t>
            </a:r>
          </a:p>
          <a:p>
            <a:pPr marL="228600" indent="-228600">
              <a:buAutoNum type="arabicPeriod"/>
            </a:pPr>
            <a:r>
              <a:rPr lang="zh-CN" altLang="en-US" baseline="0" dirty="0" smtClean="0"/>
              <a:t>而</a:t>
            </a:r>
            <a:r>
              <a:rPr lang="en-US" altLang="zh-CN" baseline="0" dirty="0" smtClean="0"/>
              <a:t>BGN</a:t>
            </a:r>
            <a:r>
              <a:rPr lang="zh-CN" altLang="en-US" baseline="0" dirty="0" smtClean="0"/>
              <a:t>协议则利用的是</a:t>
            </a:r>
            <a:r>
              <a:rPr lang="en-US" altLang="zh-CN" baseline="0" dirty="0" smtClean="0"/>
              <a:t>Type A1 pairing</a:t>
            </a:r>
            <a:r>
              <a:rPr lang="zh-CN" altLang="en-US" baseline="0" dirty="0" smtClean="0"/>
              <a:t>来实现的。</a:t>
            </a:r>
            <a:endParaRPr lang="en-US" altLang="zh-CN" baseline="0" dirty="0" smtClean="0"/>
          </a:p>
          <a:p>
            <a:pPr marL="228600" indent="-228600">
              <a:buAutoNum type="arabicPeriod"/>
            </a:pPr>
            <a:r>
              <a:rPr lang="zh-CN" altLang="en-US" baseline="0" dirty="0" smtClean="0"/>
              <a:t>最后，我们的测试系统是</a:t>
            </a:r>
            <a:r>
              <a:rPr lang="en-US" altLang="zh-CN" baseline="0" dirty="0" smtClean="0"/>
              <a:t>Ubuntu 14.04, </a:t>
            </a:r>
            <a:r>
              <a:rPr lang="zh-CN" altLang="en-US" baseline="0" dirty="0" smtClean="0"/>
              <a:t>处理器是</a:t>
            </a:r>
            <a:r>
              <a:rPr lang="en-US" altLang="zh-CN" baseline="0" dirty="0" smtClean="0"/>
              <a:t>i5</a:t>
            </a:r>
            <a:r>
              <a:rPr lang="zh-CN" altLang="en-US" baseline="0" dirty="0" smtClean="0"/>
              <a:t>系列，</a:t>
            </a:r>
            <a:r>
              <a:rPr lang="en-US" altLang="zh-CN" baseline="0" dirty="0" smtClean="0"/>
              <a:t>3.10GHz.</a:t>
            </a:r>
          </a:p>
          <a:p>
            <a:pPr marL="228600" indent="-228600">
              <a:buAutoNum type="arabicPeriod"/>
            </a:pPr>
            <a:r>
              <a:rPr lang="en-US" altLang="zh-CN" baseline="0" dirty="0" smtClean="0"/>
              <a:t>Type A: y^2 = x^3 + x; symmetric pairing; </a:t>
            </a:r>
          </a:p>
          <a:p>
            <a:pPr marL="0" indent="0">
              <a:buNone/>
            </a:pPr>
            <a:r>
              <a:rPr lang="en-US" altLang="zh-CN" baseline="0" dirty="0" smtClean="0"/>
              <a:t>     q + 1 = r * h; r is a </a:t>
            </a:r>
            <a:r>
              <a:rPr lang="en-US" altLang="zh-CN" baseline="0" dirty="0" err="1" smtClean="0"/>
              <a:t>Solinas</a:t>
            </a:r>
            <a:r>
              <a:rPr lang="en-US" altLang="zh-CN" baseline="0" dirty="0" smtClean="0"/>
              <a:t> prime</a:t>
            </a:r>
          </a:p>
          <a:p>
            <a:pPr marL="228600" indent="-228600">
              <a:buAutoNum type="arabicPeriod"/>
            </a:pPr>
            <a:endParaRPr lang="en-US" altLang="zh-CN" baseline="0" dirty="0" smtClean="0"/>
          </a:p>
          <a:p>
            <a:pPr marL="228600" indent="-228600">
              <a:buAutoNum type="arabicPeriod"/>
            </a:pPr>
            <a:endParaRPr lang="en-US" altLang="zh-CN" dirty="0" smtClean="0"/>
          </a:p>
        </p:txBody>
      </p:sp>
      <p:sp>
        <p:nvSpPr>
          <p:cNvPr id="4" name="灯片编号占位符 3"/>
          <p:cNvSpPr>
            <a:spLocks noGrp="1"/>
          </p:cNvSpPr>
          <p:nvPr>
            <p:ph type="sldNum" sz="quarter" idx="10"/>
          </p:nvPr>
        </p:nvSpPr>
        <p:spPr/>
        <p:txBody>
          <a:bodyPr/>
          <a:lstStyle/>
          <a:p>
            <a:fld id="{00C6A921-254F-470A-B8D4-0FC279F95E59}" type="slidenum">
              <a:rPr lang="zh-CN" altLang="en-US" smtClean="0"/>
              <a:t>12</a:t>
            </a:fld>
            <a:endParaRPr lang="zh-CN" altLang="en-US"/>
          </a:p>
        </p:txBody>
      </p:sp>
    </p:spTree>
    <p:extLst>
      <p:ext uri="{BB962C8B-B14F-4D97-AF65-F5344CB8AC3E}">
        <p14:creationId xmlns:p14="http://schemas.microsoft.com/office/powerpoint/2010/main" val="3978087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lvl="0" indent="-228600">
              <a:buAutoNum type="arabicPeriod"/>
            </a:pPr>
            <a:r>
              <a:rPr lang="zh-CN" altLang="zh-CN" sz="1200" kern="1200" dirty="0" smtClean="0">
                <a:solidFill>
                  <a:schemeClr val="tx1"/>
                </a:solidFill>
                <a:effectLst/>
                <a:latin typeface="+mn-lt"/>
                <a:ea typeface="+mn-ea"/>
                <a:cs typeface="+mn-cs"/>
              </a:rPr>
              <a:t>下面介绍一下计算开销。</a:t>
            </a:r>
            <a:endParaRPr lang="en-US" altLang="zh-CN" sz="1200" kern="1200" dirty="0" smtClean="0">
              <a:solidFill>
                <a:schemeClr val="tx1"/>
              </a:solidFill>
              <a:effectLst/>
              <a:latin typeface="+mn-lt"/>
              <a:ea typeface="+mn-ea"/>
              <a:cs typeface="+mn-cs"/>
            </a:endParaRPr>
          </a:p>
          <a:p>
            <a:pPr marL="228600" lvl="0" indent="-228600">
              <a:buAutoNum type="arabicPeriod"/>
            </a:pPr>
            <a:r>
              <a:rPr lang="zh-CN" altLang="zh-CN" sz="1200" kern="1200" dirty="0" smtClean="0">
                <a:solidFill>
                  <a:schemeClr val="tx1"/>
                </a:solidFill>
                <a:effectLst/>
                <a:latin typeface="+mn-lt"/>
                <a:ea typeface="+mn-ea"/>
                <a:cs typeface="+mn-cs"/>
              </a:rPr>
              <a:t>第一张表给出的是签名协议中的主要操作的时间开销。</a:t>
            </a:r>
            <a:endParaRPr lang="en-US" altLang="zh-CN" sz="1200" kern="1200" dirty="0" smtClean="0">
              <a:solidFill>
                <a:schemeClr val="tx1"/>
              </a:solidFill>
              <a:effectLst/>
              <a:latin typeface="+mn-lt"/>
              <a:ea typeface="+mn-ea"/>
              <a:cs typeface="+mn-cs"/>
            </a:endParaRPr>
          </a:p>
          <a:p>
            <a:pPr marL="228600" lvl="0" indent="-228600">
              <a:buAutoNum type="arabicPeriod"/>
            </a:pPr>
            <a:r>
              <a:rPr lang="zh-CN" altLang="zh-CN" sz="1200" kern="1200" dirty="0" smtClean="0">
                <a:solidFill>
                  <a:schemeClr val="tx1"/>
                </a:solidFill>
                <a:effectLst/>
                <a:latin typeface="+mn-lt"/>
                <a:ea typeface="+mn-ea"/>
                <a:cs typeface="+mn-cs"/>
              </a:rPr>
              <a:t>第二张表给出的是签名协议中的不同阶段的计算开销。</a:t>
            </a:r>
            <a:endParaRPr lang="en-US" altLang="zh-CN" sz="1200" kern="1200" smtClean="0">
              <a:solidFill>
                <a:schemeClr val="tx1"/>
              </a:solidFill>
              <a:effectLst/>
              <a:latin typeface="+mn-lt"/>
              <a:ea typeface="+mn-ea"/>
              <a:cs typeface="+mn-cs"/>
            </a:endParaRPr>
          </a:p>
          <a:p>
            <a:pPr marL="228600" lvl="0" indent="-228600">
              <a:buAutoNum type="arabicPeriod"/>
            </a:pPr>
            <a:r>
              <a:rPr lang="zh-CN" altLang="zh-CN" sz="1200" kern="1200" smtClean="0">
                <a:solidFill>
                  <a:schemeClr val="tx1"/>
                </a:solidFill>
                <a:effectLst/>
                <a:latin typeface="+mn-lt"/>
                <a:ea typeface="+mn-ea"/>
                <a:cs typeface="+mn-cs"/>
              </a:rPr>
              <a:t>从</a:t>
            </a:r>
            <a:r>
              <a:rPr lang="zh-CN" altLang="zh-CN" sz="1200" kern="1200" dirty="0" smtClean="0">
                <a:solidFill>
                  <a:schemeClr val="tx1"/>
                </a:solidFill>
                <a:effectLst/>
                <a:latin typeface="+mn-lt"/>
                <a:ea typeface="+mn-ea"/>
                <a:cs typeface="+mn-cs"/>
              </a:rPr>
              <a:t>表二我们可以看出，我们的签名协议足够高效，可以应用于移动端的数据提供者。</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00C6A921-254F-470A-B8D4-0FC279F95E59}" type="slidenum">
              <a:rPr lang="zh-CN" altLang="en-US" smtClean="0"/>
              <a:t>13</a:t>
            </a:fld>
            <a:endParaRPr lang="zh-CN" altLang="en-US"/>
          </a:p>
        </p:txBody>
      </p:sp>
    </p:spTree>
    <p:extLst>
      <p:ext uri="{BB962C8B-B14F-4D97-AF65-F5344CB8AC3E}">
        <p14:creationId xmlns:p14="http://schemas.microsoft.com/office/powerpoint/2010/main" val="857223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这张图给出的是在传统的单个签名验证协议与我们提出的批量签名验证协议中，每个签名验证需要的时间开销。</a:t>
            </a:r>
            <a:endParaRPr lang="en-US" altLang="zh-CN" dirty="0" smtClean="0"/>
          </a:p>
          <a:p>
            <a:pPr marL="228600" indent="-228600">
              <a:buAutoNum type="arabicPeriod"/>
            </a:pPr>
            <a:r>
              <a:rPr lang="zh-CN" altLang="en-US" dirty="0" smtClean="0"/>
              <a:t>当数据提供者数量等于</a:t>
            </a:r>
            <a:r>
              <a:rPr lang="en-US" altLang="zh-CN" dirty="0" smtClean="0"/>
              <a:t>10</a:t>
            </a:r>
            <a:r>
              <a:rPr lang="zh-CN" altLang="en-US" dirty="0" smtClean="0"/>
              <a:t>时，</a:t>
            </a:r>
            <a:r>
              <a:rPr lang="en-US" altLang="zh-CN" dirty="0" smtClean="0"/>
              <a:t>SS512</a:t>
            </a:r>
            <a:r>
              <a:rPr lang="zh-CN" altLang="en-US" dirty="0" smtClean="0"/>
              <a:t>可以削减</a:t>
            </a:r>
            <a:r>
              <a:rPr lang="en-US" altLang="zh-CN" dirty="0" smtClean="0"/>
              <a:t>48.22%,</a:t>
            </a:r>
            <a:r>
              <a:rPr lang="en-US" altLang="zh-CN" baseline="0" dirty="0" smtClean="0"/>
              <a:t> MNT159</a:t>
            </a:r>
            <a:r>
              <a:rPr lang="zh-CN" altLang="en-US" baseline="0" dirty="0" smtClean="0"/>
              <a:t>可以削减</a:t>
            </a:r>
            <a:r>
              <a:rPr lang="en-US" altLang="zh-CN" baseline="0" dirty="0" smtClean="0"/>
              <a:t>87.94%</a:t>
            </a:r>
            <a:r>
              <a:rPr lang="zh-CN" altLang="en-US" baseline="0" dirty="0" smtClean="0"/>
              <a:t>，当规模越大时，批量验证的优势更为可观。</a:t>
            </a:r>
            <a:endParaRPr lang="en-US" altLang="zh-CN" baseline="0" dirty="0" smtClean="0"/>
          </a:p>
          <a:p>
            <a:pPr marL="228600" indent="-228600">
              <a:buAutoNum type="arabicPeriod"/>
            </a:pPr>
            <a:r>
              <a:rPr lang="zh-CN" altLang="en-US" dirty="0" smtClean="0"/>
              <a:t>此外，在两种不同的设置中，当数据提供者数量等于</a:t>
            </a:r>
            <a:r>
              <a:rPr lang="en-US" altLang="zh-CN" dirty="0" smtClean="0"/>
              <a:t>100</a:t>
            </a:r>
            <a:r>
              <a:rPr lang="zh-CN" altLang="en-US" dirty="0" smtClean="0"/>
              <a:t>万时，</a:t>
            </a:r>
            <a:r>
              <a:rPr lang="en-US" altLang="zh-CN" dirty="0" smtClean="0"/>
              <a:t>MNT159</a:t>
            </a:r>
            <a:r>
              <a:rPr lang="zh-CN" altLang="en-US" dirty="0" smtClean="0"/>
              <a:t>相对于</a:t>
            </a:r>
            <a:r>
              <a:rPr lang="en-US" altLang="zh-CN" dirty="0" smtClean="0"/>
              <a:t>SS512</a:t>
            </a:r>
            <a:r>
              <a:rPr lang="zh-CN" altLang="en-US" dirty="0" smtClean="0"/>
              <a:t>，可以削减</a:t>
            </a:r>
            <a:r>
              <a:rPr lang="en-US" altLang="zh-CN" dirty="0" smtClean="0"/>
              <a:t>89.93%.</a:t>
            </a:r>
            <a:r>
              <a:rPr lang="en-US" altLang="zh-CN" baseline="0" dirty="0" smtClean="0"/>
              <a:t> </a:t>
            </a:r>
            <a:r>
              <a:rPr lang="zh-CN" altLang="en-US" baseline="0" dirty="0" smtClean="0"/>
              <a:t>此外，我们可以粗略估量一下两者的渐近值。</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14</a:t>
            </a:fld>
            <a:endParaRPr lang="zh-CN" altLang="en-US"/>
          </a:p>
        </p:txBody>
      </p:sp>
    </p:spTree>
    <p:extLst>
      <p:ext uri="{BB962C8B-B14F-4D97-AF65-F5344CB8AC3E}">
        <p14:creationId xmlns:p14="http://schemas.microsoft.com/office/powerpoint/2010/main" val="1360465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这张图给出的用户简介匹配中的计算开销</a:t>
            </a:r>
            <a:endParaRPr lang="en-US" altLang="zh-CN" dirty="0" smtClean="0"/>
          </a:p>
          <a:p>
            <a:pPr marL="228600" indent="-228600">
              <a:buAutoNum type="arabicPeriod"/>
            </a:pPr>
            <a:r>
              <a:rPr lang="zh-CN" altLang="en-US" dirty="0" smtClean="0"/>
              <a:t>一是，简介加密，二是， 相似度计算，两者都与属性的数量</a:t>
            </a:r>
            <a:r>
              <a:rPr lang="en-US" altLang="zh-CN" dirty="0" smtClean="0"/>
              <a:t>\beta</a:t>
            </a:r>
            <a:r>
              <a:rPr lang="zh-CN" altLang="en-US" dirty="0" smtClean="0"/>
              <a:t>成正比，因为简介加密设计</a:t>
            </a:r>
            <a:r>
              <a:rPr lang="en-US" altLang="zh-CN" dirty="0" smtClean="0"/>
              <a:t>2\beta</a:t>
            </a:r>
            <a:r>
              <a:rPr lang="zh-CN" altLang="en-US" dirty="0" smtClean="0"/>
              <a:t>个</a:t>
            </a:r>
            <a:r>
              <a:rPr lang="en-US" altLang="zh-CN" dirty="0" smtClean="0"/>
              <a:t>BGN </a:t>
            </a:r>
            <a:r>
              <a:rPr lang="zh-CN" altLang="en-US" dirty="0" smtClean="0"/>
              <a:t>加密操作；而相似度计算涉及，</a:t>
            </a:r>
            <a:r>
              <a:rPr lang="en-US" altLang="zh-CN" dirty="0" smtClean="0"/>
              <a:t>\beta</a:t>
            </a:r>
            <a:r>
              <a:rPr lang="zh-CN" altLang="en-US" dirty="0" smtClean="0"/>
              <a:t>个在密文上的点积操作。</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15</a:t>
            </a:fld>
            <a:endParaRPr lang="zh-CN" altLang="en-US"/>
          </a:p>
        </p:txBody>
      </p:sp>
    </p:spTree>
    <p:extLst>
      <p:ext uri="{BB962C8B-B14F-4D97-AF65-F5344CB8AC3E}">
        <p14:creationId xmlns:p14="http://schemas.microsoft.com/office/powerpoint/2010/main" val="19332083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这张图给出的是通讯开销。横坐标是数据提供者的数量 </a:t>
            </a:r>
            <a:r>
              <a:rPr lang="en-US" altLang="zh-CN" dirty="0" smtClean="0"/>
              <a:t>n</a:t>
            </a:r>
          </a:p>
          <a:p>
            <a:r>
              <a:rPr lang="zh-CN" altLang="en-US" dirty="0" smtClean="0"/>
              <a:t>（</a:t>
            </a:r>
            <a:r>
              <a:rPr lang="en-US" altLang="zh-CN" dirty="0" smtClean="0"/>
              <a:t>1</a:t>
            </a:r>
            <a:r>
              <a:rPr lang="zh-CN" altLang="en-US" dirty="0" smtClean="0"/>
              <a:t>）首先，每个数据提供者的通讯开销是常量 </a:t>
            </a:r>
            <a:r>
              <a:rPr lang="en-US" altLang="zh-CN" dirty="0" smtClean="0"/>
              <a:t>2.60KB</a:t>
            </a:r>
            <a:r>
              <a:rPr lang="zh-CN" altLang="en-US" dirty="0" smtClean="0"/>
              <a:t>，因为她只需要做一次数据提交。</a:t>
            </a:r>
            <a:endParaRPr lang="en-US" altLang="zh-CN" dirty="0" smtClean="0"/>
          </a:p>
          <a:p>
            <a:r>
              <a:rPr lang="zh-CN" altLang="en-US" dirty="0" smtClean="0"/>
              <a:t>（</a:t>
            </a:r>
            <a:r>
              <a:rPr lang="en-US" altLang="zh-CN" dirty="0" smtClean="0"/>
              <a:t>2</a:t>
            </a:r>
            <a:r>
              <a:rPr lang="zh-CN" altLang="en-US" dirty="0" smtClean="0"/>
              <a:t>）其次，数据服务提供商与数据消费者这两者的通讯开销都与</a:t>
            </a:r>
            <a:r>
              <a:rPr lang="en-US" altLang="zh-CN" dirty="0" smtClean="0"/>
              <a:t>n</a:t>
            </a:r>
            <a:r>
              <a:rPr lang="zh-CN" altLang="en-US" dirty="0" smtClean="0"/>
              <a:t>成线性关系。</a:t>
            </a:r>
            <a:endParaRPr lang="en-US" altLang="zh-CN" dirty="0" smtClean="0"/>
          </a:p>
          <a:p>
            <a:r>
              <a:rPr lang="zh-CN" altLang="en-US" dirty="0" smtClean="0"/>
              <a:t>（</a:t>
            </a:r>
            <a:r>
              <a:rPr lang="en-US" altLang="zh-CN" dirty="0" smtClean="0"/>
              <a:t>3</a:t>
            </a:r>
            <a:r>
              <a:rPr lang="zh-CN" altLang="en-US" dirty="0" smtClean="0"/>
              <a:t>）需要指出的是，这里的</a:t>
            </a:r>
            <a:r>
              <a:rPr lang="en-US" altLang="zh-CN" dirty="0" smtClean="0"/>
              <a:t>m</a:t>
            </a:r>
            <a:r>
              <a:rPr lang="zh-CN" altLang="en-US" dirty="0" smtClean="0"/>
              <a:t>是匹配的用户数量。根据我们数据集的统计表明，当</a:t>
            </a:r>
            <a:r>
              <a:rPr lang="en-US" altLang="zh-CN" dirty="0" smtClean="0"/>
              <a:t>\beta</a:t>
            </a:r>
            <a:r>
              <a:rPr lang="en-US" altLang="zh-CN" baseline="0" dirty="0" smtClean="0"/>
              <a:t> = 10, \delta = 12, </a:t>
            </a:r>
            <a:r>
              <a:rPr lang="zh-CN" altLang="en-US" dirty="0" smtClean="0"/>
              <a:t>匹配率是</a:t>
            </a:r>
            <a:r>
              <a:rPr lang="en-US" altLang="zh-CN" dirty="0" smtClean="0"/>
              <a:t>4.24%</a:t>
            </a:r>
            <a:r>
              <a:rPr lang="zh-CN" altLang="en-US" dirty="0" smtClean="0"/>
              <a:t>，即</a:t>
            </a:r>
            <a:r>
              <a:rPr lang="en-US" altLang="zh-CN" dirty="0" smtClean="0"/>
              <a:t>m/n=4.24%.</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16</a:t>
            </a:fld>
            <a:endParaRPr lang="zh-CN" altLang="en-US"/>
          </a:p>
        </p:txBody>
      </p:sp>
    </p:spTree>
    <p:extLst>
      <p:ext uri="{BB962C8B-B14F-4D97-AF65-F5344CB8AC3E}">
        <p14:creationId xmlns:p14="http://schemas.microsoft.com/office/powerpoint/2010/main" val="147380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在我的毕设论文中，综合考虑了数据的真实性验证与隐私保护，并提出</a:t>
            </a:r>
            <a:r>
              <a:rPr lang="en-US" altLang="zh-CN" dirty="0" smtClean="0"/>
              <a:t>TPDM</a:t>
            </a:r>
            <a:r>
              <a:rPr lang="zh-CN" altLang="en-US" dirty="0" smtClean="0"/>
              <a:t>的协议；</a:t>
            </a:r>
            <a:endParaRPr lang="en-US" altLang="zh-CN" dirty="0" smtClean="0"/>
          </a:p>
          <a:p>
            <a:pPr marL="228600" indent="-228600">
              <a:buAutoNum type="arabicPeriod"/>
            </a:pPr>
            <a:r>
              <a:rPr lang="zh-CN" altLang="en-US" dirty="0" smtClean="0"/>
              <a:t>此外，我们用用户简介匹配实例化</a:t>
            </a:r>
            <a:r>
              <a:rPr lang="en-US" altLang="zh-CN" dirty="0" smtClean="0"/>
              <a:t>TPDM, </a:t>
            </a:r>
            <a:r>
              <a:rPr lang="zh-CN" altLang="en-US" dirty="0" smtClean="0"/>
              <a:t>并在真实数据集上进行了测试；</a:t>
            </a:r>
            <a:endParaRPr lang="en-US" altLang="zh-CN" dirty="0" smtClean="0"/>
          </a:p>
          <a:p>
            <a:pPr marL="228600" indent="-228600">
              <a:buAutoNum type="arabicPeriod"/>
            </a:pPr>
            <a:r>
              <a:rPr lang="zh-CN" altLang="en-US" dirty="0" smtClean="0"/>
              <a:t>实验结果表明了我们协议的可行性。</a:t>
            </a:r>
            <a:endParaRPr lang="zh-CN" altLang="en-US" dirty="0"/>
          </a:p>
        </p:txBody>
      </p:sp>
      <p:sp>
        <p:nvSpPr>
          <p:cNvPr id="4" name="灯片编号占位符 3"/>
          <p:cNvSpPr>
            <a:spLocks noGrp="1"/>
          </p:cNvSpPr>
          <p:nvPr>
            <p:ph type="sldNum" sz="quarter" idx="10"/>
          </p:nvPr>
        </p:nvSpPr>
        <p:spPr/>
        <p:txBody>
          <a:bodyPr/>
          <a:lstStyle/>
          <a:p>
            <a:fld id="{00C6A921-254F-470A-B8D4-0FC279F95E59}" type="slidenum">
              <a:rPr lang="zh-CN" altLang="en-US" smtClean="0"/>
              <a:t>17</a:t>
            </a:fld>
            <a:endParaRPr lang="zh-CN" altLang="en-US"/>
          </a:p>
        </p:txBody>
      </p:sp>
    </p:spTree>
    <p:extLst>
      <p:ext uri="{BB962C8B-B14F-4D97-AF65-F5344CB8AC3E}">
        <p14:creationId xmlns:p14="http://schemas.microsoft.com/office/powerpoint/2010/main" val="1919473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116963697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23477153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95672725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10931135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252967782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334676767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398785654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87856520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417085918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202281657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23CC3CC-19FC-494B-9B4D-89AD85414977}" type="datetimeFigureOut">
              <a:rPr lang="zh-CN" altLang="en-US" smtClean="0"/>
              <a:t>2018/6/4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2098633484"/>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2147164475"/>
      </p:ext>
    </p:extLst>
  </p:cSld>
  <p:clrMapOvr>
    <a:masterClrMapping/>
  </p:clrMapOvr>
  <p:transition spd="med">
    <p:pull/>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130843950"/>
      </p:ext>
    </p:extLst>
  </p:cSld>
  <p:clrMapOvr>
    <a:masterClrMapping/>
  </p:clrMapOvr>
  <p:transition spd="med">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0" name="Title 19"/>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76108860"/>
      </p:ext>
    </p:extLst>
  </p:cSld>
  <p:clrMapOvr>
    <a:masterClrMapping/>
  </p:clrMapOvr>
  <p:transition spd="med">
    <p:pull/>
  </p:transition>
  <p:timing>
    <p:tnLst>
      <p:par>
        <p:cTn id="1" dur="indefinite" restart="never" nodeType="tmRoot"/>
      </p:par>
    </p:tnLst>
  </p:timing>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4"/>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sz="1000">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sz="1000">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lvl1pPr>
              <a:defRPr sz="1000">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C04C079-7F5F-4255-A626-46765369A455}" type="slidenum">
              <a:rPr kumimoji="0" lang="en-US" sz="10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1715534256"/>
      </p:ext>
    </p:extLst>
  </p:cSld>
  <p:clrMapOvr>
    <a:masterClrMapping/>
  </p:clrMapOvr>
  <p:transition spd="med">
    <p:pull/>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1841608016"/>
      </p:ext>
    </p:extLst>
  </p:cSld>
  <p:clrMapOvr>
    <a:masterClrMapping/>
  </p:clrMapOvr>
  <p:transition spd="med">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240153431"/>
      </p:ext>
    </p:extLst>
  </p:cSld>
  <p:clrMapOvr>
    <a:masterClrMapping/>
  </p:clrMapOvr>
  <p:transition spd="med">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2306603906"/>
      </p:ext>
    </p:extLst>
  </p:cSld>
  <p:clrMapOvr>
    <a:masterClrMapping/>
  </p:clrMapOvr>
  <p:transition spd="med">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4014874743"/>
      </p:ext>
    </p:extLst>
  </p:cSld>
  <p:clrMapOvr>
    <a:masterClrMapping/>
  </p:clrMapOvr>
  <p:transition spd="med">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571796483"/>
      </p:ext>
    </p:extLst>
  </p:cSld>
  <p:clrMapOvr>
    <a:masterClrMapping/>
  </p:clrMapOvr>
  <p:transition spd="med">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3711432242"/>
      </p:ext>
    </p:extLst>
  </p:cSld>
  <p:clrMapOvr>
    <a:masterClrMapping/>
  </p:clrMapOvr>
  <p:transition spd="med">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2013086162"/>
      </p:ext>
    </p:extLst>
  </p:cSld>
  <p:clrMapOvr>
    <a:masterClrMapping/>
  </p:clrMapOvr>
  <p:transition spd="med">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1916102943"/>
      </p:ext>
    </p:extLst>
  </p:cSld>
  <p:clrMapOvr>
    <a:masterClrMapping/>
  </p:clrMapOvr>
  <p:transition spd="med">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3587468022"/>
      </p:ext>
    </p:extLst>
  </p:cSld>
  <p:clrMapOvr>
    <a:masterClrMapping/>
  </p:clrMapOvr>
  <p:transition spd="med">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0" name="Title 19"/>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512057175"/>
      </p:ext>
    </p:extLst>
  </p:cSld>
  <p:clrMapOvr>
    <a:masterClrMapping/>
  </p:clrMapOvr>
  <p:transition spd="med">
    <p:pull/>
  </p:transition>
  <p:timing>
    <p:tnLst>
      <p:par>
        <p:cTn id="1" dur="indefinite" restart="never" nodeType="tmRoot"/>
      </p:par>
    </p:tnLst>
  </p:timing>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4"/>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sz="1000">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sz="1000">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lvl1pPr>
              <a:defRPr sz="1000">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C04C079-7F5F-4255-A626-46765369A455}" type="slidenum">
              <a:rPr kumimoji="0" lang="en-US" sz="10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154036456"/>
      </p:ext>
    </p:extLst>
  </p:cSld>
  <p:clrMapOvr>
    <a:masterClrMapping/>
  </p:clrMapOvr>
  <p:transition spd="med">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4056585798"/>
      </p:ext>
    </p:extLst>
  </p:cSld>
  <p:clrMapOvr>
    <a:masterClrMapping/>
  </p:clrMapOvr>
  <p:transition spd="med">
    <p:pull/>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3827150080"/>
      </p:ext>
    </p:extLst>
  </p:cSld>
  <p:clrMapOvr>
    <a:masterClrMapping/>
  </p:clrMapOvr>
  <p:transition spd="med">
    <p:pull/>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2003147111"/>
      </p:ext>
    </p:extLst>
  </p:cSld>
  <p:clrMapOvr>
    <a:masterClrMapping/>
  </p:clrMapOvr>
  <p:transition spd="med">
    <p:pull/>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2912271844"/>
      </p:ext>
    </p:extLst>
  </p:cSld>
  <p:clrMapOvr>
    <a:masterClrMapping/>
  </p:clrMapOvr>
  <p:transition spd="med">
    <p:pull/>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532971098"/>
      </p:ext>
    </p:extLst>
  </p:cSld>
  <p:clrMapOvr>
    <a:masterClrMapping/>
  </p:clrMapOvr>
  <p:transition spd="med">
    <p:pull/>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4157759202"/>
      </p:ext>
    </p:extLst>
  </p:cSld>
  <p:clrMapOvr>
    <a:masterClrMapping/>
  </p:clrMapOvr>
  <p:transition spd="med">
    <p:pull/>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543934666"/>
      </p:ext>
    </p:extLst>
  </p:cSld>
  <p:clrMapOvr>
    <a:masterClrMapping/>
  </p:clrMapOvr>
  <p:transition spd="med">
    <p:pull/>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374640005"/>
      </p:ext>
    </p:extLst>
  </p:cSld>
  <p:clrMapOvr>
    <a:masterClrMapping/>
  </p:clrMapOvr>
  <p:transition spd="med">
    <p:pull/>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3.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34.xml"/><Relationship Id="rId12" Type="http://schemas.openxmlformats.org/officeDocument/2006/relationships/theme" Target="../theme/theme4.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23CC3CC-19FC-494B-9B4D-89AD85414977}" type="datetimeFigureOut">
              <a:rPr lang="zh-CN" altLang="en-US" smtClean="0"/>
              <a:t>2018/6/4</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A3053C1-59B3-4A52-8606-86BCF40F7BEE}" type="slidenum">
              <a:rPr lang="zh-CN" altLang="en-US" smtClean="0"/>
              <a:t>‹#›</a:t>
            </a:fld>
            <a:endParaRPr lang="zh-CN" altLang="en-US"/>
          </a:p>
        </p:txBody>
      </p:sp>
    </p:spTree>
    <p:extLst>
      <p:ext uri="{BB962C8B-B14F-4D97-AF65-F5344CB8AC3E}">
        <p14:creationId xmlns:p14="http://schemas.microsoft.com/office/powerpoint/2010/main" val="2810642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3965543681"/>
      </p:ext>
    </p:extLst>
  </p:cSld>
  <p:clrMap bg1="lt1" tx1="dk1" bg2="lt2" tx2="dk2" accent1="accent1" accent2="accent2" accent3="accent3" accent4="accent4" accent5="accent5" accent6="accent6" hlink="hlink" folHlink="folHlink"/>
  <p:sldLayoutIdLst>
    <p:sldLayoutId id="2147483661" r:id="rId1"/>
  </p:sldLayoutIdLst>
  <p:transition spd="med">
    <p:pull/>
  </p:transition>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410793937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spd="med">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41DDEF7-E63B-46B8-8D51-70EAE65685F2}" type="datetimeFigureOut">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6/4/18</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2FA0127-A86A-4F76-B694-EBB82CEF345C}"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000000">
                  <a:tint val="75000"/>
                </a:srgbClr>
              </a:solidFill>
              <a:effectLst/>
              <a:uLnTx/>
              <a:uFillTx/>
              <a:latin typeface="Calibri"/>
              <a:ea typeface="+mn-ea"/>
              <a:cs typeface="+mn-cs"/>
            </a:endParaRPr>
          </a:p>
        </p:txBody>
      </p:sp>
    </p:spTree>
    <p:extLst>
      <p:ext uri="{BB962C8B-B14F-4D97-AF65-F5344CB8AC3E}">
        <p14:creationId xmlns:p14="http://schemas.microsoft.com/office/powerpoint/2010/main" val="117119333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spd="med">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microsoft.com/office/2007/relationships/hdphoto" Target="../media/hdphoto1.wdp"/><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jpg"/><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10.png"/><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2.png"/><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16.png"/><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19.png"/><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1.png"/><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4" Type="http://schemas.openxmlformats.org/officeDocument/2006/relationships/image" Target="../media/image2.png"/><Relationship Id="rId5" Type="http://schemas.openxmlformats.org/officeDocument/2006/relationships/image" Target="../media/image22.png"/><Relationship Id="rId6" Type="http://schemas.openxmlformats.org/officeDocument/2006/relationships/image" Target="../media/image23.png"/><Relationship Id="rId1" Type="http://schemas.openxmlformats.org/officeDocument/2006/relationships/tags" Target="../tags/tag1.xml"/><Relationship Id="rId2"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40.png"/><Relationship Id="rId1" Type="http://schemas.openxmlformats.org/officeDocument/2006/relationships/tags" Target="../tags/tag2.xml"/><Relationship Id="rId2"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6.png"/><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2.png"/><Relationship Id="rId5" Type="http://schemas.openxmlformats.org/officeDocument/2006/relationships/image" Target="../media/image28.PNG"/><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4" Type="http://schemas.openxmlformats.org/officeDocument/2006/relationships/image" Target="../media/image29.png"/><Relationship Id="rId5" Type="http://schemas.openxmlformats.org/officeDocument/2006/relationships/image" Target="../media/image2.png"/><Relationship Id="rId6" Type="http://schemas.openxmlformats.org/officeDocument/2006/relationships/image" Target="../media/image250.png"/><Relationship Id="rId1" Type="http://schemas.openxmlformats.org/officeDocument/2006/relationships/tags" Target="../tags/tag3.xml"/><Relationship Id="rId2"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4" Type="http://schemas.openxmlformats.org/officeDocument/2006/relationships/image" Target="../media/image30.png"/><Relationship Id="rId5" Type="http://schemas.openxmlformats.org/officeDocument/2006/relationships/image" Target="../media/image2.png"/><Relationship Id="rId1" Type="http://schemas.openxmlformats.org/officeDocument/2006/relationships/tags" Target="../tags/tag4.xml"/><Relationship Id="rId2"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4" Type="http://schemas.openxmlformats.org/officeDocument/2006/relationships/image" Target="../media/image31.png"/><Relationship Id="rId5" Type="http://schemas.openxmlformats.org/officeDocument/2006/relationships/image" Target="../media/image2.png"/><Relationship Id="rId1" Type="http://schemas.openxmlformats.org/officeDocument/2006/relationships/tags" Target="../tags/tag5.xml"/><Relationship Id="rId2"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3"/>
          <p:cNvSpPr>
            <a:spLocks noGrp="1"/>
          </p:cNvSpPr>
          <p:nvPr>
            <p:ph type="ctrTitle"/>
          </p:nvPr>
        </p:nvSpPr>
        <p:spPr>
          <a:xfrm>
            <a:off x="-13855" y="2047239"/>
            <a:ext cx="9144000" cy="1634672"/>
          </a:xfrm>
        </p:spPr>
        <p:txBody>
          <a:bodyPr>
            <a:noAutofit/>
          </a:bodyPr>
          <a:lstStyle/>
          <a:p>
            <a:r>
              <a:rPr lang="en-US" altLang="zh-CN" sz="4600" spc="150" dirty="0" smtClean="0">
                <a:solidFill>
                  <a:schemeClr val="tx1">
                    <a:lumMod val="50000"/>
                    <a:lumOff val="50000"/>
                  </a:schemeClr>
                </a:solidFill>
                <a:ea typeface="Open Sans" pitchFamily="34" charset="0"/>
                <a:cs typeface="Open Sans" pitchFamily="34" charset="0"/>
              </a:rPr>
              <a:t>Verifiable and Privacy Preserving Computation in Data Markets</a:t>
            </a:r>
            <a:endParaRPr lang="en-US" sz="4600" spc="150" dirty="0">
              <a:solidFill>
                <a:schemeClr val="tx1">
                  <a:lumMod val="50000"/>
                  <a:lumOff val="50000"/>
                </a:schemeClr>
              </a:solidFill>
              <a:ea typeface="Open Sans" pitchFamily="34" charset="0"/>
              <a:cs typeface="Open Sans" pitchFamily="34" charset="0"/>
            </a:endParaRPr>
          </a:p>
        </p:txBody>
      </p:sp>
      <p:sp>
        <p:nvSpPr>
          <p:cNvPr id="22" name="Subtitle 4"/>
          <p:cNvSpPr>
            <a:spLocks noGrp="1"/>
          </p:cNvSpPr>
          <p:nvPr>
            <p:ph type="subTitle" idx="1"/>
          </p:nvPr>
        </p:nvSpPr>
        <p:spPr>
          <a:xfrm>
            <a:off x="1600200" y="4950216"/>
            <a:ext cx="5943600" cy="640174"/>
          </a:xfrm>
        </p:spPr>
        <p:txBody>
          <a:bodyPr>
            <a:noAutofit/>
          </a:bodyPr>
          <a:lstStyle/>
          <a:p>
            <a:r>
              <a:rPr lang="en-US" sz="3600" spc="-180" dirty="0" smtClean="0">
                <a:solidFill>
                  <a:schemeClr val="tx1">
                    <a:lumMod val="50000"/>
                    <a:lumOff val="50000"/>
                  </a:schemeClr>
                </a:solidFill>
                <a:latin typeface="+mj-lt"/>
              </a:rPr>
              <a:t>Chaoyue Niu</a:t>
            </a:r>
            <a:endParaRPr lang="en-US" sz="3600" spc="-180" dirty="0">
              <a:solidFill>
                <a:schemeClr val="tx1">
                  <a:lumMod val="50000"/>
                  <a:lumOff val="50000"/>
                </a:schemeClr>
              </a:solidFill>
              <a:latin typeface="+mj-lt"/>
            </a:endParaRPr>
          </a:p>
        </p:txBody>
      </p:sp>
      <p:cxnSp>
        <p:nvCxnSpPr>
          <p:cNvPr id="23" name="Straight Connector 10"/>
          <p:cNvCxnSpPr/>
          <p:nvPr/>
        </p:nvCxnSpPr>
        <p:spPr>
          <a:xfrm flipV="1">
            <a:off x="5272396" y="3681911"/>
            <a:ext cx="3661468" cy="2116"/>
          </a:xfrm>
          <a:prstGeom prst="line">
            <a:avLst/>
          </a:prstGeom>
          <a:ln w="3175">
            <a:solidFill>
              <a:srgbClr val="95ABCA"/>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10"/>
          <p:cNvCxnSpPr/>
          <p:nvPr/>
        </p:nvCxnSpPr>
        <p:spPr>
          <a:xfrm flipV="1">
            <a:off x="125431" y="2028647"/>
            <a:ext cx="3661468" cy="2116"/>
          </a:xfrm>
          <a:prstGeom prst="line">
            <a:avLst/>
          </a:prstGeom>
          <a:ln w="3175">
            <a:solidFill>
              <a:srgbClr val="95ABCA"/>
            </a:solidFill>
            <a:prstDash val="sysDash"/>
          </a:ln>
        </p:spPr>
        <p:style>
          <a:lnRef idx="1">
            <a:schemeClr val="accent1"/>
          </a:lnRef>
          <a:fillRef idx="0">
            <a:schemeClr val="accent1"/>
          </a:fillRef>
          <a:effectRef idx="0">
            <a:schemeClr val="accent1"/>
          </a:effectRef>
          <a:fontRef idx="minor">
            <a:schemeClr val="tx1"/>
          </a:fontRef>
        </p:style>
      </p:cxnSp>
      <p:sp>
        <p:nvSpPr>
          <p:cNvPr id="26" name="Subtitle 4"/>
          <p:cNvSpPr txBox="1">
            <a:spLocks/>
          </p:cNvSpPr>
          <p:nvPr/>
        </p:nvSpPr>
        <p:spPr>
          <a:xfrm>
            <a:off x="2057165" y="5557438"/>
            <a:ext cx="5029669" cy="1212182"/>
          </a:xfrm>
          <a:prstGeom prst="rect">
            <a:avLst/>
          </a:prstGeom>
        </p:spPr>
        <p:txBody>
          <a:bodyPr vert="horz" lIns="91440" tIns="45720" rIns="91440" bIns="45720" rtlCol="0">
            <a:noAutofit/>
          </a:bodyPr>
          <a:lstStyle/>
          <a:p>
            <a:pPr algn="ctr">
              <a:lnSpc>
                <a:spcPct val="90000"/>
              </a:lnSpc>
              <a:spcBef>
                <a:spcPts val="576"/>
              </a:spcBef>
              <a:buFont typeface="Arial" pitchFamily="34" charset="0"/>
              <a:buNone/>
              <a:defRPr/>
            </a:pPr>
            <a:r>
              <a:rPr lang="en-US" sz="2600" dirty="0" smtClean="0">
                <a:solidFill>
                  <a:schemeClr val="tx1">
                    <a:lumMod val="50000"/>
                    <a:lumOff val="50000"/>
                  </a:schemeClr>
                </a:solidFill>
                <a:latin typeface="+mj-lt"/>
              </a:rPr>
              <a:t>Advisor: Prof. Fan Wu</a:t>
            </a:r>
          </a:p>
          <a:p>
            <a:pPr algn="ctr">
              <a:lnSpc>
                <a:spcPct val="90000"/>
              </a:lnSpc>
              <a:spcBef>
                <a:spcPts val="576"/>
              </a:spcBef>
              <a:buFont typeface="Arial" pitchFamily="34" charset="0"/>
              <a:buNone/>
              <a:defRPr/>
            </a:pPr>
            <a:r>
              <a:rPr lang="en-US" sz="2600" dirty="0" smtClean="0">
                <a:solidFill>
                  <a:schemeClr val="tx1">
                    <a:lumMod val="50000"/>
                    <a:lumOff val="50000"/>
                  </a:schemeClr>
                </a:solidFill>
                <a:latin typeface="+mj-lt"/>
              </a:rPr>
              <a:t>June 16, 2017</a:t>
            </a:r>
          </a:p>
          <a:p>
            <a:pPr algn="ctr">
              <a:lnSpc>
                <a:spcPct val="90000"/>
              </a:lnSpc>
              <a:spcBef>
                <a:spcPts val="576"/>
              </a:spcBef>
              <a:buFont typeface="Arial" pitchFamily="34" charset="0"/>
              <a:buNone/>
              <a:defRPr/>
            </a:pPr>
            <a:r>
              <a:rPr lang="en-US" sz="2600" dirty="0" smtClean="0">
                <a:solidFill>
                  <a:schemeClr val="tx1">
                    <a:lumMod val="50000"/>
                    <a:lumOff val="50000"/>
                  </a:schemeClr>
                </a:solidFill>
                <a:latin typeface="+mj-lt"/>
              </a:rPr>
              <a:t>IEEE Honor Class, SJTU</a:t>
            </a:r>
          </a:p>
        </p:txBody>
      </p:sp>
      <p:pic>
        <p:nvPicPr>
          <p:cNvPr id="28" name="图片 27"/>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6497385"/>
            <a:ext cx="9144000" cy="359505"/>
          </a:xfrm>
          <a:prstGeom prst="rect">
            <a:avLst/>
          </a:prstGeom>
        </p:spPr>
      </p:pic>
    </p:spTree>
    <p:extLst>
      <p:ext uri="{BB962C8B-B14F-4D97-AF65-F5344CB8AC3E}">
        <p14:creationId xmlns:p14="http://schemas.microsoft.com/office/powerpoint/2010/main" val="34217760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5000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decel="50000" fill="hold" grpId="0" nodeType="with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 calcmode="lin" valueType="num">
                                      <p:cBhvr additive="base">
                                        <p:cTn id="11" dur="6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12" dur="600" fill="hold"/>
                                        <p:tgtEl>
                                          <p:spTgt spid="22">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2" decel="5000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1000" fill="hold"/>
                                        <p:tgtEl>
                                          <p:spTgt spid="23"/>
                                        </p:tgtEl>
                                        <p:attrNameLst>
                                          <p:attrName>ppt_x</p:attrName>
                                        </p:attrNameLst>
                                      </p:cBhvr>
                                      <p:tavLst>
                                        <p:tav tm="0">
                                          <p:val>
                                            <p:strVal val="1+#ppt_w/2"/>
                                          </p:val>
                                        </p:tav>
                                        <p:tav tm="100000">
                                          <p:val>
                                            <p:strVal val="#ppt_x"/>
                                          </p:val>
                                        </p:tav>
                                      </p:tavLst>
                                    </p:anim>
                                    <p:anim calcmode="lin" valueType="num">
                                      <p:cBhvr additive="base">
                                        <p:cTn id="16" dur="1000" fill="hold"/>
                                        <p:tgtEl>
                                          <p:spTgt spid="23"/>
                                        </p:tgtEl>
                                        <p:attrNameLst>
                                          <p:attrName>ppt_y</p:attrName>
                                        </p:attrNameLst>
                                      </p:cBhvr>
                                      <p:tavLst>
                                        <p:tav tm="0">
                                          <p:val>
                                            <p:strVal val="#ppt_y"/>
                                          </p:val>
                                        </p:tav>
                                        <p:tav tm="100000">
                                          <p:val>
                                            <p:strVal val="#ppt_y"/>
                                          </p:val>
                                        </p:tav>
                                      </p:tavLst>
                                    </p:anim>
                                  </p:childTnLst>
                                </p:cTn>
                              </p:par>
                              <p:par>
                                <p:cTn id="17" presetID="2" presetClass="entr" presetSubtype="2" decel="5000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1000" fill="hold"/>
                                        <p:tgtEl>
                                          <p:spTgt spid="25"/>
                                        </p:tgtEl>
                                        <p:attrNameLst>
                                          <p:attrName>ppt_x</p:attrName>
                                        </p:attrNameLst>
                                      </p:cBhvr>
                                      <p:tavLst>
                                        <p:tav tm="0">
                                          <p:val>
                                            <p:strVal val="1+#ppt_w/2"/>
                                          </p:val>
                                        </p:tav>
                                        <p:tav tm="100000">
                                          <p:val>
                                            <p:strVal val="#ppt_x"/>
                                          </p:val>
                                        </p:tav>
                                      </p:tavLst>
                                    </p:anim>
                                    <p:anim calcmode="lin" valueType="num">
                                      <p:cBhvr additive="base">
                                        <p:cTn id="20" dur="1000" fill="hold"/>
                                        <p:tgtEl>
                                          <p:spTgt spid="25"/>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600"/>
                                        <p:tgtEl>
                                          <p:spTgt spid="26"/>
                                        </p:tgtEl>
                                      </p:cBhvr>
                                    </p:animEffect>
                                    <p:anim calcmode="lin" valueType="num">
                                      <p:cBhvr>
                                        <p:cTn id="24" dur="600" fill="hold"/>
                                        <p:tgtEl>
                                          <p:spTgt spid="26"/>
                                        </p:tgtEl>
                                        <p:attrNameLst>
                                          <p:attrName>ppt_x</p:attrName>
                                        </p:attrNameLst>
                                      </p:cBhvr>
                                      <p:tavLst>
                                        <p:tav tm="0">
                                          <p:val>
                                            <p:strVal val="#ppt_x"/>
                                          </p:val>
                                        </p:tav>
                                        <p:tav tm="100000">
                                          <p:val>
                                            <p:strVal val="#ppt_x"/>
                                          </p:val>
                                        </p:tav>
                                      </p:tavLst>
                                    </p:anim>
                                    <p:anim calcmode="lin" valueType="num">
                                      <p:cBhvr>
                                        <p:cTn id="25" dur="600" fill="hold"/>
                                        <p:tgtEl>
                                          <p:spTgt spid="26"/>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24" presetClass="emph" presetSubtype="0" fill="hold" nodeType="afterEffect">
                                  <p:stCondLst>
                                    <p:cond delay="0"/>
                                  </p:stCondLst>
                                  <p:childTnLst>
                                    <p:animClr clrSpc="hsl" dir="cw">
                                      <p:cBhvr override="childStyle">
                                        <p:cTn id="28" dur="400" fill="hold"/>
                                        <p:tgtEl>
                                          <p:spTgt spid="22">
                                            <p:txEl>
                                              <p:pRg st="0" end="0"/>
                                            </p:txEl>
                                          </p:spTgt>
                                        </p:tgtEl>
                                        <p:attrNameLst>
                                          <p:attrName>style.color</p:attrName>
                                        </p:attrNameLst>
                                      </p:cBhvr>
                                      <p:by>
                                        <p:hsl h="0" s="-12549" l="-25098"/>
                                      </p:by>
                                    </p:animClr>
                                    <p:animClr clrSpc="hsl" dir="cw">
                                      <p:cBhvr>
                                        <p:cTn id="29" dur="400" fill="hold"/>
                                        <p:tgtEl>
                                          <p:spTgt spid="22">
                                            <p:txEl>
                                              <p:pRg st="0" end="0"/>
                                            </p:txEl>
                                          </p:spTgt>
                                        </p:tgtEl>
                                        <p:attrNameLst>
                                          <p:attrName>fillcolor</p:attrName>
                                        </p:attrNameLst>
                                      </p:cBhvr>
                                      <p:by>
                                        <p:hsl h="0" s="-12549" l="-25098"/>
                                      </p:by>
                                    </p:animClr>
                                    <p:animClr clrSpc="hsl" dir="cw">
                                      <p:cBhvr>
                                        <p:cTn id="30" dur="400" fill="hold"/>
                                        <p:tgtEl>
                                          <p:spTgt spid="22">
                                            <p:txEl>
                                              <p:pRg st="0" end="0"/>
                                            </p:txEl>
                                          </p:spTgt>
                                        </p:tgtEl>
                                        <p:attrNameLst>
                                          <p:attrName>stroke.color</p:attrName>
                                        </p:attrNameLst>
                                      </p:cBhvr>
                                      <p:by>
                                        <p:hsl h="0" s="-12549" l="-25098"/>
                                      </p:by>
                                    </p:animClr>
                                    <p:set>
                                      <p:cBhvr>
                                        <p:cTn id="31" dur="400" fill="hold"/>
                                        <p:tgtEl>
                                          <p:spTgt spid="22">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5"/>
          <p:cNvSpPr/>
          <p:nvPr/>
        </p:nvSpPr>
        <p:spPr>
          <a:xfrm>
            <a:off x="0" y="3830499"/>
            <a:ext cx="9144000" cy="1152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prstClr val="white"/>
              </a:solidFill>
            </a:endParaRPr>
          </a:p>
        </p:txBody>
      </p:sp>
      <p:sp>
        <p:nvSpPr>
          <p:cNvPr id="31" name="Oval 6"/>
          <p:cNvSpPr/>
          <p:nvPr/>
        </p:nvSpPr>
        <p:spPr>
          <a:xfrm>
            <a:off x="951734" y="3760267"/>
            <a:ext cx="259200" cy="259200"/>
          </a:xfrm>
          <a:prstGeom prst="ellipse">
            <a:avLst/>
          </a:prstGeom>
          <a:solidFill>
            <a:srgbClr val="1B6A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prstClr val="white"/>
              </a:solidFill>
            </a:endParaRPr>
          </a:p>
        </p:txBody>
      </p:sp>
      <p:sp>
        <p:nvSpPr>
          <p:cNvPr id="32" name="Oval 7"/>
          <p:cNvSpPr/>
          <p:nvPr/>
        </p:nvSpPr>
        <p:spPr>
          <a:xfrm>
            <a:off x="3166747" y="3764093"/>
            <a:ext cx="259200" cy="259200"/>
          </a:xfrm>
          <a:prstGeom prst="ellipse">
            <a:avLst/>
          </a:prstGeom>
          <a:solidFill>
            <a:srgbClr val="6EA5D2"/>
          </a:solidFill>
          <a:ln>
            <a:solidFill>
              <a:srgbClr val="6EA5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prstClr val="white"/>
              </a:solidFill>
            </a:endParaRPr>
          </a:p>
        </p:txBody>
      </p:sp>
      <p:sp>
        <p:nvSpPr>
          <p:cNvPr id="33" name="Oval 8"/>
          <p:cNvSpPr/>
          <p:nvPr/>
        </p:nvSpPr>
        <p:spPr>
          <a:xfrm>
            <a:off x="5381756" y="3753317"/>
            <a:ext cx="259200" cy="259200"/>
          </a:xfrm>
          <a:prstGeom prst="ellipse">
            <a:avLst/>
          </a:prstGeom>
          <a:solidFill>
            <a:srgbClr val="5AAAE4"/>
          </a:solidFill>
          <a:ln>
            <a:solidFill>
              <a:srgbClr val="5AA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prstClr val="white"/>
              </a:solidFill>
            </a:endParaRPr>
          </a:p>
        </p:txBody>
      </p:sp>
      <p:sp>
        <p:nvSpPr>
          <p:cNvPr id="34" name="Oval 9"/>
          <p:cNvSpPr/>
          <p:nvPr/>
        </p:nvSpPr>
        <p:spPr>
          <a:xfrm>
            <a:off x="7596774" y="3761014"/>
            <a:ext cx="259200" cy="259200"/>
          </a:xfrm>
          <a:prstGeom prst="ellipse">
            <a:avLst/>
          </a:prstGeom>
          <a:solidFill>
            <a:srgbClr val="91C6ED"/>
          </a:solidFill>
          <a:ln>
            <a:solidFill>
              <a:srgbClr val="91C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prstClr val="white"/>
              </a:solidFill>
            </a:endParaRPr>
          </a:p>
        </p:txBody>
      </p:sp>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Emerging Data Trading Platforms</a:t>
            </a:r>
            <a:endParaRPr lang="en-US" sz="3400" dirty="0"/>
          </a:p>
        </p:txBody>
      </p:sp>
      <p:sp>
        <p:nvSpPr>
          <p:cNvPr id="38" name="Rectangular Callout 15"/>
          <p:cNvSpPr/>
          <p:nvPr/>
        </p:nvSpPr>
        <p:spPr>
          <a:xfrm flipH="1">
            <a:off x="1363077" y="1274663"/>
            <a:ext cx="3092469" cy="1940632"/>
          </a:xfrm>
          <a:prstGeom prst="wedgeRectCallout">
            <a:avLst/>
          </a:prstGeom>
          <a:solidFill>
            <a:srgbClr val="6EA5D2"/>
          </a:solidFill>
          <a:ln>
            <a:solidFill>
              <a:srgbClr val="6EA5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prstClr val="white"/>
              </a:solidFill>
            </a:endParaRPr>
          </a:p>
        </p:txBody>
      </p:sp>
      <p:grpSp>
        <p:nvGrpSpPr>
          <p:cNvPr id="39" name="Group 57"/>
          <p:cNvGrpSpPr/>
          <p:nvPr/>
        </p:nvGrpSpPr>
        <p:grpSpPr>
          <a:xfrm>
            <a:off x="5853186" y="1274154"/>
            <a:ext cx="3024001" cy="1945520"/>
            <a:chOff x="6019799" y="1276350"/>
            <a:chExt cx="2699658" cy="1154723"/>
          </a:xfrm>
          <a:solidFill>
            <a:srgbClr val="91C6ED"/>
          </a:solidFill>
        </p:grpSpPr>
        <p:sp>
          <p:nvSpPr>
            <p:cNvPr id="40" name="Rectangular Callout 17"/>
            <p:cNvSpPr/>
            <p:nvPr/>
          </p:nvSpPr>
          <p:spPr>
            <a:xfrm flipH="1">
              <a:off x="6019799" y="1276350"/>
              <a:ext cx="2699658" cy="1154723"/>
            </a:xfrm>
            <a:prstGeom prst="wedgeRectCallout">
              <a:avLst/>
            </a:prstGeom>
            <a:grpFill/>
            <a:ln>
              <a:solidFill>
                <a:srgbClr val="91C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prstClr val="white"/>
                </a:solidFill>
              </a:endParaRPr>
            </a:p>
          </p:txBody>
        </p:sp>
        <p:sp>
          <p:nvSpPr>
            <p:cNvPr id="41" name="Rectangle 46"/>
            <p:cNvSpPr/>
            <p:nvPr/>
          </p:nvSpPr>
          <p:spPr>
            <a:xfrm>
              <a:off x="6110637" y="1298974"/>
              <a:ext cx="2517979" cy="237477"/>
            </a:xfrm>
            <a:prstGeom prst="rect">
              <a:avLst/>
            </a:prstGeom>
            <a:noFill/>
            <a:ln>
              <a:noFill/>
            </a:ln>
          </p:spPr>
          <p:txBody>
            <a:bodyPr wrap="square">
              <a:spAutoFit/>
            </a:bodyPr>
            <a:lstStyle/>
            <a:p>
              <a:pPr algn="ctr"/>
              <a:r>
                <a:rPr lang="ms-MY" sz="2000" dirty="0" smtClean="0">
                  <a:solidFill>
                    <a:schemeClr val="bg1"/>
                  </a:solidFill>
                </a:rPr>
                <a:t>Personal Data</a:t>
              </a:r>
              <a:endParaRPr lang="ms-MY" sz="2000" dirty="0">
                <a:solidFill>
                  <a:schemeClr val="bg1"/>
                </a:solidFill>
              </a:endParaRPr>
            </a:p>
          </p:txBody>
        </p:sp>
      </p:grpSp>
      <p:grpSp>
        <p:nvGrpSpPr>
          <p:cNvPr id="42" name="Group 58"/>
          <p:cNvGrpSpPr/>
          <p:nvPr/>
        </p:nvGrpSpPr>
        <p:grpSpPr>
          <a:xfrm>
            <a:off x="4943992" y="4363024"/>
            <a:ext cx="3024000" cy="1951200"/>
            <a:chOff x="4844142" y="3398226"/>
            <a:chExt cx="2699660" cy="1154724"/>
          </a:xfrm>
          <a:solidFill>
            <a:srgbClr val="5AAAE4"/>
          </a:solidFill>
        </p:grpSpPr>
        <p:sp>
          <p:nvSpPr>
            <p:cNvPr id="43" name="Rectangular Callout 16"/>
            <p:cNvSpPr/>
            <p:nvPr/>
          </p:nvSpPr>
          <p:spPr>
            <a:xfrm rot="10800000" flipH="1">
              <a:off x="4844142" y="3398226"/>
              <a:ext cx="2699660" cy="1154724"/>
            </a:xfrm>
            <a:prstGeom prst="wedgeRectCallout">
              <a:avLst/>
            </a:prstGeom>
            <a:grpFill/>
            <a:ln>
              <a:solidFill>
                <a:srgbClr val="5AA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prstClr val="white"/>
                </a:solidFill>
              </a:endParaRPr>
            </a:p>
          </p:txBody>
        </p:sp>
        <p:sp>
          <p:nvSpPr>
            <p:cNvPr id="44" name="Rectangle 53"/>
            <p:cNvSpPr/>
            <p:nvPr/>
          </p:nvSpPr>
          <p:spPr>
            <a:xfrm>
              <a:off x="4934981" y="3434347"/>
              <a:ext cx="2517979" cy="236786"/>
            </a:xfrm>
            <a:prstGeom prst="rect">
              <a:avLst/>
            </a:prstGeom>
            <a:noFill/>
            <a:ln>
              <a:noFill/>
            </a:ln>
          </p:spPr>
          <p:txBody>
            <a:bodyPr wrap="square">
              <a:spAutoFit/>
            </a:bodyPr>
            <a:lstStyle/>
            <a:p>
              <a:pPr algn="ctr"/>
              <a:r>
                <a:rPr lang="en-US" sz="2000" dirty="0" smtClean="0">
                  <a:solidFill>
                    <a:schemeClr val="bg1"/>
                  </a:solidFill>
                </a:rPr>
                <a:t>Social Media Data</a:t>
              </a:r>
            </a:p>
          </p:txBody>
        </p:sp>
      </p:grpSp>
      <p:grpSp>
        <p:nvGrpSpPr>
          <p:cNvPr id="45" name="Group 59"/>
          <p:cNvGrpSpPr/>
          <p:nvPr/>
        </p:nvGrpSpPr>
        <p:grpSpPr>
          <a:xfrm>
            <a:off x="463134" y="4363023"/>
            <a:ext cx="3024000" cy="1951200"/>
            <a:chOff x="348341" y="3429008"/>
            <a:chExt cx="2699660" cy="1154724"/>
          </a:xfrm>
          <a:solidFill>
            <a:srgbClr val="1B6AA3"/>
          </a:solidFill>
        </p:grpSpPr>
        <p:sp>
          <p:nvSpPr>
            <p:cNvPr id="46" name="Rectangular Callout 14"/>
            <p:cNvSpPr/>
            <p:nvPr/>
          </p:nvSpPr>
          <p:spPr>
            <a:xfrm rot="10800000" flipH="1">
              <a:off x="348341" y="3429008"/>
              <a:ext cx="2699660" cy="1154724"/>
            </a:xfrm>
            <a:prstGeom prst="wedgeRectCallou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solidFill>
                  <a:prstClr val="white"/>
                </a:solidFill>
              </a:endParaRPr>
            </a:p>
          </p:txBody>
        </p:sp>
        <p:sp>
          <p:nvSpPr>
            <p:cNvPr id="47" name="Rectangle 55"/>
            <p:cNvSpPr/>
            <p:nvPr/>
          </p:nvSpPr>
          <p:spPr>
            <a:xfrm>
              <a:off x="571863" y="3466423"/>
              <a:ext cx="2252616" cy="236786"/>
            </a:xfrm>
            <a:prstGeom prst="rect">
              <a:avLst/>
            </a:prstGeom>
            <a:noFill/>
          </p:spPr>
          <p:txBody>
            <a:bodyPr wrap="square">
              <a:spAutoFit/>
            </a:bodyPr>
            <a:lstStyle/>
            <a:p>
              <a:pPr algn="ctr"/>
              <a:r>
                <a:rPr lang="en-US" sz="2000" dirty="0" smtClean="0">
                  <a:solidFill>
                    <a:schemeClr val="bg1"/>
                  </a:solidFill>
                  <a:latin typeface="+mj-lt"/>
                </a:rPr>
                <a:t>General Data</a:t>
              </a:r>
            </a:p>
          </p:txBody>
        </p:sp>
      </p:grpSp>
      <p:sp>
        <p:nvSpPr>
          <p:cNvPr id="48" name="AutoShape 108"/>
          <p:cNvSpPr>
            <a:spLocks/>
          </p:cNvSpPr>
          <p:nvPr/>
        </p:nvSpPr>
        <p:spPr bwMode="auto">
          <a:xfrm>
            <a:off x="5427129" y="3269224"/>
            <a:ext cx="137660" cy="1529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
                </a:moveTo>
                <a:cubicBezTo>
                  <a:pt x="15764" y="1800"/>
                  <a:pt x="19800" y="5835"/>
                  <a:pt x="19800" y="10800"/>
                </a:cubicBezTo>
                <a:cubicBezTo>
                  <a:pt x="19800" y="15764"/>
                  <a:pt x="15764" y="19800"/>
                  <a:pt x="10800" y="19800"/>
                </a:cubicBezTo>
                <a:cubicBezTo>
                  <a:pt x="5835" y="19800"/>
                  <a:pt x="1800" y="15764"/>
                  <a:pt x="1800" y="10800"/>
                </a:cubicBezTo>
                <a:cubicBezTo>
                  <a:pt x="1800" y="5835"/>
                  <a:pt x="5835" y="1800"/>
                  <a:pt x="10800" y="1800"/>
                </a:cubicBezTo>
                <a:moveTo>
                  <a:pt x="10800" y="21599"/>
                </a:moveTo>
                <a:cubicBezTo>
                  <a:pt x="16756" y="21599"/>
                  <a:pt x="21600" y="16756"/>
                  <a:pt x="21600" y="10800"/>
                </a:cubicBezTo>
                <a:cubicBezTo>
                  <a:pt x="21600" y="4843"/>
                  <a:pt x="16756" y="0"/>
                  <a:pt x="10800" y="0"/>
                </a:cubicBezTo>
                <a:cubicBezTo>
                  <a:pt x="4843" y="0"/>
                  <a:pt x="0" y="4843"/>
                  <a:pt x="0" y="10800"/>
                </a:cubicBezTo>
                <a:cubicBezTo>
                  <a:pt x="0" y="16756"/>
                  <a:pt x="4843" y="21599"/>
                  <a:pt x="10800" y="21599"/>
                </a:cubicBezTo>
              </a:path>
            </a:pathLst>
          </a:custGeom>
          <a:solidFill>
            <a:srgbClr val="5AAAE4"/>
          </a:solidFill>
          <a:ln>
            <a:solidFill>
              <a:srgbClr val="5AAAE4"/>
            </a:solid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49" name="AutoShape 109"/>
          <p:cNvSpPr>
            <a:spLocks/>
          </p:cNvSpPr>
          <p:nvPr/>
        </p:nvSpPr>
        <p:spPr bwMode="auto">
          <a:xfrm>
            <a:off x="5358925" y="3192746"/>
            <a:ext cx="274694" cy="40741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04" y="20170"/>
                </a:moveTo>
                <a:cubicBezTo>
                  <a:pt x="10885" y="20184"/>
                  <a:pt x="10830" y="20215"/>
                  <a:pt x="10782" y="20237"/>
                </a:cubicBezTo>
                <a:cubicBezTo>
                  <a:pt x="10774" y="20218"/>
                  <a:pt x="10707" y="20178"/>
                  <a:pt x="10666" y="20147"/>
                </a:cubicBezTo>
                <a:cubicBezTo>
                  <a:pt x="7368" y="17300"/>
                  <a:pt x="1799" y="12497"/>
                  <a:pt x="1799" y="8101"/>
                </a:cubicBezTo>
                <a:cubicBezTo>
                  <a:pt x="1799" y="4378"/>
                  <a:pt x="5838" y="1350"/>
                  <a:pt x="10800" y="1350"/>
                </a:cubicBezTo>
                <a:cubicBezTo>
                  <a:pt x="15762" y="1350"/>
                  <a:pt x="19800" y="4378"/>
                  <a:pt x="19800" y="8101"/>
                </a:cubicBezTo>
                <a:cubicBezTo>
                  <a:pt x="19800" y="12497"/>
                  <a:pt x="14231" y="17300"/>
                  <a:pt x="10904" y="20170"/>
                </a:cubicBezTo>
                <a:moveTo>
                  <a:pt x="10800" y="0"/>
                </a:moveTo>
                <a:cubicBezTo>
                  <a:pt x="4844" y="0"/>
                  <a:pt x="0" y="3588"/>
                  <a:pt x="0" y="8101"/>
                </a:cubicBezTo>
                <a:cubicBezTo>
                  <a:pt x="0" y="12826"/>
                  <a:pt x="5400" y="17660"/>
                  <a:pt x="9337" y="21056"/>
                </a:cubicBezTo>
                <a:cubicBezTo>
                  <a:pt x="9352" y="21070"/>
                  <a:pt x="9984" y="21599"/>
                  <a:pt x="10766" y="21599"/>
                </a:cubicBezTo>
                <a:lnTo>
                  <a:pt x="10834" y="21599"/>
                </a:lnTo>
                <a:cubicBezTo>
                  <a:pt x="11615" y="21599"/>
                  <a:pt x="12247" y="21070"/>
                  <a:pt x="12262" y="21056"/>
                </a:cubicBezTo>
                <a:cubicBezTo>
                  <a:pt x="16200" y="17660"/>
                  <a:pt x="21599" y="12826"/>
                  <a:pt x="21599" y="8101"/>
                </a:cubicBezTo>
                <a:cubicBezTo>
                  <a:pt x="21599" y="3588"/>
                  <a:pt x="16755" y="0"/>
                  <a:pt x="10800" y="0"/>
                </a:cubicBezTo>
              </a:path>
            </a:pathLst>
          </a:custGeom>
          <a:solidFill>
            <a:srgbClr val="5AAAE4"/>
          </a:solidFill>
          <a:ln>
            <a:solidFill>
              <a:srgbClr val="5AAAE4"/>
            </a:solid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52" name="Rectangle 55"/>
          <p:cNvSpPr/>
          <p:nvPr/>
        </p:nvSpPr>
        <p:spPr>
          <a:xfrm>
            <a:off x="1658506" y="1314733"/>
            <a:ext cx="2522816" cy="400110"/>
          </a:xfrm>
          <a:prstGeom prst="rect">
            <a:avLst/>
          </a:prstGeom>
          <a:noFill/>
          <a:ln>
            <a:noFill/>
          </a:ln>
        </p:spPr>
        <p:txBody>
          <a:bodyPr wrap="square">
            <a:spAutoFit/>
          </a:bodyPr>
          <a:lstStyle/>
          <a:p>
            <a:pPr algn="ctr"/>
            <a:r>
              <a:rPr lang="en-US" sz="2000" dirty="0" smtClean="0">
                <a:solidFill>
                  <a:schemeClr val="bg1"/>
                </a:solidFill>
              </a:rPr>
              <a:t>Location Data</a:t>
            </a:r>
          </a:p>
        </p:txBody>
      </p:sp>
      <p:pic>
        <p:nvPicPr>
          <p:cNvPr id="83" name="图片 82"/>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84"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01</a:t>
            </a:r>
            <a:endParaRPr lang="en-US" sz="1100" dirty="0">
              <a:solidFill>
                <a:schemeClr val="bg1"/>
              </a:solidFill>
            </a:endParaRPr>
          </a:p>
        </p:txBody>
      </p:sp>
      <p:grpSp>
        <p:nvGrpSpPr>
          <p:cNvPr id="28" name="组合 27"/>
          <p:cNvGrpSpPr>
            <a:grpSpLocks noChangeAspect="1"/>
          </p:cNvGrpSpPr>
          <p:nvPr/>
        </p:nvGrpSpPr>
        <p:grpSpPr>
          <a:xfrm>
            <a:off x="1590266" y="1714291"/>
            <a:ext cx="2638090" cy="1440000"/>
            <a:chOff x="4666350" y="2220716"/>
            <a:chExt cx="2858400" cy="1560256"/>
          </a:xfrm>
        </p:grpSpPr>
        <p:pic>
          <p:nvPicPr>
            <p:cNvPr id="29" name="图片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7250" y="3018972"/>
              <a:ext cx="2857500" cy="762000"/>
            </a:xfrm>
            <a:prstGeom prst="rect">
              <a:avLst/>
            </a:prstGeom>
          </p:spPr>
        </p:pic>
        <p:pic>
          <p:nvPicPr>
            <p:cNvPr id="36" name="图片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66350" y="2220716"/>
              <a:ext cx="2858400" cy="798256"/>
            </a:xfrm>
            <a:prstGeom prst="rect">
              <a:avLst/>
            </a:prstGeom>
          </p:spPr>
        </p:pic>
      </p:grpSp>
      <p:pic>
        <p:nvPicPr>
          <p:cNvPr id="3" name="图片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73396" y="1717183"/>
            <a:ext cx="1983576" cy="1440000"/>
          </a:xfrm>
          <a:prstGeom prst="rect">
            <a:avLst/>
          </a:prstGeom>
        </p:spPr>
      </p:pic>
      <p:grpSp>
        <p:nvGrpSpPr>
          <p:cNvPr id="50" name="组合 49"/>
          <p:cNvGrpSpPr>
            <a:grpSpLocks noChangeAspect="1"/>
          </p:cNvGrpSpPr>
          <p:nvPr/>
        </p:nvGrpSpPr>
        <p:grpSpPr>
          <a:xfrm>
            <a:off x="5428387" y="4825385"/>
            <a:ext cx="2055206" cy="1440000"/>
            <a:chOff x="2789583" y="1049482"/>
            <a:chExt cx="5011200" cy="3511145"/>
          </a:xfrm>
        </p:grpSpPr>
        <p:pic>
          <p:nvPicPr>
            <p:cNvPr id="55" name="图片 54"/>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0" b="99004" l="0" r="100000">
                          <a14:backgroundMark x1="58672" y1="65737" x2="58672" y2="65737"/>
                          <a14:backgroundMark x1="39431" y1="65538" x2="39431" y2="65538"/>
                          <a14:backgroundMark x1="42276" y1="87649" x2="42276" y2="87649"/>
                        </a14:backgroundRemoval>
                      </a14:imgEffect>
                    </a14:imgLayer>
                  </a14:imgProps>
                </a:ext>
                <a:ext uri="{28A0092B-C50C-407E-A947-70E740481C1C}">
                  <a14:useLocalDpi xmlns:a14="http://schemas.microsoft.com/office/drawing/2010/main" val="0"/>
                </a:ext>
              </a:extLst>
            </a:blip>
            <a:srcRect l="6649" t="51698" r="7337" b="3447"/>
            <a:stretch/>
          </p:blipFill>
          <p:spPr>
            <a:xfrm>
              <a:off x="2789583" y="2783032"/>
              <a:ext cx="5011200" cy="1777595"/>
            </a:xfrm>
            <a:prstGeom prst="rect">
              <a:avLst/>
            </a:prstGeom>
          </p:spPr>
        </p:pic>
        <p:pic>
          <p:nvPicPr>
            <p:cNvPr id="56" name="图片 5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789583" y="1049482"/>
              <a:ext cx="5010150" cy="1733550"/>
            </a:xfrm>
            <a:prstGeom prst="rect">
              <a:avLst/>
            </a:prstGeom>
          </p:spPr>
        </p:pic>
      </p:grpSp>
      <p:grpSp>
        <p:nvGrpSpPr>
          <p:cNvPr id="60" name="组合 59"/>
          <p:cNvGrpSpPr>
            <a:grpSpLocks noChangeAspect="1"/>
          </p:cNvGrpSpPr>
          <p:nvPr/>
        </p:nvGrpSpPr>
        <p:grpSpPr>
          <a:xfrm>
            <a:off x="951734" y="4825385"/>
            <a:ext cx="2093851" cy="1440000"/>
            <a:chOff x="4609050" y="1591176"/>
            <a:chExt cx="1847850" cy="1270818"/>
          </a:xfrm>
        </p:grpSpPr>
        <p:pic>
          <p:nvPicPr>
            <p:cNvPr id="61" name="图片 6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610100" y="1591176"/>
              <a:ext cx="1846800" cy="718369"/>
            </a:xfrm>
            <a:prstGeom prst="rect">
              <a:avLst/>
            </a:prstGeom>
          </p:spPr>
        </p:pic>
        <p:pic>
          <p:nvPicPr>
            <p:cNvPr id="62" name="图片 6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609050" y="2309544"/>
              <a:ext cx="1847850" cy="552450"/>
            </a:xfrm>
            <a:prstGeom prst="rect">
              <a:avLst/>
            </a:prstGeom>
          </p:spPr>
        </p:pic>
      </p:grpSp>
    </p:spTree>
    <p:extLst>
      <p:ext uri="{BB962C8B-B14F-4D97-AF65-F5344CB8AC3E}">
        <p14:creationId xmlns:p14="http://schemas.microsoft.com/office/powerpoint/2010/main" val="392223949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50000"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decel="50000"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0-#ppt_w/2"/>
                                          </p:val>
                                        </p:tav>
                                        <p:tav tm="100000">
                                          <p:val>
                                            <p:strVal val="#ppt_x"/>
                                          </p:val>
                                        </p:tav>
                                      </p:tavLst>
                                    </p:anim>
                                    <p:anim calcmode="lin" valueType="num">
                                      <p:cBhvr additive="base">
                                        <p:cTn id="13" dur="500" fill="hold"/>
                                        <p:tgtEl>
                                          <p:spTgt spid="3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decel="50000"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600" fill="hold"/>
                                        <p:tgtEl>
                                          <p:spTgt spid="31"/>
                                        </p:tgtEl>
                                        <p:attrNameLst>
                                          <p:attrName>ppt_x</p:attrName>
                                        </p:attrNameLst>
                                      </p:cBhvr>
                                      <p:tavLst>
                                        <p:tav tm="0">
                                          <p:val>
                                            <p:strVal val="0-#ppt_w/2"/>
                                          </p:val>
                                        </p:tav>
                                        <p:tav tm="100000">
                                          <p:val>
                                            <p:strVal val="#ppt_x"/>
                                          </p:val>
                                        </p:tav>
                                      </p:tavLst>
                                    </p:anim>
                                    <p:anim calcmode="lin" valueType="num">
                                      <p:cBhvr additive="base">
                                        <p:cTn id="18" dur="600" fill="hold"/>
                                        <p:tgtEl>
                                          <p:spTgt spid="31"/>
                                        </p:tgtEl>
                                        <p:attrNameLst>
                                          <p:attrName>ppt_y</p:attrName>
                                        </p:attrNameLst>
                                      </p:cBhvr>
                                      <p:tavLst>
                                        <p:tav tm="0">
                                          <p:val>
                                            <p:strVal val="#ppt_y"/>
                                          </p:val>
                                        </p:tav>
                                        <p:tav tm="100000">
                                          <p:val>
                                            <p:strVal val="#ppt_y"/>
                                          </p:val>
                                        </p:tav>
                                      </p:tavLst>
                                    </p:anim>
                                  </p:childTnLst>
                                </p:cTn>
                              </p:par>
                            </p:childTnLst>
                          </p:cTn>
                        </p:par>
                        <p:par>
                          <p:cTn id="19" fill="hold">
                            <p:stCondLst>
                              <p:cond delay="1600"/>
                            </p:stCondLst>
                            <p:childTnLst>
                              <p:par>
                                <p:cTn id="20" presetID="42" presetClass="entr" presetSubtype="0" fill="hold" nodeType="after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400"/>
                                        <p:tgtEl>
                                          <p:spTgt spid="45"/>
                                        </p:tgtEl>
                                      </p:cBhvr>
                                    </p:animEffect>
                                    <p:anim calcmode="lin" valueType="num">
                                      <p:cBhvr>
                                        <p:cTn id="23" dur="400" fill="hold"/>
                                        <p:tgtEl>
                                          <p:spTgt spid="45"/>
                                        </p:tgtEl>
                                        <p:attrNameLst>
                                          <p:attrName>ppt_x</p:attrName>
                                        </p:attrNameLst>
                                      </p:cBhvr>
                                      <p:tavLst>
                                        <p:tav tm="0">
                                          <p:val>
                                            <p:strVal val="#ppt_x"/>
                                          </p:val>
                                        </p:tav>
                                        <p:tav tm="100000">
                                          <p:val>
                                            <p:strVal val="#ppt_x"/>
                                          </p:val>
                                        </p:tav>
                                      </p:tavLst>
                                    </p:anim>
                                    <p:anim calcmode="lin" valueType="num">
                                      <p:cBhvr>
                                        <p:cTn id="24" dur="400" fill="hold"/>
                                        <p:tgtEl>
                                          <p:spTgt spid="4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400"/>
                                        <p:tgtEl>
                                          <p:spTgt spid="60"/>
                                        </p:tgtEl>
                                      </p:cBhvr>
                                    </p:animEffect>
                                    <p:anim calcmode="lin" valueType="num">
                                      <p:cBhvr>
                                        <p:cTn id="28" dur="400" fill="hold"/>
                                        <p:tgtEl>
                                          <p:spTgt spid="60"/>
                                        </p:tgtEl>
                                        <p:attrNameLst>
                                          <p:attrName>ppt_x</p:attrName>
                                        </p:attrNameLst>
                                      </p:cBhvr>
                                      <p:tavLst>
                                        <p:tav tm="0">
                                          <p:val>
                                            <p:strVal val="#ppt_x"/>
                                          </p:val>
                                        </p:tav>
                                        <p:tav tm="100000">
                                          <p:val>
                                            <p:strVal val="#ppt_x"/>
                                          </p:val>
                                        </p:tav>
                                      </p:tavLst>
                                    </p:anim>
                                    <p:anim calcmode="lin" valueType="num">
                                      <p:cBhvr>
                                        <p:cTn id="29" dur="400" fill="hold"/>
                                        <p:tgtEl>
                                          <p:spTgt spid="60"/>
                                        </p:tgtEl>
                                        <p:attrNameLst>
                                          <p:attrName>ppt_y</p:attrName>
                                        </p:attrNameLst>
                                      </p:cBhvr>
                                      <p:tavLst>
                                        <p:tav tm="0">
                                          <p:val>
                                            <p:strVal val="#ppt_y+.1"/>
                                          </p:val>
                                        </p:tav>
                                        <p:tav tm="100000">
                                          <p:val>
                                            <p:strVal val="#ppt_y"/>
                                          </p:val>
                                        </p:tav>
                                      </p:tavLst>
                                    </p:anim>
                                  </p:childTnLst>
                                </p:cTn>
                              </p:par>
                            </p:childTnLst>
                          </p:cTn>
                        </p:par>
                        <p:par>
                          <p:cTn id="30" fill="hold">
                            <p:stCondLst>
                              <p:cond delay="2000"/>
                            </p:stCondLst>
                            <p:childTnLst>
                              <p:par>
                                <p:cTn id="31" presetID="2" presetClass="entr" presetSubtype="8" decel="50000"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additive="base">
                                        <p:cTn id="33" dur="600" fill="hold"/>
                                        <p:tgtEl>
                                          <p:spTgt spid="32"/>
                                        </p:tgtEl>
                                        <p:attrNameLst>
                                          <p:attrName>ppt_x</p:attrName>
                                        </p:attrNameLst>
                                      </p:cBhvr>
                                      <p:tavLst>
                                        <p:tav tm="0">
                                          <p:val>
                                            <p:strVal val="0-#ppt_w/2"/>
                                          </p:val>
                                        </p:tav>
                                        <p:tav tm="100000">
                                          <p:val>
                                            <p:strVal val="#ppt_x"/>
                                          </p:val>
                                        </p:tav>
                                      </p:tavLst>
                                    </p:anim>
                                    <p:anim calcmode="lin" valueType="num">
                                      <p:cBhvr additive="base">
                                        <p:cTn id="34" dur="600" fill="hold"/>
                                        <p:tgtEl>
                                          <p:spTgt spid="32"/>
                                        </p:tgtEl>
                                        <p:attrNameLst>
                                          <p:attrName>ppt_y</p:attrName>
                                        </p:attrNameLst>
                                      </p:cBhvr>
                                      <p:tavLst>
                                        <p:tav tm="0">
                                          <p:val>
                                            <p:strVal val="#ppt_y"/>
                                          </p:val>
                                        </p:tav>
                                        <p:tav tm="100000">
                                          <p:val>
                                            <p:strVal val="#ppt_y"/>
                                          </p:val>
                                        </p:tav>
                                      </p:tavLst>
                                    </p:anim>
                                  </p:childTnLst>
                                </p:cTn>
                              </p:par>
                            </p:childTnLst>
                          </p:cTn>
                        </p:par>
                        <p:par>
                          <p:cTn id="35" fill="hold">
                            <p:stCondLst>
                              <p:cond delay="2600"/>
                            </p:stCondLst>
                            <p:childTnLst>
                              <p:par>
                                <p:cTn id="36" presetID="47" presetClass="entr" presetSubtype="0"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600"/>
                                        <p:tgtEl>
                                          <p:spTgt spid="38"/>
                                        </p:tgtEl>
                                      </p:cBhvr>
                                    </p:animEffect>
                                    <p:anim calcmode="lin" valueType="num">
                                      <p:cBhvr>
                                        <p:cTn id="39" dur="600" fill="hold"/>
                                        <p:tgtEl>
                                          <p:spTgt spid="38"/>
                                        </p:tgtEl>
                                        <p:attrNameLst>
                                          <p:attrName>ppt_x</p:attrName>
                                        </p:attrNameLst>
                                      </p:cBhvr>
                                      <p:tavLst>
                                        <p:tav tm="0">
                                          <p:val>
                                            <p:strVal val="#ppt_x"/>
                                          </p:val>
                                        </p:tav>
                                        <p:tav tm="100000">
                                          <p:val>
                                            <p:strVal val="#ppt_x"/>
                                          </p:val>
                                        </p:tav>
                                      </p:tavLst>
                                    </p:anim>
                                    <p:anim calcmode="lin" valueType="num">
                                      <p:cBhvr>
                                        <p:cTn id="40" dur="600" fill="hold"/>
                                        <p:tgtEl>
                                          <p:spTgt spid="38"/>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fade">
                                      <p:cBhvr>
                                        <p:cTn id="43" dur="600"/>
                                        <p:tgtEl>
                                          <p:spTgt spid="52"/>
                                        </p:tgtEl>
                                      </p:cBhvr>
                                    </p:animEffect>
                                    <p:anim calcmode="lin" valueType="num">
                                      <p:cBhvr>
                                        <p:cTn id="44" dur="600" fill="hold"/>
                                        <p:tgtEl>
                                          <p:spTgt spid="52"/>
                                        </p:tgtEl>
                                        <p:attrNameLst>
                                          <p:attrName>ppt_x</p:attrName>
                                        </p:attrNameLst>
                                      </p:cBhvr>
                                      <p:tavLst>
                                        <p:tav tm="0">
                                          <p:val>
                                            <p:strVal val="#ppt_x"/>
                                          </p:val>
                                        </p:tav>
                                        <p:tav tm="100000">
                                          <p:val>
                                            <p:strVal val="#ppt_x"/>
                                          </p:val>
                                        </p:tav>
                                      </p:tavLst>
                                    </p:anim>
                                    <p:anim calcmode="lin" valueType="num">
                                      <p:cBhvr>
                                        <p:cTn id="45" dur="600" fill="hold"/>
                                        <p:tgtEl>
                                          <p:spTgt spid="52"/>
                                        </p:tgtEl>
                                        <p:attrNameLst>
                                          <p:attrName>ppt_y</p:attrName>
                                        </p:attrNameLst>
                                      </p:cBhvr>
                                      <p:tavLst>
                                        <p:tav tm="0">
                                          <p:val>
                                            <p:strVal val="#ppt_y-.1"/>
                                          </p:val>
                                        </p:tav>
                                        <p:tav tm="100000">
                                          <p:val>
                                            <p:strVal val="#ppt_y"/>
                                          </p:val>
                                        </p:tav>
                                      </p:tavLst>
                                    </p:anim>
                                  </p:childTnLst>
                                </p:cTn>
                              </p:par>
                              <p:par>
                                <p:cTn id="46" presetID="47" presetClass="entr" presetSubtype="0" fill="hold"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600"/>
                                        <p:tgtEl>
                                          <p:spTgt spid="28"/>
                                        </p:tgtEl>
                                      </p:cBhvr>
                                    </p:animEffect>
                                    <p:anim calcmode="lin" valueType="num">
                                      <p:cBhvr>
                                        <p:cTn id="49" dur="600" fill="hold"/>
                                        <p:tgtEl>
                                          <p:spTgt spid="28"/>
                                        </p:tgtEl>
                                        <p:attrNameLst>
                                          <p:attrName>ppt_x</p:attrName>
                                        </p:attrNameLst>
                                      </p:cBhvr>
                                      <p:tavLst>
                                        <p:tav tm="0">
                                          <p:val>
                                            <p:strVal val="#ppt_x"/>
                                          </p:val>
                                        </p:tav>
                                        <p:tav tm="100000">
                                          <p:val>
                                            <p:strVal val="#ppt_x"/>
                                          </p:val>
                                        </p:tav>
                                      </p:tavLst>
                                    </p:anim>
                                    <p:anim calcmode="lin" valueType="num">
                                      <p:cBhvr>
                                        <p:cTn id="50" dur="600" fill="hold"/>
                                        <p:tgtEl>
                                          <p:spTgt spid="28"/>
                                        </p:tgtEl>
                                        <p:attrNameLst>
                                          <p:attrName>ppt_y</p:attrName>
                                        </p:attrNameLst>
                                      </p:cBhvr>
                                      <p:tavLst>
                                        <p:tav tm="0">
                                          <p:val>
                                            <p:strVal val="#ppt_y-.1"/>
                                          </p:val>
                                        </p:tav>
                                        <p:tav tm="100000">
                                          <p:val>
                                            <p:strVal val="#ppt_y"/>
                                          </p:val>
                                        </p:tav>
                                      </p:tavLst>
                                    </p:anim>
                                  </p:childTnLst>
                                </p:cTn>
                              </p:par>
                            </p:childTnLst>
                          </p:cTn>
                        </p:par>
                        <p:par>
                          <p:cTn id="51" fill="hold">
                            <p:stCondLst>
                              <p:cond delay="3200"/>
                            </p:stCondLst>
                            <p:childTnLst>
                              <p:par>
                                <p:cTn id="52" presetID="2" presetClass="entr" presetSubtype="8" decel="50000" fill="hold" grpId="0" nodeType="afterEffect">
                                  <p:stCondLst>
                                    <p:cond delay="0"/>
                                  </p:stCondLst>
                                  <p:childTnLst>
                                    <p:set>
                                      <p:cBhvr>
                                        <p:cTn id="53" dur="1" fill="hold">
                                          <p:stCondLst>
                                            <p:cond delay="0"/>
                                          </p:stCondLst>
                                        </p:cTn>
                                        <p:tgtEl>
                                          <p:spTgt spid="33"/>
                                        </p:tgtEl>
                                        <p:attrNameLst>
                                          <p:attrName>style.visibility</p:attrName>
                                        </p:attrNameLst>
                                      </p:cBhvr>
                                      <p:to>
                                        <p:strVal val="visible"/>
                                      </p:to>
                                    </p:set>
                                    <p:anim calcmode="lin" valueType="num">
                                      <p:cBhvr additive="base">
                                        <p:cTn id="54" dur="600" fill="hold"/>
                                        <p:tgtEl>
                                          <p:spTgt spid="33"/>
                                        </p:tgtEl>
                                        <p:attrNameLst>
                                          <p:attrName>ppt_x</p:attrName>
                                        </p:attrNameLst>
                                      </p:cBhvr>
                                      <p:tavLst>
                                        <p:tav tm="0">
                                          <p:val>
                                            <p:strVal val="0-#ppt_w/2"/>
                                          </p:val>
                                        </p:tav>
                                        <p:tav tm="100000">
                                          <p:val>
                                            <p:strVal val="#ppt_x"/>
                                          </p:val>
                                        </p:tav>
                                      </p:tavLst>
                                    </p:anim>
                                    <p:anim calcmode="lin" valueType="num">
                                      <p:cBhvr additive="base">
                                        <p:cTn id="55" dur="600" fill="hold"/>
                                        <p:tgtEl>
                                          <p:spTgt spid="33"/>
                                        </p:tgtEl>
                                        <p:attrNameLst>
                                          <p:attrName>ppt_y</p:attrName>
                                        </p:attrNameLst>
                                      </p:cBhvr>
                                      <p:tavLst>
                                        <p:tav tm="0">
                                          <p:val>
                                            <p:strVal val="#ppt_y"/>
                                          </p:val>
                                        </p:tav>
                                        <p:tav tm="100000">
                                          <p:val>
                                            <p:strVal val="#ppt_y"/>
                                          </p:val>
                                        </p:tav>
                                      </p:tavLst>
                                    </p:anim>
                                  </p:childTnLst>
                                </p:cTn>
                              </p:par>
                            </p:childTnLst>
                          </p:cTn>
                        </p:par>
                        <p:par>
                          <p:cTn id="56" fill="hold">
                            <p:stCondLst>
                              <p:cond delay="3800"/>
                            </p:stCondLst>
                            <p:childTnLst>
                              <p:par>
                                <p:cTn id="57" presetID="2" presetClass="entr" presetSubtype="8" fill="hold" grpId="0" nodeType="afterEffect">
                                  <p:stCondLst>
                                    <p:cond delay="0"/>
                                  </p:stCondLst>
                                  <p:childTnLst>
                                    <p:set>
                                      <p:cBhvr>
                                        <p:cTn id="58" dur="1" fill="hold">
                                          <p:stCondLst>
                                            <p:cond delay="0"/>
                                          </p:stCondLst>
                                        </p:cTn>
                                        <p:tgtEl>
                                          <p:spTgt spid="48"/>
                                        </p:tgtEl>
                                        <p:attrNameLst>
                                          <p:attrName>style.visibility</p:attrName>
                                        </p:attrNameLst>
                                      </p:cBhvr>
                                      <p:to>
                                        <p:strVal val="visible"/>
                                      </p:to>
                                    </p:set>
                                    <p:anim calcmode="lin" valueType="num">
                                      <p:cBhvr additive="base">
                                        <p:cTn id="59" dur="600" fill="hold"/>
                                        <p:tgtEl>
                                          <p:spTgt spid="48"/>
                                        </p:tgtEl>
                                        <p:attrNameLst>
                                          <p:attrName>ppt_x</p:attrName>
                                        </p:attrNameLst>
                                      </p:cBhvr>
                                      <p:tavLst>
                                        <p:tav tm="0">
                                          <p:val>
                                            <p:strVal val="0-#ppt_w/2"/>
                                          </p:val>
                                        </p:tav>
                                        <p:tav tm="100000">
                                          <p:val>
                                            <p:strVal val="#ppt_x"/>
                                          </p:val>
                                        </p:tav>
                                      </p:tavLst>
                                    </p:anim>
                                    <p:anim calcmode="lin" valueType="num">
                                      <p:cBhvr additive="base">
                                        <p:cTn id="60" dur="600" fill="hold"/>
                                        <p:tgtEl>
                                          <p:spTgt spid="48"/>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anim calcmode="lin" valueType="num">
                                      <p:cBhvr additive="base">
                                        <p:cTn id="63" dur="600" fill="hold"/>
                                        <p:tgtEl>
                                          <p:spTgt spid="49"/>
                                        </p:tgtEl>
                                        <p:attrNameLst>
                                          <p:attrName>ppt_x</p:attrName>
                                        </p:attrNameLst>
                                      </p:cBhvr>
                                      <p:tavLst>
                                        <p:tav tm="0">
                                          <p:val>
                                            <p:strVal val="0-#ppt_w/2"/>
                                          </p:val>
                                        </p:tav>
                                        <p:tav tm="100000">
                                          <p:val>
                                            <p:strVal val="#ppt_x"/>
                                          </p:val>
                                        </p:tav>
                                      </p:tavLst>
                                    </p:anim>
                                    <p:anim calcmode="lin" valueType="num">
                                      <p:cBhvr additive="base">
                                        <p:cTn id="64" dur="600" fill="hold"/>
                                        <p:tgtEl>
                                          <p:spTgt spid="49"/>
                                        </p:tgtEl>
                                        <p:attrNameLst>
                                          <p:attrName>ppt_y</p:attrName>
                                        </p:attrNameLst>
                                      </p:cBhvr>
                                      <p:tavLst>
                                        <p:tav tm="0">
                                          <p:val>
                                            <p:strVal val="#ppt_y"/>
                                          </p:val>
                                        </p:tav>
                                        <p:tav tm="100000">
                                          <p:val>
                                            <p:strVal val="#ppt_y"/>
                                          </p:val>
                                        </p:tav>
                                      </p:tavLst>
                                    </p:anim>
                                  </p:childTnLst>
                                </p:cTn>
                              </p:par>
                            </p:childTnLst>
                          </p:cTn>
                        </p:par>
                        <p:par>
                          <p:cTn id="65" fill="hold">
                            <p:stCondLst>
                              <p:cond delay="4400"/>
                            </p:stCondLst>
                            <p:childTnLst>
                              <p:par>
                                <p:cTn id="66" presetID="42" presetClass="entr" presetSubtype="0" fill="hold" nodeType="after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600"/>
                                        <p:tgtEl>
                                          <p:spTgt spid="42"/>
                                        </p:tgtEl>
                                      </p:cBhvr>
                                    </p:animEffect>
                                    <p:anim calcmode="lin" valueType="num">
                                      <p:cBhvr>
                                        <p:cTn id="69" dur="600" fill="hold"/>
                                        <p:tgtEl>
                                          <p:spTgt spid="42"/>
                                        </p:tgtEl>
                                        <p:attrNameLst>
                                          <p:attrName>ppt_x</p:attrName>
                                        </p:attrNameLst>
                                      </p:cBhvr>
                                      <p:tavLst>
                                        <p:tav tm="0">
                                          <p:val>
                                            <p:strVal val="#ppt_x"/>
                                          </p:val>
                                        </p:tav>
                                        <p:tav tm="100000">
                                          <p:val>
                                            <p:strVal val="#ppt_x"/>
                                          </p:val>
                                        </p:tav>
                                      </p:tavLst>
                                    </p:anim>
                                    <p:anim calcmode="lin" valueType="num">
                                      <p:cBhvr>
                                        <p:cTn id="70" dur="600" fill="hold"/>
                                        <p:tgtEl>
                                          <p:spTgt spid="42"/>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fade">
                                      <p:cBhvr>
                                        <p:cTn id="73" dur="600"/>
                                        <p:tgtEl>
                                          <p:spTgt spid="50"/>
                                        </p:tgtEl>
                                      </p:cBhvr>
                                    </p:animEffect>
                                    <p:anim calcmode="lin" valueType="num">
                                      <p:cBhvr>
                                        <p:cTn id="74" dur="600" fill="hold"/>
                                        <p:tgtEl>
                                          <p:spTgt spid="50"/>
                                        </p:tgtEl>
                                        <p:attrNameLst>
                                          <p:attrName>ppt_x</p:attrName>
                                        </p:attrNameLst>
                                      </p:cBhvr>
                                      <p:tavLst>
                                        <p:tav tm="0">
                                          <p:val>
                                            <p:strVal val="#ppt_x"/>
                                          </p:val>
                                        </p:tav>
                                        <p:tav tm="100000">
                                          <p:val>
                                            <p:strVal val="#ppt_x"/>
                                          </p:val>
                                        </p:tav>
                                      </p:tavLst>
                                    </p:anim>
                                    <p:anim calcmode="lin" valueType="num">
                                      <p:cBhvr>
                                        <p:cTn id="75" dur="600" fill="hold"/>
                                        <p:tgtEl>
                                          <p:spTgt spid="50"/>
                                        </p:tgtEl>
                                        <p:attrNameLst>
                                          <p:attrName>ppt_y</p:attrName>
                                        </p:attrNameLst>
                                      </p:cBhvr>
                                      <p:tavLst>
                                        <p:tav tm="0">
                                          <p:val>
                                            <p:strVal val="#ppt_y+.1"/>
                                          </p:val>
                                        </p:tav>
                                        <p:tav tm="100000">
                                          <p:val>
                                            <p:strVal val="#ppt_y"/>
                                          </p:val>
                                        </p:tav>
                                      </p:tavLst>
                                    </p:anim>
                                  </p:childTnLst>
                                </p:cTn>
                              </p:par>
                            </p:childTnLst>
                          </p:cTn>
                        </p:par>
                        <p:par>
                          <p:cTn id="76" fill="hold">
                            <p:stCondLst>
                              <p:cond delay="5000"/>
                            </p:stCondLst>
                            <p:childTnLst>
                              <p:par>
                                <p:cTn id="77" presetID="2" presetClass="entr" presetSubtype="8" decel="50000" fill="hold" grpId="0" nodeType="afterEffect">
                                  <p:stCondLst>
                                    <p:cond delay="0"/>
                                  </p:stCondLst>
                                  <p:childTnLst>
                                    <p:set>
                                      <p:cBhvr>
                                        <p:cTn id="78" dur="1" fill="hold">
                                          <p:stCondLst>
                                            <p:cond delay="0"/>
                                          </p:stCondLst>
                                        </p:cTn>
                                        <p:tgtEl>
                                          <p:spTgt spid="34"/>
                                        </p:tgtEl>
                                        <p:attrNameLst>
                                          <p:attrName>style.visibility</p:attrName>
                                        </p:attrNameLst>
                                      </p:cBhvr>
                                      <p:to>
                                        <p:strVal val="visible"/>
                                      </p:to>
                                    </p:set>
                                    <p:anim calcmode="lin" valueType="num">
                                      <p:cBhvr additive="base">
                                        <p:cTn id="79" dur="600" fill="hold"/>
                                        <p:tgtEl>
                                          <p:spTgt spid="34"/>
                                        </p:tgtEl>
                                        <p:attrNameLst>
                                          <p:attrName>ppt_x</p:attrName>
                                        </p:attrNameLst>
                                      </p:cBhvr>
                                      <p:tavLst>
                                        <p:tav tm="0">
                                          <p:val>
                                            <p:strVal val="0-#ppt_w/2"/>
                                          </p:val>
                                        </p:tav>
                                        <p:tav tm="100000">
                                          <p:val>
                                            <p:strVal val="#ppt_x"/>
                                          </p:val>
                                        </p:tav>
                                      </p:tavLst>
                                    </p:anim>
                                    <p:anim calcmode="lin" valueType="num">
                                      <p:cBhvr additive="base">
                                        <p:cTn id="80" dur="600" fill="hold"/>
                                        <p:tgtEl>
                                          <p:spTgt spid="34"/>
                                        </p:tgtEl>
                                        <p:attrNameLst>
                                          <p:attrName>ppt_y</p:attrName>
                                        </p:attrNameLst>
                                      </p:cBhvr>
                                      <p:tavLst>
                                        <p:tav tm="0">
                                          <p:val>
                                            <p:strVal val="#ppt_y"/>
                                          </p:val>
                                        </p:tav>
                                        <p:tav tm="100000">
                                          <p:val>
                                            <p:strVal val="#ppt_y"/>
                                          </p:val>
                                        </p:tav>
                                      </p:tavLst>
                                    </p:anim>
                                  </p:childTnLst>
                                </p:cTn>
                              </p:par>
                            </p:childTnLst>
                          </p:cTn>
                        </p:par>
                        <p:par>
                          <p:cTn id="81" fill="hold">
                            <p:stCondLst>
                              <p:cond delay="5600"/>
                            </p:stCondLst>
                            <p:childTnLst>
                              <p:par>
                                <p:cTn id="82" presetID="47" presetClass="entr" presetSubtype="0" fill="hold" nodeType="after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600"/>
                                        <p:tgtEl>
                                          <p:spTgt spid="39"/>
                                        </p:tgtEl>
                                      </p:cBhvr>
                                    </p:animEffect>
                                    <p:anim calcmode="lin" valueType="num">
                                      <p:cBhvr>
                                        <p:cTn id="85" dur="600" fill="hold"/>
                                        <p:tgtEl>
                                          <p:spTgt spid="39"/>
                                        </p:tgtEl>
                                        <p:attrNameLst>
                                          <p:attrName>ppt_x</p:attrName>
                                        </p:attrNameLst>
                                      </p:cBhvr>
                                      <p:tavLst>
                                        <p:tav tm="0">
                                          <p:val>
                                            <p:strVal val="#ppt_x"/>
                                          </p:val>
                                        </p:tav>
                                        <p:tav tm="100000">
                                          <p:val>
                                            <p:strVal val="#ppt_x"/>
                                          </p:val>
                                        </p:tav>
                                      </p:tavLst>
                                    </p:anim>
                                    <p:anim calcmode="lin" valueType="num">
                                      <p:cBhvr>
                                        <p:cTn id="86" dur="600" fill="hold"/>
                                        <p:tgtEl>
                                          <p:spTgt spid="39"/>
                                        </p:tgtEl>
                                        <p:attrNameLst>
                                          <p:attrName>ppt_y</p:attrName>
                                        </p:attrNameLst>
                                      </p:cBhvr>
                                      <p:tavLst>
                                        <p:tav tm="0">
                                          <p:val>
                                            <p:strVal val="#ppt_y-.1"/>
                                          </p:val>
                                        </p:tav>
                                        <p:tav tm="100000">
                                          <p:val>
                                            <p:strVal val="#ppt_y"/>
                                          </p:val>
                                        </p:tav>
                                      </p:tavLst>
                                    </p:anim>
                                  </p:childTnLst>
                                </p:cTn>
                              </p:par>
                              <p:par>
                                <p:cTn id="87" presetID="47" presetClass="entr" presetSubtype="0" fill="hold" nodeType="withEffect">
                                  <p:stCondLst>
                                    <p:cond delay="0"/>
                                  </p:stCondLst>
                                  <p:childTnLst>
                                    <p:set>
                                      <p:cBhvr>
                                        <p:cTn id="88" dur="1" fill="hold">
                                          <p:stCondLst>
                                            <p:cond delay="0"/>
                                          </p:stCondLst>
                                        </p:cTn>
                                        <p:tgtEl>
                                          <p:spTgt spid="3"/>
                                        </p:tgtEl>
                                        <p:attrNameLst>
                                          <p:attrName>style.visibility</p:attrName>
                                        </p:attrNameLst>
                                      </p:cBhvr>
                                      <p:to>
                                        <p:strVal val="visible"/>
                                      </p:to>
                                    </p:set>
                                    <p:animEffect transition="in" filter="fade">
                                      <p:cBhvr>
                                        <p:cTn id="89" dur="600"/>
                                        <p:tgtEl>
                                          <p:spTgt spid="3"/>
                                        </p:tgtEl>
                                      </p:cBhvr>
                                    </p:animEffect>
                                    <p:anim calcmode="lin" valueType="num">
                                      <p:cBhvr>
                                        <p:cTn id="90" dur="600" fill="hold"/>
                                        <p:tgtEl>
                                          <p:spTgt spid="3"/>
                                        </p:tgtEl>
                                        <p:attrNameLst>
                                          <p:attrName>ppt_x</p:attrName>
                                        </p:attrNameLst>
                                      </p:cBhvr>
                                      <p:tavLst>
                                        <p:tav tm="0">
                                          <p:val>
                                            <p:strVal val="#ppt_x"/>
                                          </p:val>
                                        </p:tav>
                                        <p:tav tm="100000">
                                          <p:val>
                                            <p:strVal val="#ppt_x"/>
                                          </p:val>
                                        </p:tav>
                                      </p:tavLst>
                                    </p:anim>
                                    <p:anim calcmode="lin" valueType="num">
                                      <p:cBhvr>
                                        <p:cTn id="91" dur="6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p:bldP spid="38" grpId="0" animBg="1"/>
      <p:bldP spid="48" grpId="0" animBg="1"/>
      <p:bldP spid="49" grpId="0" animBg="1"/>
      <p:bldP spid="5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Data Market Model</a:t>
            </a:r>
            <a:endParaRPr lang="en-US" sz="3400" dirty="0"/>
          </a:p>
        </p:txBody>
      </p:sp>
      <p:pic>
        <p:nvPicPr>
          <p:cNvPr id="83" name="图片 82"/>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000" y="1255874"/>
            <a:ext cx="8280000" cy="2155409"/>
          </a:xfrm>
          <a:prstGeom prst="rect">
            <a:avLst/>
          </a:prstGeom>
        </p:spPr>
      </p:pic>
      <p:sp>
        <p:nvSpPr>
          <p:cNvPr id="36" name="Rounded Rectangle 90"/>
          <p:cNvSpPr/>
          <p:nvPr/>
        </p:nvSpPr>
        <p:spPr>
          <a:xfrm>
            <a:off x="230663" y="4006918"/>
            <a:ext cx="8913338" cy="230230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000"/>
              </a:spcAft>
            </a:pPr>
            <a:r>
              <a:rPr lang="en-US" sz="2800" dirty="0" smtClean="0">
                <a:solidFill>
                  <a:schemeClr val="tx1"/>
                </a:solidFill>
              </a:rPr>
              <a:t>Why trade </a:t>
            </a:r>
            <a:r>
              <a:rPr lang="en-US" sz="2800" b="1" dirty="0" smtClean="0">
                <a:solidFill>
                  <a:schemeClr val="tx1"/>
                </a:solidFill>
              </a:rPr>
              <a:t>data services</a:t>
            </a:r>
            <a:r>
              <a:rPr lang="en-US" sz="2800" dirty="0" smtClean="0">
                <a:solidFill>
                  <a:schemeClr val="tx1"/>
                </a:solidFill>
              </a:rPr>
              <a:t> rather than raw data?</a:t>
            </a:r>
          </a:p>
          <a:p>
            <a:pPr marL="342900" indent="-342900">
              <a:spcAft>
                <a:spcPts val="600"/>
              </a:spcAft>
              <a:buSzPct val="90000"/>
              <a:buFont typeface="Wingdings" panose="05000000000000000000" pitchFamily="2" charset="2"/>
              <a:buChar char="l"/>
            </a:pPr>
            <a:r>
              <a:rPr lang="en-US" sz="2000" dirty="0" smtClean="0">
                <a:solidFill>
                  <a:schemeClr val="tx1"/>
                </a:solidFill>
              </a:rPr>
              <a:t>For data contributors: </a:t>
            </a:r>
            <a:r>
              <a:rPr lang="en-US" sz="2000" dirty="0" smtClean="0">
                <a:solidFill>
                  <a:srgbClr val="FF0000"/>
                </a:solidFill>
              </a:rPr>
              <a:t>privacy concerns </a:t>
            </a:r>
            <a:r>
              <a:rPr lang="en-US" sz="2000" dirty="0" smtClean="0">
                <a:solidFill>
                  <a:schemeClr val="tx1"/>
                </a:solidFill>
              </a:rPr>
              <a:t>(2016 US </a:t>
            </a:r>
            <a:r>
              <a:rPr lang="en-US" sz="2000" dirty="0" err="1" smtClean="0">
                <a:solidFill>
                  <a:schemeClr val="tx1"/>
                </a:solidFill>
              </a:rPr>
              <a:t>TRUSTe</a:t>
            </a:r>
            <a:r>
              <a:rPr lang="en-US" sz="2000" dirty="0" smtClean="0">
                <a:solidFill>
                  <a:schemeClr val="tx1"/>
                </a:solidFill>
              </a:rPr>
              <a:t>/NCSA Privacy Survey)</a:t>
            </a:r>
          </a:p>
          <a:p>
            <a:pPr marL="342900" indent="-342900">
              <a:spcAft>
                <a:spcPts val="600"/>
              </a:spcAft>
              <a:buSzPct val="90000"/>
              <a:buFont typeface="Wingdings" panose="05000000000000000000" pitchFamily="2" charset="2"/>
              <a:buChar char="l"/>
            </a:pPr>
            <a:r>
              <a:rPr lang="en-US" sz="2000" dirty="0" smtClean="0">
                <a:solidFill>
                  <a:schemeClr val="tx1"/>
                </a:solidFill>
              </a:rPr>
              <a:t>For service provider: </a:t>
            </a:r>
            <a:r>
              <a:rPr lang="en-US" sz="2000" dirty="0" smtClean="0">
                <a:solidFill>
                  <a:srgbClr val="FF0000"/>
                </a:solidFill>
              </a:rPr>
              <a:t>value-added</a:t>
            </a:r>
            <a:r>
              <a:rPr lang="en-US" sz="2000" dirty="0" smtClean="0">
                <a:solidFill>
                  <a:schemeClr val="tx1"/>
                </a:solidFill>
              </a:rPr>
              <a:t> </a:t>
            </a:r>
            <a:r>
              <a:rPr lang="en-US" sz="2000" dirty="0">
                <a:solidFill>
                  <a:schemeClr val="tx1"/>
                </a:solidFill>
              </a:rPr>
              <a:t>data services (</a:t>
            </a:r>
            <a:r>
              <a:rPr lang="en-US" sz="2000" dirty="0" err="1">
                <a:solidFill>
                  <a:schemeClr val="tx1"/>
                </a:solidFill>
              </a:rPr>
              <a:t>Balazinska</a:t>
            </a:r>
            <a:r>
              <a:rPr lang="en-US" sz="2000" dirty="0">
                <a:solidFill>
                  <a:schemeClr val="tx1"/>
                </a:solidFill>
              </a:rPr>
              <a:t> </a:t>
            </a:r>
            <a:r>
              <a:rPr lang="en-US" sz="2000" dirty="0" smtClean="0">
                <a:solidFill>
                  <a:schemeClr val="tx1"/>
                </a:solidFill>
              </a:rPr>
              <a:t>et al. VLDB’11)</a:t>
            </a:r>
          </a:p>
          <a:p>
            <a:pPr marL="342900" indent="-342900">
              <a:spcAft>
                <a:spcPts val="600"/>
              </a:spcAft>
              <a:buSzPct val="90000"/>
              <a:buFont typeface="Wingdings" panose="05000000000000000000" pitchFamily="2" charset="2"/>
              <a:buChar char="l"/>
            </a:pPr>
            <a:r>
              <a:rPr lang="en-US" sz="2000" dirty="0" smtClean="0">
                <a:solidFill>
                  <a:schemeClr val="tx1"/>
                </a:solidFill>
              </a:rPr>
              <a:t>For data consumers: accountable problems, e.g., </a:t>
            </a:r>
            <a:r>
              <a:rPr lang="en-US" sz="2000" dirty="0" smtClean="0">
                <a:solidFill>
                  <a:srgbClr val="FF0000"/>
                </a:solidFill>
              </a:rPr>
              <a:t>data copyright </a:t>
            </a:r>
            <a:r>
              <a:rPr lang="en-US" sz="2000" dirty="0">
                <a:solidFill>
                  <a:srgbClr val="FF0000"/>
                </a:solidFill>
              </a:rPr>
              <a:t>infringement </a:t>
            </a:r>
            <a:r>
              <a:rPr lang="en-US" sz="2000" dirty="0">
                <a:solidFill>
                  <a:schemeClr val="tx1"/>
                </a:solidFill>
              </a:rPr>
              <a:t>(</a:t>
            </a:r>
            <a:r>
              <a:rPr lang="en-US" sz="2000" dirty="0" err="1">
                <a:solidFill>
                  <a:schemeClr val="tx1"/>
                </a:solidFill>
              </a:rPr>
              <a:t>Upadhyaya</a:t>
            </a:r>
            <a:r>
              <a:rPr lang="en-US" sz="2000" dirty="0">
                <a:solidFill>
                  <a:schemeClr val="tx1"/>
                </a:solidFill>
              </a:rPr>
              <a:t> et al. </a:t>
            </a:r>
            <a:r>
              <a:rPr lang="en-US" sz="2000" dirty="0" smtClean="0">
                <a:solidFill>
                  <a:schemeClr val="tx1"/>
                </a:solidFill>
              </a:rPr>
              <a:t>SIGMOD’15) and </a:t>
            </a:r>
            <a:r>
              <a:rPr lang="en-US" sz="2000" dirty="0">
                <a:solidFill>
                  <a:srgbClr val="FF0000"/>
                </a:solidFill>
              </a:rPr>
              <a:t>datasets resale </a:t>
            </a:r>
            <a:r>
              <a:rPr lang="en-US" sz="2000" dirty="0">
                <a:solidFill>
                  <a:schemeClr val="tx1"/>
                </a:solidFill>
              </a:rPr>
              <a:t>(</a:t>
            </a:r>
            <a:r>
              <a:rPr lang="en-US" sz="2000" dirty="0" smtClean="0">
                <a:solidFill>
                  <a:schemeClr val="tx1"/>
                </a:solidFill>
              </a:rPr>
              <a:t>Jung et al. INFOCOM’17)</a:t>
            </a:r>
          </a:p>
        </p:txBody>
      </p:sp>
      <p:sp>
        <p:nvSpPr>
          <p:cNvPr id="15" name="Rectangle 71"/>
          <p:cNvSpPr/>
          <p:nvPr/>
        </p:nvSpPr>
        <p:spPr>
          <a:xfrm>
            <a:off x="2529172" y="3567404"/>
            <a:ext cx="4085655" cy="369332"/>
          </a:xfrm>
          <a:prstGeom prst="rect">
            <a:avLst/>
          </a:prstGeom>
          <a:noFill/>
        </p:spPr>
        <p:txBody>
          <a:bodyPr wrap="square">
            <a:spAutoFit/>
          </a:bodyPr>
          <a:lstStyle/>
          <a:p>
            <a:pPr algn="ctr"/>
            <a:r>
              <a:rPr lang="en-US" b="1" dirty="0">
                <a:solidFill>
                  <a:schemeClr val="accent2">
                    <a:lumMod val="75000"/>
                  </a:schemeClr>
                </a:solidFill>
                <a:latin typeface="+mj-lt"/>
              </a:rPr>
              <a:t>Figure 1. System Architecture of </a:t>
            </a:r>
            <a:r>
              <a:rPr lang="en-US" b="1" dirty="0" err="1">
                <a:solidFill>
                  <a:schemeClr val="accent2">
                    <a:lumMod val="75000"/>
                  </a:schemeClr>
                </a:solidFill>
                <a:latin typeface="+mj-lt"/>
              </a:rPr>
              <a:t>DataSift</a:t>
            </a:r>
            <a:endParaRPr lang="en-US" b="1" dirty="0">
              <a:solidFill>
                <a:schemeClr val="accent2">
                  <a:lumMod val="75000"/>
                </a:schemeClr>
              </a:solidFill>
              <a:latin typeface="+mj-lt"/>
            </a:endParaRPr>
          </a:p>
        </p:txBody>
      </p:sp>
      <p:sp>
        <p:nvSpPr>
          <p:cNvPr id="8"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02</a:t>
            </a:r>
            <a:endParaRPr lang="en-US" sz="1100" dirty="0">
              <a:solidFill>
                <a:schemeClr val="bg1"/>
              </a:solidFill>
            </a:endParaRPr>
          </a:p>
        </p:txBody>
      </p:sp>
    </p:spTree>
    <p:extLst>
      <p:ext uri="{BB962C8B-B14F-4D97-AF65-F5344CB8AC3E}">
        <p14:creationId xmlns:p14="http://schemas.microsoft.com/office/powerpoint/2010/main" val="687553312"/>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3950534" y="1309611"/>
            <a:ext cx="4763234" cy="1908000"/>
            <a:chOff x="4045784" y="1309611"/>
            <a:chExt cx="4763234" cy="1908000"/>
          </a:xfrm>
        </p:grpSpPr>
        <p:pic>
          <p:nvPicPr>
            <p:cNvPr id="29" name="图片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5784" y="1309612"/>
              <a:ext cx="3336333" cy="1907999"/>
            </a:xfrm>
            <a:prstGeom prst="rect">
              <a:avLst/>
            </a:prstGeom>
          </p:spPr>
        </p:pic>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17768" y="1309611"/>
              <a:ext cx="1391250" cy="1907998"/>
            </a:xfrm>
            <a:prstGeom prst="rect">
              <a:avLst/>
            </a:prstGeom>
          </p:spPr>
        </p:pic>
      </p:grpSp>
      <p:pic>
        <p:nvPicPr>
          <p:cNvPr id="20" name="图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62523" y="4019113"/>
            <a:ext cx="2207293" cy="1908000"/>
          </a:xfrm>
          <a:prstGeom prst="rect">
            <a:avLst/>
          </a:prstGeom>
        </p:spPr>
      </p:pic>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6750" y="4000334"/>
            <a:ext cx="3325774" cy="1908000"/>
          </a:xfrm>
          <a:prstGeom prst="rect">
            <a:avLst/>
          </a:prstGeom>
        </p:spPr>
      </p:pic>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Two Security Issues</a:t>
            </a:r>
            <a:endParaRPr lang="en-US" sz="3400" dirty="0"/>
          </a:p>
        </p:txBody>
      </p:sp>
      <p:pic>
        <p:nvPicPr>
          <p:cNvPr id="83" name="图片 82"/>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8" name="Rounded Rectangle 90"/>
          <p:cNvSpPr/>
          <p:nvPr/>
        </p:nvSpPr>
        <p:spPr>
          <a:xfrm>
            <a:off x="327225" y="1309611"/>
            <a:ext cx="3587658" cy="190799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200"/>
              </a:spcAft>
            </a:pPr>
            <a:r>
              <a:rPr lang="en-US" sz="2800" dirty="0" smtClean="0">
                <a:solidFill>
                  <a:schemeClr val="tx1"/>
                </a:solidFill>
              </a:rPr>
              <a:t>Privacy Preservation</a:t>
            </a:r>
          </a:p>
          <a:p>
            <a:pPr marL="342900" indent="-342900">
              <a:spcAft>
                <a:spcPts val="800"/>
              </a:spcAft>
              <a:buSzPct val="90000"/>
              <a:buFont typeface="Wingdings" panose="05000000000000000000" pitchFamily="2" charset="2"/>
              <a:buChar char="l"/>
            </a:pPr>
            <a:r>
              <a:rPr lang="en-US" sz="2000" dirty="0" smtClean="0">
                <a:solidFill>
                  <a:schemeClr val="tx1"/>
                </a:solidFill>
              </a:rPr>
              <a:t>Identity Preservation</a:t>
            </a:r>
          </a:p>
          <a:p>
            <a:pPr marL="342900" indent="-342900">
              <a:buSzPct val="90000"/>
              <a:buFont typeface="Wingdings" panose="05000000000000000000" pitchFamily="2" charset="2"/>
              <a:buChar char="l"/>
            </a:pPr>
            <a:r>
              <a:rPr lang="en-US" sz="2000" dirty="0" smtClean="0">
                <a:solidFill>
                  <a:schemeClr val="tx1"/>
                </a:solidFill>
              </a:rPr>
              <a:t>Data Confidentiality</a:t>
            </a:r>
          </a:p>
        </p:txBody>
      </p:sp>
      <p:sp>
        <p:nvSpPr>
          <p:cNvPr id="9" name="Rounded Rectangle 90"/>
          <p:cNvSpPr/>
          <p:nvPr/>
        </p:nvSpPr>
        <p:spPr>
          <a:xfrm>
            <a:off x="4943734" y="3956568"/>
            <a:ext cx="4127155" cy="124717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200"/>
              </a:spcAft>
            </a:pPr>
            <a:r>
              <a:rPr lang="en-US" sz="2800" dirty="0" smtClean="0">
                <a:solidFill>
                  <a:schemeClr val="tx1"/>
                </a:solidFill>
              </a:rPr>
              <a:t>Data Truthfulness</a:t>
            </a:r>
          </a:p>
          <a:p>
            <a:pPr marL="342900" indent="-342900">
              <a:spcAft>
                <a:spcPts val="800"/>
              </a:spcAft>
              <a:buSzPct val="90000"/>
              <a:buFont typeface="Wingdings" panose="05000000000000000000" pitchFamily="2" charset="2"/>
              <a:buChar char="l"/>
            </a:pPr>
            <a:r>
              <a:rPr lang="en-US" sz="2000" dirty="0" smtClean="0">
                <a:solidFill>
                  <a:schemeClr val="tx1"/>
                </a:solidFill>
              </a:rPr>
              <a:t>Partial Data Collection Attack</a:t>
            </a:r>
          </a:p>
          <a:p>
            <a:pPr marL="342900" indent="-342900">
              <a:buSzPct val="90000"/>
              <a:buFont typeface="Wingdings" panose="05000000000000000000" pitchFamily="2" charset="2"/>
              <a:buChar char="l"/>
            </a:pPr>
            <a:r>
              <a:rPr lang="en-US" sz="2000" dirty="0" smtClean="0">
                <a:solidFill>
                  <a:schemeClr val="tx1"/>
                </a:solidFill>
              </a:rPr>
              <a:t>No/Partial Data Processing Attack</a:t>
            </a:r>
          </a:p>
        </p:txBody>
      </p:sp>
      <p:sp>
        <p:nvSpPr>
          <p:cNvPr id="13"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03</a:t>
            </a:r>
            <a:endParaRPr lang="en-US" sz="1100" dirty="0">
              <a:solidFill>
                <a:schemeClr val="bg1"/>
              </a:solidFill>
            </a:endParaRPr>
          </a:p>
        </p:txBody>
      </p:sp>
    </p:spTree>
    <p:extLst>
      <p:ext uri="{BB962C8B-B14F-4D97-AF65-F5344CB8AC3E}">
        <p14:creationId xmlns:p14="http://schemas.microsoft.com/office/powerpoint/2010/main" val="3070607104"/>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275" y="1282498"/>
            <a:ext cx="2880000" cy="2333431"/>
          </a:xfrm>
          <a:prstGeom prst="rect">
            <a:avLst/>
          </a:prstGeom>
        </p:spPr>
      </p:pic>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Design Challenges</a:t>
            </a:r>
            <a:endParaRPr lang="en-US" sz="3400" dirty="0"/>
          </a:p>
        </p:txBody>
      </p:sp>
      <p:pic>
        <p:nvPicPr>
          <p:cNvPr id="83" name="图片 82"/>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8" name="Rounded Rectangle 90"/>
          <p:cNvSpPr/>
          <p:nvPr/>
        </p:nvSpPr>
        <p:spPr>
          <a:xfrm>
            <a:off x="3228453" y="1192211"/>
            <a:ext cx="5877447" cy="26657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000"/>
              </a:spcAft>
            </a:pPr>
            <a:r>
              <a:rPr lang="en-US" sz="2800" dirty="0" smtClean="0">
                <a:solidFill>
                  <a:schemeClr val="tx1"/>
                </a:solidFill>
              </a:rPr>
              <a:t>Truthfulness of Data Collection</a:t>
            </a:r>
          </a:p>
          <a:p>
            <a:pPr marL="342900" indent="-342900">
              <a:spcAft>
                <a:spcPts val="600"/>
              </a:spcAft>
              <a:buSzPct val="90000"/>
              <a:buFont typeface="Wingdings" panose="05000000000000000000" pitchFamily="2" charset="2"/>
              <a:buChar char="l"/>
            </a:pPr>
            <a:r>
              <a:rPr lang="en-US" sz="2000" dirty="0" smtClean="0">
                <a:solidFill>
                  <a:schemeClr val="tx1"/>
                </a:solidFill>
              </a:rPr>
              <a:t>Privacy preservation</a:t>
            </a:r>
          </a:p>
          <a:p>
            <a:pPr marL="800100" lvl="1" indent="-342900">
              <a:spcAft>
                <a:spcPts val="600"/>
              </a:spcAft>
              <a:buSzPct val="90000"/>
              <a:buFont typeface="Wingdings" panose="05000000000000000000" pitchFamily="2" charset="2"/>
              <a:buChar char="l"/>
            </a:pPr>
            <a:r>
              <a:rPr lang="en-US" dirty="0" smtClean="0">
                <a:solidFill>
                  <a:schemeClr val="tx1"/>
                </a:solidFill>
              </a:rPr>
              <a:t>Digital signature (</a:t>
            </a:r>
            <a:r>
              <a:rPr lang="en-US" dirty="0" smtClean="0">
                <a:solidFill>
                  <a:srgbClr val="FF0000"/>
                </a:solidFill>
              </a:rPr>
              <a:t>non-repudiation</a:t>
            </a:r>
            <a:r>
              <a:rPr lang="en-US" dirty="0" smtClean="0">
                <a:solidFill>
                  <a:schemeClr val="tx1"/>
                </a:solidFill>
              </a:rPr>
              <a:t>)?</a:t>
            </a:r>
          </a:p>
          <a:p>
            <a:pPr marL="800100" lvl="1" indent="-342900">
              <a:spcAft>
                <a:spcPts val="600"/>
              </a:spcAft>
              <a:buSzPct val="90000"/>
              <a:buFont typeface="Wingdings" panose="05000000000000000000" pitchFamily="2" charset="2"/>
              <a:buChar char="l"/>
            </a:pPr>
            <a:r>
              <a:rPr lang="en-US" dirty="0" smtClean="0">
                <a:solidFill>
                  <a:schemeClr val="tx1"/>
                </a:solidFill>
              </a:rPr>
              <a:t>Message authentication code? </a:t>
            </a:r>
            <a:r>
              <a:rPr lang="en-US" dirty="0" smtClean="0">
                <a:solidFill>
                  <a:srgbClr val="FF0000"/>
                </a:solidFill>
              </a:rPr>
              <a:t>secret key sharing</a:t>
            </a:r>
          </a:p>
          <a:p>
            <a:pPr marL="342900" indent="-342900">
              <a:spcAft>
                <a:spcPts val="600"/>
              </a:spcAft>
              <a:buSzPct val="90000"/>
              <a:buFont typeface="Wingdings" panose="05000000000000000000" pitchFamily="2" charset="2"/>
              <a:buChar char="l"/>
            </a:pPr>
            <a:r>
              <a:rPr lang="en-US" sz="2000" dirty="0" smtClean="0">
                <a:solidFill>
                  <a:schemeClr val="tx1"/>
                </a:solidFill>
              </a:rPr>
              <a:t>Data processing</a:t>
            </a:r>
          </a:p>
          <a:p>
            <a:pPr marL="800100" lvl="1" indent="-342900">
              <a:spcAft>
                <a:spcPts val="600"/>
              </a:spcAft>
              <a:buSzPct val="90000"/>
              <a:buFont typeface="Wingdings" panose="05000000000000000000" pitchFamily="2" charset="2"/>
              <a:buChar char="l"/>
            </a:pPr>
            <a:r>
              <a:rPr lang="en-US" dirty="0">
                <a:solidFill>
                  <a:schemeClr val="tx1"/>
                </a:solidFill>
              </a:rPr>
              <a:t>Semantic inconsistency (Fung et al. 2010)</a:t>
            </a:r>
            <a:endParaRPr lang="en-US" dirty="0" smtClean="0">
              <a:solidFill>
                <a:schemeClr val="tx1"/>
              </a:solidFill>
            </a:endParaRPr>
          </a:p>
          <a:p>
            <a:pPr marL="800100" lvl="1" indent="-342900">
              <a:buClr>
                <a:schemeClr val="tx1"/>
              </a:buClr>
              <a:buSzPct val="90000"/>
              <a:buFont typeface="Wingdings" panose="05000000000000000000" pitchFamily="2" charset="2"/>
              <a:buChar char="l"/>
            </a:pPr>
            <a:r>
              <a:rPr lang="en-US" dirty="0">
                <a:solidFill>
                  <a:srgbClr val="FF0000"/>
                </a:solidFill>
              </a:rPr>
              <a:t>Data </a:t>
            </a:r>
            <a:r>
              <a:rPr lang="en-US" altLang="zh-CN" dirty="0" smtClean="0">
                <a:solidFill>
                  <a:srgbClr val="FF0000"/>
                </a:solidFill>
              </a:rPr>
              <a:t>lineage/</a:t>
            </a:r>
            <a:r>
              <a:rPr lang="en-US" dirty="0" smtClean="0">
                <a:solidFill>
                  <a:srgbClr val="FF0000"/>
                </a:solidFill>
              </a:rPr>
              <a:t>provenance</a:t>
            </a:r>
            <a:r>
              <a:rPr lang="en-US" dirty="0" smtClean="0">
                <a:solidFill>
                  <a:schemeClr val="tx1"/>
                </a:solidFill>
              </a:rPr>
              <a:t> (Ikeda </a:t>
            </a:r>
            <a:r>
              <a:rPr lang="en-US" dirty="0">
                <a:solidFill>
                  <a:schemeClr val="tx1"/>
                </a:solidFill>
              </a:rPr>
              <a:t>et al. ICDE’13)</a:t>
            </a:r>
            <a:endParaRPr lang="en-US" dirty="0" smtClean="0">
              <a:solidFill>
                <a:schemeClr val="tx1"/>
              </a:solidFill>
            </a:endParaRPr>
          </a:p>
        </p:txBody>
      </p:sp>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600" y="4223470"/>
            <a:ext cx="8280000" cy="2088728"/>
          </a:xfrm>
          <a:prstGeom prst="rect">
            <a:avLst/>
          </a:prstGeom>
        </p:spPr>
      </p:pic>
      <p:sp>
        <p:nvSpPr>
          <p:cNvPr id="9"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04</a:t>
            </a:r>
            <a:endParaRPr lang="en-US" sz="1100" dirty="0">
              <a:solidFill>
                <a:schemeClr val="bg1"/>
              </a:solidFill>
            </a:endParaRPr>
          </a:p>
        </p:txBody>
      </p:sp>
    </p:spTree>
    <p:extLst>
      <p:ext uri="{BB962C8B-B14F-4D97-AF65-F5344CB8AC3E}">
        <p14:creationId xmlns:p14="http://schemas.microsoft.com/office/powerpoint/2010/main" val="2905808293"/>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2925" y="1277025"/>
            <a:ext cx="4114800" cy="1370237"/>
          </a:xfrm>
          <a:prstGeom prst="rect">
            <a:avLst/>
          </a:prstGeom>
        </p:spPr>
      </p:pic>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Design Challenges (cont.)</a:t>
            </a:r>
            <a:endParaRPr lang="en-US" sz="3400" dirty="0"/>
          </a:p>
        </p:txBody>
      </p:sp>
      <p:pic>
        <p:nvPicPr>
          <p:cNvPr id="83" name="图片 82"/>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8" name="Rounded Rectangle 90"/>
          <p:cNvSpPr/>
          <p:nvPr/>
        </p:nvSpPr>
        <p:spPr>
          <a:xfrm>
            <a:off x="4229468" y="1203887"/>
            <a:ext cx="4897754" cy="14997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000"/>
              </a:spcAft>
            </a:pPr>
            <a:r>
              <a:rPr lang="en-US" sz="2800" dirty="0" smtClean="0">
                <a:solidFill>
                  <a:schemeClr val="tx1"/>
                </a:solidFill>
              </a:rPr>
              <a:t>Truthfulness of Data Processing</a:t>
            </a:r>
          </a:p>
          <a:p>
            <a:pPr marL="342900" indent="-342900">
              <a:spcAft>
                <a:spcPts val="600"/>
              </a:spcAft>
              <a:buSzPct val="90000"/>
              <a:buFont typeface="Wingdings" panose="05000000000000000000" pitchFamily="2" charset="2"/>
              <a:buChar char="l"/>
            </a:pPr>
            <a:r>
              <a:rPr lang="en-US" sz="2000" dirty="0">
                <a:solidFill>
                  <a:schemeClr val="tx1"/>
                </a:solidFill>
              </a:rPr>
              <a:t>Information </a:t>
            </a:r>
            <a:r>
              <a:rPr lang="en-US" sz="2000" dirty="0" smtClean="0">
                <a:solidFill>
                  <a:schemeClr val="tx1"/>
                </a:solidFill>
              </a:rPr>
              <a:t>asymmetry</a:t>
            </a:r>
          </a:p>
          <a:p>
            <a:pPr marL="342900" indent="-342900">
              <a:buSzPct val="90000"/>
              <a:buFont typeface="Wingdings" panose="05000000000000000000" pitchFamily="2" charset="2"/>
              <a:buChar char="l"/>
            </a:pPr>
            <a:r>
              <a:rPr lang="en-US" sz="2000" dirty="0" smtClean="0">
                <a:solidFill>
                  <a:schemeClr val="tx1"/>
                </a:solidFill>
              </a:rPr>
              <a:t>Differs from </a:t>
            </a:r>
            <a:r>
              <a:rPr lang="en-US" sz="2000" dirty="0" smtClean="0">
                <a:solidFill>
                  <a:srgbClr val="FF0000"/>
                </a:solidFill>
              </a:rPr>
              <a:t>verifiable/outsourced computing</a:t>
            </a:r>
            <a:r>
              <a:rPr lang="en-US" sz="2000" dirty="0" smtClean="0">
                <a:solidFill>
                  <a:schemeClr val="tx1"/>
                </a:solidFill>
              </a:rPr>
              <a:t> (Fiore et al. CCS’14)</a:t>
            </a:r>
          </a:p>
        </p:txBody>
      </p:sp>
      <p:sp>
        <p:nvSpPr>
          <p:cNvPr id="9" name="Rounded Rectangle 90"/>
          <p:cNvSpPr/>
          <p:nvPr/>
        </p:nvSpPr>
        <p:spPr>
          <a:xfrm>
            <a:off x="212925" y="3454190"/>
            <a:ext cx="5040000" cy="2535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000"/>
              </a:spcAft>
            </a:pPr>
            <a:r>
              <a:rPr lang="en-US" sz="2800" dirty="0" smtClean="0">
                <a:solidFill>
                  <a:schemeClr val="tx1"/>
                </a:solidFill>
              </a:rPr>
              <a:t>Efficiency Requirements</a:t>
            </a:r>
          </a:p>
          <a:p>
            <a:pPr marL="342900" indent="-342900">
              <a:spcAft>
                <a:spcPts val="600"/>
              </a:spcAft>
              <a:buClr>
                <a:schemeClr val="tx1"/>
              </a:buClr>
              <a:buSzPct val="90000"/>
              <a:buFont typeface="Wingdings" panose="05000000000000000000" pitchFamily="2" charset="2"/>
              <a:buChar char="l"/>
            </a:pPr>
            <a:r>
              <a:rPr lang="en-US" sz="2000" dirty="0" smtClean="0">
                <a:solidFill>
                  <a:srgbClr val="FF0000"/>
                </a:solidFill>
              </a:rPr>
              <a:t>Large-scale</a:t>
            </a:r>
            <a:r>
              <a:rPr lang="en-US" sz="2000" dirty="0" smtClean="0">
                <a:solidFill>
                  <a:schemeClr val="tx1"/>
                </a:solidFill>
              </a:rPr>
              <a:t> data acquisition </a:t>
            </a:r>
          </a:p>
          <a:p>
            <a:pPr marL="800100" lvl="1" indent="-342900">
              <a:spcAft>
                <a:spcPts val="600"/>
              </a:spcAft>
              <a:buSzPct val="90000"/>
              <a:buFont typeface="Wingdings" panose="05000000000000000000" pitchFamily="2" charset="2"/>
              <a:buChar char="l"/>
            </a:pPr>
            <a:r>
              <a:rPr lang="en-US" dirty="0" smtClean="0">
                <a:solidFill>
                  <a:schemeClr val="tx1"/>
                </a:solidFill>
              </a:rPr>
              <a:t>e.g., on </a:t>
            </a:r>
            <a:r>
              <a:rPr lang="en-US" dirty="0" err="1" smtClean="0">
                <a:solidFill>
                  <a:schemeClr val="tx1"/>
                </a:solidFill>
              </a:rPr>
              <a:t>DataSift</a:t>
            </a:r>
            <a:r>
              <a:rPr lang="en-US" dirty="0" smtClean="0">
                <a:solidFill>
                  <a:schemeClr val="tx1"/>
                </a:solidFill>
              </a:rPr>
              <a:t> and </a:t>
            </a:r>
            <a:r>
              <a:rPr lang="en-US" dirty="0" err="1" smtClean="0">
                <a:solidFill>
                  <a:schemeClr val="tx1"/>
                </a:solidFill>
              </a:rPr>
              <a:t>Gnip</a:t>
            </a:r>
            <a:endParaRPr lang="en-US" dirty="0" smtClean="0">
              <a:solidFill>
                <a:schemeClr val="tx1"/>
              </a:solidFill>
            </a:endParaRPr>
          </a:p>
          <a:p>
            <a:pPr marL="342900" indent="-342900">
              <a:spcAft>
                <a:spcPts val="600"/>
              </a:spcAft>
              <a:buSzPct val="90000"/>
              <a:buFont typeface="Wingdings" panose="05000000000000000000" pitchFamily="2" charset="2"/>
              <a:buChar char="l"/>
            </a:pPr>
            <a:r>
              <a:rPr lang="en-US" sz="2000" dirty="0" smtClean="0">
                <a:solidFill>
                  <a:schemeClr val="tx1"/>
                </a:solidFill>
              </a:rPr>
              <a:t>Data authentication and data integrity?</a:t>
            </a:r>
          </a:p>
          <a:p>
            <a:pPr marL="800100" lvl="1" indent="-342900">
              <a:spcAft>
                <a:spcPts val="600"/>
              </a:spcAft>
              <a:buSzPct val="90000"/>
              <a:buFont typeface="Wingdings" panose="05000000000000000000" pitchFamily="2" charset="2"/>
              <a:buChar char="l"/>
            </a:pPr>
            <a:r>
              <a:rPr lang="en-US" dirty="0">
                <a:solidFill>
                  <a:schemeClr val="tx1"/>
                </a:solidFill>
              </a:rPr>
              <a:t>S</a:t>
            </a:r>
            <a:r>
              <a:rPr lang="en-US" dirty="0" smtClean="0">
                <a:solidFill>
                  <a:schemeClr val="tx1"/>
                </a:solidFill>
              </a:rPr>
              <a:t>equential verification </a:t>
            </a:r>
          </a:p>
          <a:p>
            <a:pPr marL="800100" lvl="1" indent="-342900">
              <a:spcAft>
                <a:spcPts val="600"/>
              </a:spcAft>
              <a:buSzPct val="90000"/>
              <a:buFont typeface="Wingdings" panose="05000000000000000000" pitchFamily="2" charset="2"/>
              <a:buChar char="l"/>
            </a:pPr>
            <a:r>
              <a:rPr lang="en-US" dirty="0" smtClean="0">
                <a:solidFill>
                  <a:schemeClr val="tx1"/>
                </a:solidFill>
              </a:rPr>
              <a:t>PKI maintenance</a:t>
            </a:r>
          </a:p>
        </p:txBody>
      </p:sp>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78092" y="3454190"/>
            <a:ext cx="3240000" cy="1053482"/>
          </a:xfrm>
          <a:prstGeom prst="rect">
            <a:avLst/>
          </a:prstGeom>
        </p:spPr>
      </p:pic>
      <p:pic>
        <p:nvPicPr>
          <p:cNvPr id="11" name="图片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78092" y="4586708"/>
            <a:ext cx="3240000" cy="1402607"/>
          </a:xfrm>
          <a:prstGeom prst="rect">
            <a:avLst/>
          </a:prstGeom>
        </p:spPr>
      </p:pic>
      <p:sp>
        <p:nvSpPr>
          <p:cNvPr id="12"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05</a:t>
            </a:r>
            <a:endParaRPr lang="en-US" sz="1100" dirty="0">
              <a:solidFill>
                <a:schemeClr val="bg1"/>
              </a:solidFill>
            </a:endParaRPr>
          </a:p>
        </p:txBody>
      </p:sp>
    </p:spTree>
    <p:extLst>
      <p:ext uri="{BB962C8B-B14F-4D97-AF65-F5344CB8AC3E}">
        <p14:creationId xmlns:p14="http://schemas.microsoft.com/office/powerpoint/2010/main" val="1464461084"/>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3E3">
            <a:alpha val="50000"/>
          </a:srgbClr>
        </a:solidFill>
        <a:effectLst/>
      </p:bgPr>
    </p:bg>
    <p:spTree>
      <p:nvGrpSpPr>
        <p:cNvPr id="1" name=""/>
        <p:cNvGrpSpPr/>
        <p:nvPr/>
      </p:nvGrpSpPr>
      <p:grpSpPr>
        <a:xfrm>
          <a:off x="0" y="0"/>
          <a:ext cx="0" cy="0"/>
          <a:chOff x="0" y="0"/>
          <a:chExt cx="0" cy="0"/>
        </a:xfrm>
      </p:grpSpPr>
      <p:sp>
        <p:nvSpPr>
          <p:cNvPr id="4" name="Rectangle 3"/>
          <p:cNvSpPr/>
          <p:nvPr/>
        </p:nvSpPr>
        <p:spPr>
          <a:xfrm>
            <a:off x="0" y="3937000"/>
            <a:ext cx="9144000" cy="21336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itle 1"/>
          <p:cNvSpPr>
            <a:spLocks noGrp="1"/>
          </p:cNvSpPr>
          <p:nvPr>
            <p:ph type="title"/>
          </p:nvPr>
        </p:nvSpPr>
        <p:spPr>
          <a:xfrm>
            <a:off x="457200" y="4411229"/>
            <a:ext cx="8229600" cy="798896"/>
          </a:xfrm>
        </p:spPr>
        <p:txBody>
          <a:bodyPr>
            <a:noAutofit/>
          </a:bodyPr>
          <a:lstStyle/>
          <a:p>
            <a:pPr algn="r"/>
            <a:r>
              <a:rPr lang="en-US" sz="4800" dirty="0" smtClean="0">
                <a:solidFill>
                  <a:schemeClr val="bg1"/>
                </a:solidFill>
              </a:rPr>
              <a:t>Our Approach: TPDM</a:t>
            </a:r>
            <a:endParaRPr lang="en-US" sz="4800" dirty="0">
              <a:solidFill>
                <a:schemeClr val="bg1"/>
              </a:solidFill>
            </a:endParaRPr>
          </a:p>
        </p:txBody>
      </p:sp>
      <p:sp>
        <p:nvSpPr>
          <p:cNvPr id="3" name="Subtitle 4"/>
          <p:cNvSpPr txBox="1">
            <a:spLocks/>
          </p:cNvSpPr>
          <p:nvPr/>
        </p:nvSpPr>
        <p:spPr>
          <a:xfrm>
            <a:off x="457200" y="5317217"/>
            <a:ext cx="8229600" cy="406400"/>
          </a:xfrm>
          <a:prstGeom prst="rect">
            <a:avLst/>
          </a:prstGeom>
        </p:spPr>
        <p:txBody>
          <a:bodyPr vert="horz" lIns="91440" tIns="45720" rIns="91440" bIns="45720" rtlCol="0">
            <a:noAutofit/>
          </a:bodyPr>
          <a:lstStyle/>
          <a:p>
            <a:pPr marL="342900" marR="0" lvl="0" indent="-342900" algn="r" defTabSz="914400" rtl="0" eaLnBrk="1" fontAlgn="auto" latinLnBrk="0" hangingPunct="1">
              <a:lnSpc>
                <a:spcPct val="100000"/>
              </a:lnSpc>
              <a:spcBef>
                <a:spcPct val="20000"/>
              </a:spcBef>
              <a:spcAft>
                <a:spcPts val="0"/>
              </a:spcAft>
              <a:buClrTx/>
              <a:buSzTx/>
              <a:buFontTx/>
              <a:buNone/>
              <a:tabLst/>
              <a:defRPr/>
            </a:pPr>
            <a:r>
              <a:rPr lang="ms-MY" sz="2200" dirty="0" smtClean="0">
                <a:solidFill>
                  <a:prstClr val="white"/>
                </a:solidFill>
                <a:latin typeface="+mj-lt"/>
              </a:rPr>
              <a:t>in</a:t>
            </a:r>
            <a:r>
              <a:rPr lang="ms-MY" sz="2200" noProof="0" dirty="0" smtClean="0">
                <a:solidFill>
                  <a:prstClr val="white"/>
                </a:solidFill>
                <a:latin typeface="+mj-lt"/>
              </a:rPr>
              <a:t> </a:t>
            </a:r>
            <a:r>
              <a:rPr lang="ms-MY" sz="2200" b="1" noProof="0" dirty="0" smtClean="0">
                <a:solidFill>
                  <a:prstClr val="white"/>
                </a:solidFill>
                <a:latin typeface="+mj-lt"/>
              </a:rPr>
              <a:t>Profile Matching</a:t>
            </a:r>
            <a:r>
              <a:rPr lang="ms-MY" sz="2200" noProof="0" dirty="0" smtClean="0">
                <a:solidFill>
                  <a:prstClr val="white"/>
                </a:solidFill>
                <a:latin typeface="+mj-lt"/>
              </a:rPr>
              <a:t> Data Service</a:t>
            </a:r>
            <a:endParaRPr kumimoji="0" lang="en-US" sz="2200" b="0" i="0" u="none" strike="noStrike" kern="1200" cap="none" spc="0" normalizeH="0" baseline="0" noProof="0" dirty="0">
              <a:ln>
                <a:noFill/>
              </a:ln>
              <a:solidFill>
                <a:prstClr val="white"/>
              </a:solidFill>
              <a:effectLst/>
              <a:uLnTx/>
              <a:uFillTx/>
              <a:latin typeface="+mj-lt"/>
            </a:endParaRPr>
          </a:p>
        </p:txBody>
      </p:sp>
      <p:grpSp>
        <p:nvGrpSpPr>
          <p:cNvPr id="13" name="Group 25"/>
          <p:cNvGrpSpPr>
            <a:grpSpLocks noChangeAspect="1"/>
          </p:cNvGrpSpPr>
          <p:nvPr/>
        </p:nvGrpSpPr>
        <p:grpSpPr>
          <a:xfrm>
            <a:off x="975824" y="4204904"/>
            <a:ext cx="1674186" cy="1597792"/>
            <a:chOff x="1975693" y="2187576"/>
            <a:chExt cx="366676" cy="366050"/>
          </a:xfrm>
          <a:solidFill>
            <a:schemeClr val="bg1"/>
          </a:solidFill>
        </p:grpSpPr>
        <p:sp>
          <p:nvSpPr>
            <p:cNvPr id="14" name="AutoShape 128"/>
            <p:cNvSpPr>
              <a:spLocks/>
            </p:cNvSpPr>
            <p:nvPr/>
          </p:nvSpPr>
          <p:spPr bwMode="auto">
            <a:xfrm>
              <a:off x="1975693" y="2187576"/>
              <a:ext cx="366676" cy="366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15" name="AutoShape 129"/>
            <p:cNvSpPr>
              <a:spLocks/>
            </p:cNvSpPr>
            <p:nvPr/>
          </p:nvSpPr>
          <p:spPr bwMode="auto">
            <a:xfrm>
              <a:off x="2204709" y="2233253"/>
              <a:ext cx="91356" cy="91356"/>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grpSp>
    </p:spTree>
    <p:extLst>
      <p:ext uri="{BB962C8B-B14F-4D97-AF65-F5344CB8AC3E}">
        <p14:creationId xmlns:p14="http://schemas.microsoft.com/office/powerpoint/2010/main" val="163500433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0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600" fill="hold"/>
                                        <p:tgtEl>
                                          <p:spTgt spid="13"/>
                                        </p:tgtEl>
                                        <p:attrNameLst>
                                          <p:attrName>ppt_x</p:attrName>
                                        </p:attrNameLst>
                                      </p:cBhvr>
                                      <p:tavLst>
                                        <p:tav tm="0">
                                          <p:val>
                                            <p:strVal val="0-#ppt_w/2"/>
                                          </p:val>
                                        </p:tav>
                                        <p:tav tm="100000">
                                          <p:val>
                                            <p:strVal val="#ppt_x"/>
                                          </p:val>
                                        </p:tav>
                                      </p:tavLst>
                                    </p:anim>
                                    <p:anim calcmode="lin" valueType="num">
                                      <p:cBhvr additive="base">
                                        <p:cTn id="13" dur="600" fill="hold"/>
                                        <p:tgtEl>
                                          <p:spTgt spid="13"/>
                                        </p:tgtEl>
                                        <p:attrNameLst>
                                          <p:attrName>ppt_y</p:attrName>
                                        </p:attrNameLst>
                                      </p:cBhvr>
                                      <p:tavLst>
                                        <p:tav tm="0">
                                          <p:val>
                                            <p:strVal val="#ppt_y"/>
                                          </p:val>
                                        </p:tav>
                                        <p:tav tm="100000">
                                          <p:val>
                                            <p:strVal val="#ppt_y"/>
                                          </p:val>
                                        </p:tav>
                                      </p:tavLst>
                                    </p:anim>
                                  </p:childTnLst>
                                </p:cTn>
                              </p:par>
                              <p:par>
                                <p:cTn id="14" presetID="2" presetClass="entr" presetSubtype="2" decel="5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600" fill="hold"/>
                                        <p:tgtEl>
                                          <p:spTgt spid="6"/>
                                        </p:tgtEl>
                                        <p:attrNameLst>
                                          <p:attrName>ppt_x</p:attrName>
                                        </p:attrNameLst>
                                      </p:cBhvr>
                                      <p:tavLst>
                                        <p:tav tm="0">
                                          <p:val>
                                            <p:strVal val="1+#ppt_w/2"/>
                                          </p:val>
                                        </p:tav>
                                        <p:tav tm="100000">
                                          <p:val>
                                            <p:strVal val="#ppt_x"/>
                                          </p:val>
                                        </p:tav>
                                      </p:tavLst>
                                    </p:anim>
                                    <p:anim calcmode="lin" valueType="num">
                                      <p:cBhvr additive="base">
                                        <p:cTn id="17" dur="600" fill="hold"/>
                                        <p:tgtEl>
                                          <p:spTgt spid="6"/>
                                        </p:tgtEl>
                                        <p:attrNameLst>
                                          <p:attrName>ppt_y</p:attrName>
                                        </p:attrNameLst>
                                      </p:cBhvr>
                                      <p:tavLst>
                                        <p:tav tm="0">
                                          <p:val>
                                            <p:strVal val="#ppt_y"/>
                                          </p:val>
                                        </p:tav>
                                        <p:tav tm="100000">
                                          <p:val>
                                            <p:strVal val="#ppt_y"/>
                                          </p:val>
                                        </p:tav>
                                      </p:tavLst>
                                    </p:anim>
                                  </p:childTnLst>
                                </p:cTn>
                              </p:par>
                              <p:par>
                                <p:cTn id="18" presetID="2" presetClass="entr" presetSubtype="2" decel="5000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600" fill="hold"/>
                                        <p:tgtEl>
                                          <p:spTgt spid="3"/>
                                        </p:tgtEl>
                                        <p:attrNameLst>
                                          <p:attrName>ppt_x</p:attrName>
                                        </p:attrNameLst>
                                      </p:cBhvr>
                                      <p:tavLst>
                                        <p:tav tm="0">
                                          <p:val>
                                            <p:strVal val="1+#ppt_w/2"/>
                                          </p:val>
                                        </p:tav>
                                        <p:tav tm="100000">
                                          <p:val>
                                            <p:strVal val="#ppt_x"/>
                                          </p:val>
                                        </p:tav>
                                      </p:tavLst>
                                    </p:anim>
                                    <p:anim calcmode="lin" valueType="num">
                                      <p:cBhvr additive="base">
                                        <p:cTn id="21" dur="6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Profile Matching Data Service</a:t>
            </a:r>
            <a:endParaRPr lang="en-US" sz="3400" dirty="0"/>
          </a:p>
        </p:txBody>
      </p:sp>
      <p:pic>
        <p:nvPicPr>
          <p:cNvPr id="83" name="图片 82"/>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15" name="Rectangle 71"/>
          <p:cNvSpPr/>
          <p:nvPr/>
        </p:nvSpPr>
        <p:spPr>
          <a:xfrm>
            <a:off x="793351" y="4207896"/>
            <a:ext cx="7557298" cy="369332"/>
          </a:xfrm>
          <a:prstGeom prst="rect">
            <a:avLst/>
          </a:prstGeom>
          <a:noFill/>
        </p:spPr>
        <p:txBody>
          <a:bodyPr wrap="square">
            <a:spAutoFit/>
          </a:bodyPr>
          <a:lstStyle/>
          <a:p>
            <a:pPr algn="ctr"/>
            <a:r>
              <a:rPr lang="en-US" b="1" dirty="0">
                <a:solidFill>
                  <a:schemeClr val="accent2">
                    <a:lumMod val="75000"/>
                  </a:schemeClr>
                </a:solidFill>
              </a:rPr>
              <a:t>Figure </a:t>
            </a:r>
            <a:r>
              <a:rPr lang="en-US" b="1" dirty="0" smtClean="0">
                <a:solidFill>
                  <a:schemeClr val="accent2">
                    <a:lumMod val="75000"/>
                  </a:schemeClr>
                </a:solidFill>
              </a:rPr>
              <a:t>2. </a:t>
            </a:r>
            <a:r>
              <a:rPr lang="en-US" b="1" dirty="0">
                <a:solidFill>
                  <a:schemeClr val="accent2">
                    <a:lumMod val="75000"/>
                  </a:schemeClr>
                </a:solidFill>
              </a:rPr>
              <a:t>Motivating Example: An </a:t>
            </a:r>
            <a:r>
              <a:rPr lang="en-US" b="1" dirty="0" smtClean="0">
                <a:solidFill>
                  <a:schemeClr val="accent2">
                    <a:lumMod val="75000"/>
                  </a:schemeClr>
                </a:solidFill>
              </a:rPr>
              <a:t>Illustration </a:t>
            </a:r>
            <a:r>
              <a:rPr lang="en-US" b="1" dirty="0">
                <a:solidFill>
                  <a:schemeClr val="accent2">
                    <a:lumMod val="75000"/>
                  </a:schemeClr>
                </a:solidFill>
              </a:rPr>
              <a:t>of Fine-grained Profile Matching</a:t>
            </a:r>
          </a:p>
        </p:txBody>
      </p:sp>
      <mc:AlternateContent xmlns:mc="http://schemas.openxmlformats.org/markup-compatibility/2006" xmlns:a14="http://schemas.microsoft.com/office/drawing/2010/main">
        <mc:Choice Requires="a14">
          <p:sp>
            <p:nvSpPr>
              <p:cNvPr id="10" name="文本框 9"/>
              <p:cNvSpPr txBox="1"/>
              <p:nvPr/>
            </p:nvSpPr>
            <p:spPr>
              <a:xfrm>
                <a:off x="436604" y="4714027"/>
                <a:ext cx="8707396" cy="2039469"/>
              </a:xfrm>
              <a:prstGeom prst="rect">
                <a:avLst/>
              </a:prstGeom>
              <a:noFill/>
            </p:spPr>
            <p:txBody>
              <a:bodyPr wrap="square" rtlCol="0">
                <a:spAutoFit/>
              </a:bodyPr>
              <a:lstStyle/>
              <a:p>
                <a:pPr marL="342900" indent="-342900">
                  <a:spcAft>
                    <a:spcPts val="600"/>
                  </a:spcAft>
                  <a:buClr>
                    <a:schemeClr val="tx1"/>
                  </a:buClr>
                  <a:buSzPct val="90000"/>
                  <a:buFont typeface="Wingdings" panose="05000000000000000000" pitchFamily="2" charset="2"/>
                  <a:buChar char="l"/>
                </a:pPr>
                <a:r>
                  <a:rPr lang="en-US" altLang="zh-CN" sz="2000" dirty="0" smtClean="0"/>
                  <a:t>A predefined</a:t>
                </a:r>
                <a:r>
                  <a:rPr lang="en-US" altLang="zh-CN" sz="2000" dirty="0"/>
                  <a:t> </a:t>
                </a:r>
                <a:r>
                  <a:rPr lang="en-US" altLang="zh-CN" sz="2000" dirty="0" smtClean="0">
                    <a:solidFill>
                      <a:srgbClr val="FF0000"/>
                    </a:solidFill>
                  </a:rPr>
                  <a:t>public attribute set </a:t>
                </a:r>
                <a14:m>
                  <m:oMath xmlns:m="http://schemas.openxmlformats.org/officeDocument/2006/math">
                    <m:r>
                      <a:rPr lang="en-US" altLang="zh-CN" sz="2000" b="1" i="0" smtClean="0">
                        <a:solidFill>
                          <a:schemeClr val="tx1"/>
                        </a:solidFill>
                        <a:latin typeface="Cambria Math" panose="02040503050406030204" pitchFamily="18" charset="0"/>
                      </a:rPr>
                      <m:t>𝐀</m:t>
                    </m:r>
                    <m:r>
                      <a:rPr lang="en-US" altLang="zh-CN" sz="2000" b="0" i="0" smtClean="0">
                        <a:solidFill>
                          <a:schemeClr val="tx1"/>
                        </a:solidFill>
                        <a:latin typeface="Cambria Math" panose="02040503050406030204" pitchFamily="18" charset="0"/>
                      </a:rPr>
                      <m:t>=</m:t>
                    </m:r>
                    <m:d>
                      <m:dPr>
                        <m:begChr m:val="{"/>
                        <m:endChr m:val="}"/>
                        <m:ctrlPr>
                          <a:rPr lang="en-US" altLang="zh-CN" sz="2000" b="0" i="1" smtClean="0">
                            <a:solidFill>
                              <a:schemeClr val="tx1"/>
                            </a:solidFill>
                            <a:latin typeface="Cambria Math" charset="0"/>
                          </a:rPr>
                        </m:ctrlPr>
                      </m:dPr>
                      <m:e>
                        <m:sSub>
                          <m:sSubPr>
                            <m:ctrlPr>
                              <a:rPr lang="en-US" altLang="zh-CN" sz="2000" i="1" smtClean="0">
                                <a:solidFill>
                                  <a:schemeClr val="tx1"/>
                                </a:solidFill>
                                <a:latin typeface="Cambria Math" charset="0"/>
                              </a:rPr>
                            </m:ctrlPr>
                          </m:sSubPr>
                          <m:e>
                            <m:r>
                              <a:rPr lang="en-US" altLang="zh-CN" sz="2000" b="0" i="1" smtClean="0">
                                <a:solidFill>
                                  <a:schemeClr val="tx1"/>
                                </a:solidFill>
                                <a:latin typeface="Cambria Math" panose="02040503050406030204" pitchFamily="18" charset="0"/>
                              </a:rPr>
                              <m:t>𝐴</m:t>
                            </m:r>
                          </m:e>
                          <m:sub>
                            <m:r>
                              <a:rPr lang="en-US" altLang="zh-CN" sz="2000" b="0" i="1" smtClean="0">
                                <a:solidFill>
                                  <a:schemeClr val="tx1"/>
                                </a:solidFill>
                                <a:latin typeface="Cambria Math" panose="02040503050406030204" pitchFamily="18" charset="0"/>
                              </a:rPr>
                              <m:t>1</m:t>
                            </m:r>
                          </m:sub>
                        </m:sSub>
                        <m:r>
                          <a:rPr lang="en-US" altLang="zh-CN" sz="2000" b="0" i="1" smtClean="0">
                            <a:solidFill>
                              <a:schemeClr val="tx1"/>
                            </a:solidFill>
                            <a:latin typeface="Cambria Math" panose="02040503050406030204" pitchFamily="18" charset="0"/>
                          </a:rPr>
                          <m:t>,</m:t>
                        </m:r>
                        <m:sSub>
                          <m:sSubPr>
                            <m:ctrlPr>
                              <a:rPr lang="en-US" altLang="zh-CN" sz="2000" i="1">
                                <a:solidFill>
                                  <a:schemeClr val="tx1"/>
                                </a:solidFill>
                                <a:latin typeface="Cambria Math" charset="0"/>
                              </a:rPr>
                            </m:ctrlPr>
                          </m:sSubPr>
                          <m:e>
                            <m:r>
                              <a:rPr lang="en-US" altLang="zh-CN" sz="2000" i="1">
                                <a:solidFill>
                                  <a:schemeClr val="tx1"/>
                                </a:solidFill>
                                <a:latin typeface="Cambria Math" panose="02040503050406030204" pitchFamily="18" charset="0"/>
                              </a:rPr>
                              <m:t>𝐴</m:t>
                            </m:r>
                          </m:e>
                          <m:sub>
                            <m:r>
                              <a:rPr lang="en-US" altLang="zh-CN" sz="2000" b="0" i="1" smtClean="0">
                                <a:solidFill>
                                  <a:schemeClr val="tx1"/>
                                </a:solidFill>
                                <a:latin typeface="Cambria Math" panose="02040503050406030204" pitchFamily="18" charset="0"/>
                              </a:rPr>
                              <m:t>2</m:t>
                            </m:r>
                          </m:sub>
                        </m:sSub>
                        <m:r>
                          <a:rPr lang="en-US" altLang="zh-CN" sz="2000" b="0" i="1" smtClean="0">
                            <a:solidFill>
                              <a:schemeClr val="tx1"/>
                            </a:solidFill>
                            <a:latin typeface="Cambria Math" panose="02040503050406030204" pitchFamily="18" charset="0"/>
                          </a:rPr>
                          <m:t>, …,</m:t>
                        </m:r>
                        <m:sSub>
                          <m:sSubPr>
                            <m:ctrlPr>
                              <a:rPr lang="en-US" altLang="zh-CN" sz="2000" i="1" smtClean="0">
                                <a:solidFill>
                                  <a:schemeClr val="tx1"/>
                                </a:solidFill>
                                <a:latin typeface="Cambria Math" charset="0"/>
                              </a:rPr>
                            </m:ctrlPr>
                          </m:sSubPr>
                          <m:e>
                            <m:r>
                              <a:rPr lang="en-US" altLang="zh-CN" sz="2000" i="1">
                                <a:solidFill>
                                  <a:schemeClr val="tx1"/>
                                </a:solidFill>
                                <a:latin typeface="Cambria Math" panose="02040503050406030204" pitchFamily="18" charset="0"/>
                              </a:rPr>
                              <m:t>𝐴</m:t>
                            </m:r>
                          </m:e>
                          <m:sub>
                            <m:r>
                              <a:rPr lang="zh-CN" altLang="el-GR" sz="2000" i="1" smtClean="0">
                                <a:solidFill>
                                  <a:schemeClr val="tx1"/>
                                </a:solidFill>
                                <a:latin typeface="Cambria Math" panose="02040503050406030204" pitchFamily="18" charset="0"/>
                              </a:rPr>
                              <m:t>𝛽</m:t>
                            </m:r>
                            <m:r>
                              <a:rPr lang="en-US" altLang="zh-CN" sz="2000" b="0" i="1" smtClean="0">
                                <a:solidFill>
                                  <a:schemeClr val="tx1"/>
                                </a:solidFill>
                                <a:latin typeface="Cambria Math" panose="02040503050406030204" pitchFamily="18" charset="0"/>
                              </a:rPr>
                              <m:t> </m:t>
                            </m:r>
                          </m:sub>
                        </m:sSub>
                      </m:e>
                    </m:d>
                  </m:oMath>
                </a14:m>
                <a:r>
                  <a:rPr lang="en-US" altLang="zh-CN" sz="2000" dirty="0" smtClean="0">
                    <a:solidFill>
                      <a:schemeClr val="tx1"/>
                    </a:solidFill>
                    <a:latin typeface="Source Sans Pro"/>
                  </a:rPr>
                  <a:t>.</a:t>
                </a:r>
              </a:p>
              <a:p>
                <a:pPr marL="342900" indent="-342900">
                  <a:spcAft>
                    <a:spcPts val="600"/>
                  </a:spcAft>
                  <a:buClr>
                    <a:schemeClr val="tx1"/>
                  </a:buClr>
                  <a:buSzPct val="90000"/>
                  <a:buFont typeface="Wingdings" panose="05000000000000000000" pitchFamily="2" charset="2"/>
                  <a:buChar char="l"/>
                </a:pPr>
                <a:r>
                  <a:rPr lang="en-US" altLang="zh-CN" sz="2000" dirty="0" smtClean="0"/>
                  <a:t>Each</a:t>
                </a:r>
                <a:r>
                  <a:rPr lang="en-US" altLang="zh-CN" sz="2000" dirty="0"/>
                  <a:t> </a:t>
                </a:r>
                <a:r>
                  <a:rPr lang="en-US" altLang="zh-CN" sz="2000" dirty="0" smtClean="0">
                    <a:solidFill>
                      <a:schemeClr val="tx1"/>
                    </a:solidFill>
                  </a:rPr>
                  <a:t>data contributor’s profile </a:t>
                </a:r>
                <a14:m>
                  <m:oMath xmlns:m="http://schemas.openxmlformats.org/officeDocument/2006/math">
                    <m:sSub>
                      <m:sSubPr>
                        <m:ctrlPr>
                          <a:rPr lang="en-US" altLang="zh-CN" sz="2000" b="0" i="1" dirty="0" smtClean="0">
                            <a:solidFill>
                              <a:schemeClr val="tx1"/>
                            </a:solidFill>
                            <a:latin typeface="Cambria Math" charset="0"/>
                          </a:rPr>
                        </m:ctrlPr>
                      </m:sSubPr>
                      <m:e>
                        <m:acc>
                          <m:accPr>
                            <m:chr m:val="⃗"/>
                            <m:ctrlPr>
                              <a:rPr lang="en-US" altLang="zh-CN" sz="2000" i="1">
                                <a:solidFill>
                                  <a:schemeClr val="tx1"/>
                                </a:solidFill>
                                <a:latin typeface="Cambria Math" charset="0"/>
                              </a:rPr>
                            </m:ctrlPr>
                          </m:accPr>
                          <m:e>
                            <m:r>
                              <a:rPr lang="en-US" altLang="zh-CN" sz="2000" i="1">
                                <a:solidFill>
                                  <a:schemeClr val="tx1"/>
                                </a:solidFill>
                                <a:latin typeface="Cambria Math" panose="02040503050406030204" pitchFamily="18" charset="0"/>
                              </a:rPr>
                              <m:t>𝑈</m:t>
                            </m:r>
                          </m:e>
                        </m:acc>
                      </m:e>
                      <m:sub>
                        <m:r>
                          <a:rPr lang="en-US" altLang="zh-CN" sz="2000" b="0" i="1" dirty="0" smtClean="0">
                            <a:solidFill>
                              <a:schemeClr val="tx1"/>
                            </a:solidFill>
                            <a:latin typeface="Cambria Math" panose="02040503050406030204" pitchFamily="18" charset="0"/>
                          </a:rPr>
                          <m:t>𝑖</m:t>
                        </m:r>
                      </m:sub>
                    </m:sSub>
                    <m:r>
                      <a:rPr lang="en-US" altLang="zh-CN" sz="2000" b="0" i="1" dirty="0" smtClean="0">
                        <a:solidFill>
                          <a:schemeClr val="tx1"/>
                        </a:solidFill>
                        <a:latin typeface="Cambria Math" panose="02040503050406030204" pitchFamily="18" charset="0"/>
                      </a:rPr>
                      <m:t>=</m:t>
                    </m:r>
                    <m:d>
                      <m:dPr>
                        <m:ctrlPr>
                          <a:rPr lang="en-US" altLang="zh-CN" sz="2000" b="0" i="1" dirty="0" smtClean="0">
                            <a:solidFill>
                              <a:schemeClr val="tx1"/>
                            </a:solidFill>
                            <a:latin typeface="Cambria Math" charset="0"/>
                          </a:rPr>
                        </m:ctrlPr>
                      </m:dPr>
                      <m:e>
                        <m:sSub>
                          <m:sSubPr>
                            <m:ctrlPr>
                              <a:rPr lang="en-US" altLang="zh-CN" sz="2000" i="1" dirty="0">
                                <a:solidFill>
                                  <a:schemeClr val="tx1"/>
                                </a:solidFill>
                                <a:latin typeface="Cambria Math" charset="0"/>
                              </a:rPr>
                            </m:ctrlPr>
                          </m:sSubPr>
                          <m:e>
                            <m:r>
                              <a:rPr lang="en-US" altLang="zh-CN" sz="2000" i="1" dirty="0">
                                <a:solidFill>
                                  <a:schemeClr val="tx1"/>
                                </a:solidFill>
                                <a:latin typeface="Cambria Math" panose="02040503050406030204" pitchFamily="18" charset="0"/>
                              </a:rPr>
                              <m:t>𝑢</m:t>
                            </m:r>
                          </m:e>
                          <m:sub>
                            <m:r>
                              <a:rPr lang="en-US" altLang="zh-CN" sz="2000" i="1" dirty="0">
                                <a:solidFill>
                                  <a:schemeClr val="tx1"/>
                                </a:solidFill>
                                <a:latin typeface="Cambria Math" panose="02040503050406030204" pitchFamily="18" charset="0"/>
                              </a:rPr>
                              <m:t>𝑖</m:t>
                            </m:r>
                            <m:r>
                              <a:rPr lang="en-US" altLang="zh-CN" sz="2000" i="1" dirty="0">
                                <a:solidFill>
                                  <a:schemeClr val="tx1"/>
                                </a:solidFill>
                                <a:latin typeface="Cambria Math" panose="02040503050406030204" pitchFamily="18" charset="0"/>
                              </a:rPr>
                              <m:t>1</m:t>
                            </m:r>
                          </m:sub>
                        </m:sSub>
                        <m:r>
                          <a:rPr lang="en-US" altLang="zh-CN" sz="2000" i="1" dirty="0">
                            <a:solidFill>
                              <a:schemeClr val="tx1"/>
                            </a:solidFill>
                            <a:latin typeface="Cambria Math" panose="02040503050406030204" pitchFamily="18" charset="0"/>
                          </a:rPr>
                          <m:t>, </m:t>
                        </m:r>
                        <m:sSub>
                          <m:sSubPr>
                            <m:ctrlPr>
                              <a:rPr lang="en-US" altLang="zh-CN" sz="2000" i="1" dirty="0">
                                <a:solidFill>
                                  <a:schemeClr val="tx1"/>
                                </a:solidFill>
                                <a:latin typeface="Cambria Math" charset="0"/>
                              </a:rPr>
                            </m:ctrlPr>
                          </m:sSubPr>
                          <m:e>
                            <m:r>
                              <a:rPr lang="en-US" altLang="zh-CN" sz="2000" i="1" dirty="0">
                                <a:solidFill>
                                  <a:schemeClr val="tx1"/>
                                </a:solidFill>
                                <a:latin typeface="Cambria Math" panose="02040503050406030204" pitchFamily="18" charset="0"/>
                              </a:rPr>
                              <m:t>𝑢</m:t>
                            </m:r>
                          </m:e>
                          <m:sub>
                            <m:r>
                              <a:rPr lang="en-US" altLang="zh-CN" sz="2000" i="1" dirty="0">
                                <a:solidFill>
                                  <a:schemeClr val="tx1"/>
                                </a:solidFill>
                                <a:latin typeface="Cambria Math" panose="02040503050406030204" pitchFamily="18" charset="0"/>
                              </a:rPr>
                              <m:t>𝑖</m:t>
                            </m:r>
                            <m:r>
                              <a:rPr lang="en-US" altLang="zh-CN" sz="2000" i="1" dirty="0">
                                <a:solidFill>
                                  <a:schemeClr val="tx1"/>
                                </a:solidFill>
                                <a:latin typeface="Cambria Math" panose="02040503050406030204" pitchFamily="18" charset="0"/>
                              </a:rPr>
                              <m:t>2</m:t>
                            </m:r>
                          </m:sub>
                        </m:sSub>
                        <m:r>
                          <a:rPr lang="en-US" altLang="zh-CN" sz="2000" i="1" dirty="0">
                            <a:solidFill>
                              <a:schemeClr val="tx1"/>
                            </a:solidFill>
                            <a:latin typeface="Cambria Math" panose="02040503050406030204" pitchFamily="18" charset="0"/>
                          </a:rPr>
                          <m:t>, …, </m:t>
                        </m:r>
                        <m:sSub>
                          <m:sSubPr>
                            <m:ctrlPr>
                              <a:rPr lang="en-US" altLang="zh-CN" sz="2000" i="1" dirty="0">
                                <a:solidFill>
                                  <a:schemeClr val="tx1"/>
                                </a:solidFill>
                                <a:latin typeface="Cambria Math" charset="0"/>
                              </a:rPr>
                            </m:ctrlPr>
                          </m:sSubPr>
                          <m:e>
                            <m:r>
                              <a:rPr lang="en-US" altLang="zh-CN" sz="2000" i="1" dirty="0">
                                <a:solidFill>
                                  <a:schemeClr val="tx1"/>
                                </a:solidFill>
                                <a:latin typeface="Cambria Math" panose="02040503050406030204" pitchFamily="18" charset="0"/>
                              </a:rPr>
                              <m:t>𝑢</m:t>
                            </m:r>
                          </m:e>
                          <m:sub>
                            <m:r>
                              <a:rPr lang="en-US" altLang="zh-CN" sz="2000" i="1" dirty="0">
                                <a:solidFill>
                                  <a:schemeClr val="tx1"/>
                                </a:solidFill>
                                <a:latin typeface="Cambria Math" panose="02040503050406030204" pitchFamily="18" charset="0"/>
                              </a:rPr>
                              <m:t>𝑖</m:t>
                            </m:r>
                            <m:r>
                              <a:rPr lang="zh-CN" altLang="en-US" sz="2000" i="1" dirty="0">
                                <a:solidFill>
                                  <a:schemeClr val="tx1"/>
                                </a:solidFill>
                                <a:latin typeface="Cambria Math" panose="02040503050406030204" pitchFamily="18" charset="0"/>
                              </a:rPr>
                              <m:t>𝛽</m:t>
                            </m:r>
                          </m:sub>
                        </m:sSub>
                      </m:e>
                    </m:d>
                  </m:oMath>
                </a14:m>
                <a:r>
                  <a:rPr lang="en-US" altLang="zh-CN" sz="2000" dirty="0" smtClean="0">
                    <a:solidFill>
                      <a:schemeClr val="tx1"/>
                    </a:solidFill>
                  </a:rPr>
                  <a:t>; The data consumer’s profile </a:t>
                </a:r>
                <a14:m>
                  <m:oMath xmlns:m="http://schemas.openxmlformats.org/officeDocument/2006/math">
                    <m:acc>
                      <m:accPr>
                        <m:chr m:val="⃗"/>
                        <m:ctrlPr>
                          <a:rPr lang="en-US" altLang="zh-CN" sz="2000" i="1">
                            <a:solidFill>
                              <a:schemeClr val="tx1"/>
                            </a:solidFill>
                            <a:latin typeface="Cambria Math" charset="0"/>
                          </a:rPr>
                        </m:ctrlPr>
                      </m:accPr>
                      <m:e>
                        <m:r>
                          <a:rPr lang="en-US" altLang="zh-CN" sz="2000" b="0" i="1" smtClean="0">
                            <a:solidFill>
                              <a:schemeClr val="tx1"/>
                            </a:solidFill>
                            <a:latin typeface="Cambria Math" panose="02040503050406030204" pitchFamily="18" charset="0"/>
                          </a:rPr>
                          <m:t>𝑉</m:t>
                        </m:r>
                      </m:e>
                    </m:acc>
                    <m:r>
                      <a:rPr lang="en-US" altLang="zh-CN" sz="2000" i="1" dirty="0">
                        <a:solidFill>
                          <a:schemeClr val="tx1"/>
                        </a:solidFill>
                        <a:latin typeface="Cambria Math" panose="02040503050406030204" pitchFamily="18" charset="0"/>
                      </a:rPr>
                      <m:t>=</m:t>
                    </m:r>
                    <m:d>
                      <m:dPr>
                        <m:ctrlPr>
                          <a:rPr lang="en-US" altLang="zh-CN" sz="2000" i="1" dirty="0" smtClean="0">
                            <a:solidFill>
                              <a:schemeClr val="tx1"/>
                            </a:solidFill>
                            <a:latin typeface="Cambria Math" charset="0"/>
                          </a:rPr>
                        </m:ctrlPr>
                      </m:dPr>
                      <m:e>
                        <m:sSub>
                          <m:sSubPr>
                            <m:ctrlPr>
                              <a:rPr lang="en-US" altLang="zh-CN" sz="2000" i="1" dirty="0" smtClean="0">
                                <a:solidFill>
                                  <a:schemeClr val="tx1"/>
                                </a:solidFill>
                                <a:latin typeface="Cambria Math" charset="0"/>
                              </a:rPr>
                            </m:ctrlPr>
                          </m:sSubPr>
                          <m:e>
                            <m:r>
                              <a:rPr lang="en-US" altLang="zh-CN" sz="2000" b="0" i="1" dirty="0" smtClean="0">
                                <a:solidFill>
                                  <a:schemeClr val="tx1"/>
                                </a:solidFill>
                                <a:latin typeface="Cambria Math" panose="02040503050406030204" pitchFamily="18" charset="0"/>
                              </a:rPr>
                              <m:t>𝑣</m:t>
                            </m:r>
                          </m:e>
                          <m:sub>
                            <m:r>
                              <a:rPr lang="en-US" altLang="zh-CN" sz="2000" b="0" i="1" dirty="0" smtClean="0">
                                <a:solidFill>
                                  <a:schemeClr val="tx1"/>
                                </a:solidFill>
                                <a:latin typeface="Cambria Math" panose="02040503050406030204" pitchFamily="18" charset="0"/>
                              </a:rPr>
                              <m:t>1</m:t>
                            </m:r>
                          </m:sub>
                        </m:sSub>
                        <m:r>
                          <a:rPr lang="en-US" altLang="zh-CN" sz="2000" b="0" i="1" dirty="0" smtClean="0">
                            <a:solidFill>
                              <a:schemeClr val="tx1"/>
                            </a:solidFill>
                            <a:latin typeface="Cambria Math" panose="02040503050406030204" pitchFamily="18" charset="0"/>
                          </a:rPr>
                          <m:t>, </m:t>
                        </m:r>
                        <m:sSub>
                          <m:sSubPr>
                            <m:ctrlPr>
                              <a:rPr lang="en-US" altLang="zh-CN" sz="2000" b="0" i="1" dirty="0" smtClean="0">
                                <a:solidFill>
                                  <a:schemeClr val="tx1"/>
                                </a:solidFill>
                                <a:latin typeface="Cambria Math" charset="0"/>
                              </a:rPr>
                            </m:ctrlPr>
                          </m:sSubPr>
                          <m:e>
                            <m:r>
                              <a:rPr lang="en-US" altLang="zh-CN" sz="2000" b="0" i="1" dirty="0" smtClean="0">
                                <a:solidFill>
                                  <a:schemeClr val="tx1"/>
                                </a:solidFill>
                                <a:latin typeface="Cambria Math" panose="02040503050406030204" pitchFamily="18" charset="0"/>
                              </a:rPr>
                              <m:t>𝑣</m:t>
                            </m:r>
                          </m:e>
                          <m:sub>
                            <m:r>
                              <a:rPr lang="en-US" altLang="zh-CN" sz="2000" b="0" i="1" dirty="0" smtClean="0">
                                <a:solidFill>
                                  <a:schemeClr val="tx1"/>
                                </a:solidFill>
                                <a:latin typeface="Cambria Math" panose="02040503050406030204" pitchFamily="18" charset="0"/>
                              </a:rPr>
                              <m:t>2</m:t>
                            </m:r>
                          </m:sub>
                        </m:sSub>
                        <m:r>
                          <a:rPr lang="en-US" altLang="zh-CN" sz="2000" b="0" i="1" dirty="0" smtClean="0">
                            <a:solidFill>
                              <a:schemeClr val="tx1"/>
                            </a:solidFill>
                            <a:latin typeface="Cambria Math" panose="02040503050406030204" pitchFamily="18" charset="0"/>
                          </a:rPr>
                          <m:t>, …, </m:t>
                        </m:r>
                        <m:sSub>
                          <m:sSubPr>
                            <m:ctrlPr>
                              <a:rPr lang="en-US" altLang="zh-CN" sz="2000" b="0" i="1" dirty="0" smtClean="0">
                                <a:solidFill>
                                  <a:schemeClr val="tx1"/>
                                </a:solidFill>
                                <a:latin typeface="Cambria Math" charset="0"/>
                              </a:rPr>
                            </m:ctrlPr>
                          </m:sSubPr>
                          <m:e>
                            <m:r>
                              <a:rPr lang="en-US" altLang="zh-CN" sz="2000" b="0" i="1" dirty="0" smtClean="0">
                                <a:solidFill>
                                  <a:schemeClr val="tx1"/>
                                </a:solidFill>
                                <a:latin typeface="Cambria Math" panose="02040503050406030204" pitchFamily="18" charset="0"/>
                              </a:rPr>
                              <m:t>𝑣</m:t>
                            </m:r>
                          </m:e>
                          <m:sub>
                            <m:r>
                              <a:rPr lang="zh-CN" altLang="en-US" sz="2000" b="0" i="1" dirty="0" smtClean="0">
                                <a:solidFill>
                                  <a:schemeClr val="tx1"/>
                                </a:solidFill>
                                <a:latin typeface="Cambria Math" panose="02040503050406030204" pitchFamily="18" charset="0"/>
                              </a:rPr>
                              <m:t>𝛽</m:t>
                            </m:r>
                          </m:sub>
                        </m:sSub>
                      </m:e>
                    </m:d>
                  </m:oMath>
                </a14:m>
                <a:r>
                  <a:rPr lang="en-US" altLang="zh-CN" sz="2000" dirty="0" smtClean="0">
                    <a:solidFill>
                      <a:schemeClr val="tx1"/>
                    </a:solidFill>
                  </a:rPr>
                  <a:t> and her acceptable </a:t>
                </a:r>
                <a:r>
                  <a:rPr lang="en-US" altLang="zh-CN" sz="2000" dirty="0" smtClean="0">
                    <a:solidFill>
                      <a:srgbClr val="FF0000"/>
                    </a:solidFill>
                  </a:rPr>
                  <a:t>similarity threshold</a:t>
                </a:r>
                <a:r>
                  <a:rPr lang="en-US" altLang="zh-CN" sz="2000" dirty="0" smtClean="0">
                    <a:solidFill>
                      <a:srgbClr val="FF0000"/>
                    </a:solidFill>
                    <a:latin typeface="Source Sans Pro"/>
                  </a:rPr>
                  <a:t> </a:t>
                </a:r>
                <a14:m>
                  <m:oMath xmlns:m="http://schemas.openxmlformats.org/officeDocument/2006/math">
                    <m:r>
                      <a:rPr lang="zh-CN" altLang="en-US" sz="2000" i="1" smtClean="0">
                        <a:solidFill>
                          <a:srgbClr val="FF0000"/>
                        </a:solidFill>
                        <a:latin typeface="Cambria Math" panose="02040503050406030204" pitchFamily="18" charset="0"/>
                      </a:rPr>
                      <m:t>𝛿</m:t>
                    </m:r>
                  </m:oMath>
                </a14:m>
                <a:r>
                  <a:rPr lang="en-US" altLang="zh-CN" sz="2000" dirty="0" smtClean="0">
                    <a:solidFill>
                      <a:schemeClr val="tx1"/>
                    </a:solidFill>
                  </a:rPr>
                  <a:t>. </a:t>
                </a:r>
              </a:p>
              <a:p>
                <a:pPr marL="342900" indent="-342900">
                  <a:spcAft>
                    <a:spcPts val="600"/>
                  </a:spcAft>
                  <a:buClr>
                    <a:schemeClr val="tx1"/>
                  </a:buClr>
                  <a:buSzPct val="90000"/>
                  <a:buFont typeface="Wingdings" panose="05000000000000000000" pitchFamily="2" charset="2"/>
                  <a:buChar char="l"/>
                </a:pPr>
                <a:r>
                  <a:rPr lang="en-US" altLang="zh-CN" sz="2000" smtClean="0"/>
                  <a:t>Similarity evaluation: </a:t>
                </a:r>
                <a14:m>
                  <m:oMath xmlns:m="http://schemas.openxmlformats.org/officeDocument/2006/math">
                    <m:r>
                      <a:rPr lang="en-US" altLang="zh-CN" sz="2000" b="0" i="1" smtClean="0">
                        <a:solidFill>
                          <a:schemeClr val="tx1"/>
                        </a:solidFill>
                        <a:latin typeface="Cambria Math" panose="02040503050406030204" pitchFamily="18" charset="0"/>
                      </a:rPr>
                      <m:t>𝑓</m:t>
                    </m:r>
                    <m:d>
                      <m:dPr>
                        <m:ctrlPr>
                          <a:rPr lang="en-US" altLang="zh-CN" sz="2000" b="0" i="1" smtClean="0">
                            <a:solidFill>
                              <a:schemeClr val="tx1"/>
                            </a:solidFill>
                            <a:latin typeface="Cambria Math" charset="0"/>
                          </a:rPr>
                        </m:ctrlPr>
                      </m:dPr>
                      <m:e>
                        <m:sSub>
                          <m:sSubPr>
                            <m:ctrlPr>
                              <a:rPr lang="en-US" altLang="zh-CN" sz="2000" i="1" dirty="0">
                                <a:solidFill>
                                  <a:schemeClr val="tx1"/>
                                </a:solidFill>
                                <a:latin typeface="Cambria Math" charset="0"/>
                              </a:rPr>
                            </m:ctrlPr>
                          </m:sSubPr>
                          <m:e>
                            <m:acc>
                              <m:accPr>
                                <m:chr m:val="⃗"/>
                                <m:ctrlPr>
                                  <a:rPr lang="en-US" altLang="zh-CN" sz="2000" i="1">
                                    <a:solidFill>
                                      <a:schemeClr val="tx1"/>
                                    </a:solidFill>
                                    <a:latin typeface="Cambria Math" charset="0"/>
                                  </a:rPr>
                                </m:ctrlPr>
                              </m:accPr>
                              <m:e>
                                <m:r>
                                  <a:rPr lang="en-US" altLang="zh-CN" sz="2000" i="1">
                                    <a:solidFill>
                                      <a:schemeClr val="tx1"/>
                                    </a:solidFill>
                                    <a:latin typeface="Cambria Math" panose="02040503050406030204" pitchFamily="18" charset="0"/>
                                  </a:rPr>
                                  <m:t>𝑈</m:t>
                                </m:r>
                              </m:e>
                            </m:acc>
                          </m:e>
                          <m:sub>
                            <m:r>
                              <a:rPr lang="en-US" altLang="zh-CN" sz="2000" i="1" dirty="0">
                                <a:solidFill>
                                  <a:schemeClr val="tx1"/>
                                </a:solidFill>
                                <a:latin typeface="Cambria Math" panose="02040503050406030204" pitchFamily="18" charset="0"/>
                              </a:rPr>
                              <m:t>𝑖</m:t>
                            </m:r>
                          </m:sub>
                        </m:sSub>
                        <m:r>
                          <a:rPr lang="en-US" altLang="zh-CN" sz="2000" b="0" i="1" dirty="0" smtClean="0">
                            <a:solidFill>
                              <a:schemeClr val="tx1"/>
                            </a:solidFill>
                            <a:latin typeface="Cambria Math" panose="02040503050406030204" pitchFamily="18" charset="0"/>
                          </a:rPr>
                          <m:t>,</m:t>
                        </m:r>
                        <m:acc>
                          <m:accPr>
                            <m:chr m:val="⃗"/>
                            <m:ctrlPr>
                              <a:rPr lang="en-US" altLang="zh-CN" sz="2000" i="1">
                                <a:solidFill>
                                  <a:schemeClr val="tx1"/>
                                </a:solidFill>
                                <a:latin typeface="Cambria Math" charset="0"/>
                              </a:rPr>
                            </m:ctrlPr>
                          </m:accPr>
                          <m:e>
                            <m:r>
                              <a:rPr lang="en-US" altLang="zh-CN" sz="2000" i="1">
                                <a:solidFill>
                                  <a:schemeClr val="tx1"/>
                                </a:solidFill>
                                <a:latin typeface="Cambria Math" panose="02040503050406030204" pitchFamily="18" charset="0"/>
                              </a:rPr>
                              <m:t>𝑉</m:t>
                            </m:r>
                          </m:e>
                        </m:acc>
                      </m:e>
                    </m:d>
                    <m:r>
                      <a:rPr lang="en-US" altLang="zh-CN" sz="2000" b="0" i="0" smtClean="0">
                        <a:solidFill>
                          <a:schemeClr val="tx1"/>
                        </a:solidFill>
                        <a:latin typeface="Cambria Math" panose="02040503050406030204" pitchFamily="18" charset="0"/>
                      </a:rPr>
                      <m:t>=</m:t>
                    </m:r>
                    <m:rad>
                      <m:radPr>
                        <m:degHide m:val="on"/>
                        <m:ctrlPr>
                          <a:rPr lang="en-US" altLang="zh-CN" sz="2000" b="0" i="1" smtClean="0">
                            <a:solidFill>
                              <a:schemeClr val="tx1"/>
                            </a:solidFill>
                            <a:latin typeface="Cambria Math" charset="0"/>
                          </a:rPr>
                        </m:ctrlPr>
                      </m:radPr>
                      <m:deg/>
                      <m:e>
                        <m:nary>
                          <m:naryPr>
                            <m:chr m:val="∑"/>
                            <m:limLoc m:val="subSup"/>
                            <m:ctrlPr>
                              <a:rPr lang="en-US" altLang="zh-CN" sz="2000" b="0" i="1" smtClean="0">
                                <a:solidFill>
                                  <a:schemeClr val="tx1"/>
                                </a:solidFill>
                                <a:latin typeface="Cambria Math" charset="0"/>
                              </a:rPr>
                            </m:ctrlPr>
                          </m:naryPr>
                          <m:sub>
                            <m:r>
                              <m:rPr>
                                <m:brk m:alnAt="25"/>
                              </m:rPr>
                              <a:rPr lang="en-US" altLang="zh-CN" sz="2000" b="0" i="1" smtClean="0">
                                <a:solidFill>
                                  <a:schemeClr val="tx1"/>
                                </a:solidFill>
                                <a:latin typeface="Cambria Math" panose="02040503050406030204" pitchFamily="18" charset="0"/>
                              </a:rPr>
                              <m:t>𝑗</m:t>
                            </m:r>
                            <m:r>
                              <a:rPr lang="en-US" altLang="zh-CN" sz="2000" b="0" i="1" smtClean="0">
                                <a:solidFill>
                                  <a:schemeClr val="tx1"/>
                                </a:solidFill>
                                <a:latin typeface="Cambria Math" panose="02040503050406030204" pitchFamily="18" charset="0"/>
                              </a:rPr>
                              <m:t>=1</m:t>
                            </m:r>
                          </m:sub>
                          <m:sup>
                            <m:r>
                              <a:rPr lang="zh-CN" altLang="en-US" sz="2000" b="0" i="1" smtClean="0">
                                <a:solidFill>
                                  <a:schemeClr val="tx1"/>
                                </a:solidFill>
                                <a:latin typeface="Cambria Math" panose="02040503050406030204" pitchFamily="18" charset="0"/>
                              </a:rPr>
                              <m:t>𝛽</m:t>
                            </m:r>
                          </m:sup>
                          <m:e>
                            <m:sSup>
                              <m:sSupPr>
                                <m:ctrlPr>
                                  <a:rPr lang="en-US" altLang="zh-CN" sz="2000" b="0" i="1" smtClean="0">
                                    <a:solidFill>
                                      <a:schemeClr val="tx1"/>
                                    </a:solidFill>
                                    <a:latin typeface="Cambria Math" charset="0"/>
                                  </a:rPr>
                                </m:ctrlPr>
                              </m:sSupPr>
                              <m:e>
                                <m:d>
                                  <m:dPr>
                                    <m:ctrlPr>
                                      <a:rPr lang="en-US" altLang="zh-CN" sz="2000" b="0" i="1" smtClean="0">
                                        <a:solidFill>
                                          <a:schemeClr val="tx1"/>
                                        </a:solidFill>
                                        <a:latin typeface="Cambria Math" charset="0"/>
                                      </a:rPr>
                                    </m:ctrlPr>
                                  </m:dPr>
                                  <m:e>
                                    <m:sSub>
                                      <m:sSubPr>
                                        <m:ctrlPr>
                                          <a:rPr lang="en-US" altLang="zh-CN" sz="2000" b="0" i="1" smtClean="0">
                                            <a:solidFill>
                                              <a:schemeClr val="tx1"/>
                                            </a:solidFill>
                                            <a:latin typeface="Cambria Math" charset="0"/>
                                          </a:rPr>
                                        </m:ctrlPr>
                                      </m:sSubPr>
                                      <m:e>
                                        <m:r>
                                          <a:rPr lang="en-US" altLang="zh-CN" sz="2000" b="0" i="1" smtClean="0">
                                            <a:solidFill>
                                              <a:schemeClr val="tx1"/>
                                            </a:solidFill>
                                            <a:latin typeface="Cambria Math" panose="02040503050406030204" pitchFamily="18" charset="0"/>
                                          </a:rPr>
                                          <m:t>𝑢</m:t>
                                        </m:r>
                                      </m:e>
                                      <m:sub>
                                        <m:r>
                                          <a:rPr lang="en-US" altLang="zh-CN" sz="2000" b="0" i="1" smtClean="0">
                                            <a:solidFill>
                                              <a:schemeClr val="tx1"/>
                                            </a:solidFill>
                                            <a:latin typeface="Cambria Math" panose="02040503050406030204" pitchFamily="18" charset="0"/>
                                          </a:rPr>
                                          <m:t>𝑖𝑗</m:t>
                                        </m:r>
                                      </m:sub>
                                    </m:sSub>
                                    <m:r>
                                      <a:rPr lang="en-US" altLang="zh-CN" sz="2000" b="0" i="1" smtClean="0">
                                        <a:solidFill>
                                          <a:schemeClr val="tx1"/>
                                        </a:solidFill>
                                        <a:latin typeface="Cambria Math" panose="02040503050406030204" pitchFamily="18" charset="0"/>
                                      </a:rPr>
                                      <m:t>−</m:t>
                                    </m:r>
                                    <m:sSub>
                                      <m:sSubPr>
                                        <m:ctrlPr>
                                          <a:rPr lang="en-US" altLang="zh-CN" sz="2000" b="0" i="1" smtClean="0">
                                            <a:solidFill>
                                              <a:schemeClr val="tx1"/>
                                            </a:solidFill>
                                            <a:latin typeface="Cambria Math" charset="0"/>
                                          </a:rPr>
                                        </m:ctrlPr>
                                      </m:sSubPr>
                                      <m:e>
                                        <m:r>
                                          <a:rPr lang="en-US" altLang="zh-CN" sz="2000" b="0" i="1" smtClean="0">
                                            <a:solidFill>
                                              <a:schemeClr val="tx1"/>
                                            </a:solidFill>
                                            <a:latin typeface="Cambria Math" panose="02040503050406030204" pitchFamily="18" charset="0"/>
                                          </a:rPr>
                                          <m:t>𝑣</m:t>
                                        </m:r>
                                      </m:e>
                                      <m:sub>
                                        <m:r>
                                          <a:rPr lang="en-US" altLang="zh-CN" sz="2000" b="0" i="1" smtClean="0">
                                            <a:solidFill>
                                              <a:schemeClr val="tx1"/>
                                            </a:solidFill>
                                            <a:latin typeface="Cambria Math" panose="02040503050406030204" pitchFamily="18" charset="0"/>
                                          </a:rPr>
                                          <m:t>𝑗</m:t>
                                        </m:r>
                                      </m:sub>
                                    </m:sSub>
                                  </m:e>
                                </m:d>
                              </m:e>
                              <m:sup>
                                <m:r>
                                  <a:rPr lang="en-US" altLang="zh-CN" sz="2000" b="0" i="1" smtClean="0">
                                    <a:solidFill>
                                      <a:schemeClr val="tx1"/>
                                    </a:solidFill>
                                    <a:latin typeface="Cambria Math" panose="02040503050406030204" pitchFamily="18" charset="0"/>
                                  </a:rPr>
                                  <m:t>2</m:t>
                                </m:r>
                              </m:sup>
                            </m:sSup>
                          </m:e>
                        </m:nary>
                      </m:e>
                    </m:rad>
                  </m:oMath>
                </a14:m>
                <a:r>
                  <a:rPr lang="en-US" altLang="zh-CN" sz="2000" dirty="0" smtClean="0">
                    <a:solidFill>
                      <a:schemeClr val="tx1"/>
                    </a:solidFill>
                  </a:rPr>
                  <a:t>.</a:t>
                </a:r>
              </a:p>
            </p:txBody>
          </p:sp>
        </mc:Choice>
        <mc:Fallback xmlns="">
          <p:sp>
            <p:nvSpPr>
              <p:cNvPr id="10" name="文本框 9"/>
              <p:cNvSpPr txBox="1">
                <a:spLocks noRot="1" noChangeAspect="1" noMove="1" noResize="1" noEditPoints="1" noAdjustHandles="1" noChangeArrowheads="1" noChangeShapeType="1" noTextEdit="1"/>
              </p:cNvSpPr>
              <p:nvPr/>
            </p:nvSpPr>
            <p:spPr>
              <a:xfrm>
                <a:off x="436604" y="4714027"/>
                <a:ext cx="8707396" cy="2039469"/>
              </a:xfrm>
              <a:prstGeom prst="rect">
                <a:avLst/>
              </a:prstGeom>
              <a:blipFill>
                <a:blip r:embed="rId4"/>
                <a:stretch>
                  <a:fillRect l="-490" t="-1493"/>
                </a:stretch>
              </a:blipFill>
            </p:spPr>
            <p:txBody>
              <a:bodyPr/>
              <a:lstStyle/>
              <a:p>
                <a:r>
                  <a:rPr lang="zh-CN" altLang="en-US">
                    <a:noFill/>
                  </a:rPr>
                  <a:t> </a:t>
                </a:r>
              </a:p>
            </p:txBody>
          </p:sp>
        </mc:Fallback>
      </mc:AlternateContent>
      <p:sp>
        <p:nvSpPr>
          <p:cNvPr id="8"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06</a:t>
            </a:r>
            <a:endParaRPr lang="en-US" sz="1100" dirty="0">
              <a:solidFill>
                <a:schemeClr val="bg1"/>
              </a:solidFill>
            </a:endParaRPr>
          </a:p>
        </p:txBody>
      </p:sp>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2000" y="1135733"/>
            <a:ext cx="8280000" cy="2955791"/>
          </a:xfrm>
          <a:prstGeom prst="rect">
            <a:avLst/>
          </a:prstGeom>
        </p:spPr>
      </p:pic>
    </p:spTree>
    <p:extLst>
      <p:ext uri="{BB962C8B-B14F-4D97-AF65-F5344CB8AC3E}">
        <p14:creationId xmlns:p14="http://schemas.microsoft.com/office/powerpoint/2010/main" val="357265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Design of TPDM</a:t>
            </a:r>
            <a:endParaRPr lang="en-US" sz="3400" dirty="0"/>
          </a:p>
        </p:txBody>
      </p:sp>
      <p:pic>
        <p:nvPicPr>
          <p:cNvPr id="83" name="图片 82"/>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59" name="Rectangle 7"/>
          <p:cNvSpPr/>
          <p:nvPr/>
        </p:nvSpPr>
        <p:spPr>
          <a:xfrm>
            <a:off x="0" y="2053944"/>
            <a:ext cx="60959" cy="375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prstClr val="white"/>
              </a:solidFill>
            </a:endParaRPr>
          </a:p>
        </p:txBody>
      </p:sp>
      <p:sp>
        <p:nvSpPr>
          <p:cNvPr id="60" name="Freeform 4"/>
          <p:cNvSpPr>
            <a:spLocks noEditPoints="1"/>
          </p:cNvSpPr>
          <p:nvPr/>
        </p:nvSpPr>
        <p:spPr bwMode="gray">
          <a:xfrm rot="20241944">
            <a:off x="2302178" y="2653806"/>
            <a:ext cx="6277435" cy="2827242"/>
          </a:xfrm>
          <a:custGeom>
            <a:avLst/>
            <a:gdLst>
              <a:gd name="T0" fmla="*/ 1692 w 4040"/>
              <a:gd name="T1" fmla="*/ 12 h 1888"/>
              <a:gd name="T2" fmla="*/ 1234 w 4040"/>
              <a:gd name="T3" fmla="*/ 74 h 1888"/>
              <a:gd name="T4" fmla="*/ 828 w 4040"/>
              <a:gd name="T5" fmla="*/ 182 h 1888"/>
              <a:gd name="T6" fmla="*/ 486 w 4040"/>
              <a:gd name="T7" fmla="*/ 330 h 1888"/>
              <a:gd name="T8" fmla="*/ 226 w 4040"/>
              <a:gd name="T9" fmla="*/ 510 h 1888"/>
              <a:gd name="T10" fmla="*/ 58 w 4040"/>
              <a:gd name="T11" fmla="*/ 718 h 1888"/>
              <a:gd name="T12" fmla="*/ 0 w 4040"/>
              <a:gd name="T13" fmla="*/ 944 h 1888"/>
              <a:gd name="T14" fmla="*/ 58 w 4040"/>
              <a:gd name="T15" fmla="*/ 1170 h 1888"/>
              <a:gd name="T16" fmla="*/ 226 w 4040"/>
              <a:gd name="T17" fmla="*/ 1378 h 1888"/>
              <a:gd name="T18" fmla="*/ 486 w 4040"/>
              <a:gd name="T19" fmla="*/ 1558 h 1888"/>
              <a:gd name="T20" fmla="*/ 828 w 4040"/>
              <a:gd name="T21" fmla="*/ 1706 h 1888"/>
              <a:gd name="T22" fmla="*/ 1234 w 4040"/>
              <a:gd name="T23" fmla="*/ 1814 h 1888"/>
              <a:gd name="T24" fmla="*/ 1692 w 4040"/>
              <a:gd name="T25" fmla="*/ 1876 h 1888"/>
              <a:gd name="T26" fmla="*/ 2186 w 4040"/>
              <a:gd name="T27" fmla="*/ 1884 h 1888"/>
              <a:gd name="T28" fmla="*/ 2658 w 4040"/>
              <a:gd name="T29" fmla="*/ 1840 h 1888"/>
              <a:gd name="T30" fmla="*/ 3084 w 4040"/>
              <a:gd name="T31" fmla="*/ 1746 h 1888"/>
              <a:gd name="T32" fmla="*/ 3448 w 4040"/>
              <a:gd name="T33" fmla="*/ 1612 h 1888"/>
              <a:gd name="T34" fmla="*/ 3738 w 4040"/>
              <a:gd name="T35" fmla="*/ 1442 h 1888"/>
              <a:gd name="T36" fmla="*/ 3938 w 4040"/>
              <a:gd name="T37" fmla="*/ 1242 h 1888"/>
              <a:gd name="T38" fmla="*/ 4034 w 4040"/>
              <a:gd name="T39" fmla="*/ 1022 h 1888"/>
              <a:gd name="T40" fmla="*/ 4014 w 4040"/>
              <a:gd name="T41" fmla="*/ 790 h 1888"/>
              <a:gd name="T42" fmla="*/ 3882 w 4040"/>
              <a:gd name="T43" fmla="*/ 576 h 1888"/>
              <a:gd name="T44" fmla="*/ 3650 w 4040"/>
              <a:gd name="T45" fmla="*/ 386 h 1888"/>
              <a:gd name="T46" fmla="*/ 3334 w 4040"/>
              <a:gd name="T47" fmla="*/ 228 h 1888"/>
              <a:gd name="T48" fmla="*/ 2948 w 4040"/>
              <a:gd name="T49" fmla="*/ 106 h 1888"/>
              <a:gd name="T50" fmla="*/ 2506 w 4040"/>
              <a:gd name="T51" fmla="*/ 28 h 1888"/>
              <a:gd name="T52" fmla="*/ 2020 w 4040"/>
              <a:gd name="T53" fmla="*/ 0 h 1888"/>
              <a:gd name="T54" fmla="*/ 1606 w 4040"/>
              <a:gd name="T55" fmla="*/ 1736 h 1888"/>
              <a:gd name="T56" fmla="*/ 1164 w 4040"/>
              <a:gd name="T57" fmla="*/ 1678 h 1888"/>
              <a:gd name="T58" fmla="*/ 776 w 4040"/>
              <a:gd name="T59" fmla="*/ 1576 h 1888"/>
              <a:gd name="T60" fmla="*/ 458 w 4040"/>
              <a:gd name="T61" fmla="*/ 1436 h 1888"/>
              <a:gd name="T62" fmla="*/ 224 w 4040"/>
              <a:gd name="T63" fmla="*/ 1266 h 1888"/>
              <a:gd name="T64" fmla="*/ 88 w 4040"/>
              <a:gd name="T65" fmla="*/ 1074 h 1888"/>
              <a:gd name="T66" fmla="*/ 68 w 4040"/>
              <a:gd name="T67" fmla="*/ 864 h 1888"/>
              <a:gd name="T68" fmla="*/ 166 w 4040"/>
              <a:gd name="T69" fmla="*/ 664 h 1888"/>
              <a:gd name="T70" fmla="*/ 370 w 4040"/>
              <a:gd name="T71" fmla="*/ 486 h 1888"/>
              <a:gd name="T72" fmla="*/ 662 w 4040"/>
              <a:gd name="T73" fmla="*/ 336 h 1888"/>
              <a:gd name="T74" fmla="*/ 1028 w 4040"/>
              <a:gd name="T75" fmla="*/ 222 h 1888"/>
              <a:gd name="T76" fmla="*/ 1454 w 4040"/>
              <a:gd name="T77" fmla="*/ 148 h 1888"/>
              <a:gd name="T78" fmla="*/ 1922 w 4040"/>
              <a:gd name="T79" fmla="*/ 120 h 1888"/>
              <a:gd name="T80" fmla="*/ 2392 w 4040"/>
              <a:gd name="T81" fmla="*/ 148 h 1888"/>
              <a:gd name="T82" fmla="*/ 2818 w 4040"/>
              <a:gd name="T83" fmla="*/ 222 h 1888"/>
              <a:gd name="T84" fmla="*/ 3184 w 4040"/>
              <a:gd name="T85" fmla="*/ 336 h 1888"/>
              <a:gd name="T86" fmla="*/ 3476 w 4040"/>
              <a:gd name="T87" fmla="*/ 486 h 1888"/>
              <a:gd name="T88" fmla="*/ 3680 w 4040"/>
              <a:gd name="T89" fmla="*/ 664 h 1888"/>
              <a:gd name="T90" fmla="*/ 3778 w 4040"/>
              <a:gd name="T91" fmla="*/ 864 h 1888"/>
              <a:gd name="T92" fmla="*/ 3758 w 4040"/>
              <a:gd name="T93" fmla="*/ 1074 h 1888"/>
              <a:gd name="T94" fmla="*/ 3622 w 4040"/>
              <a:gd name="T95" fmla="*/ 1266 h 1888"/>
              <a:gd name="T96" fmla="*/ 3388 w 4040"/>
              <a:gd name="T97" fmla="*/ 1436 h 1888"/>
              <a:gd name="T98" fmla="*/ 3070 w 4040"/>
              <a:gd name="T99" fmla="*/ 1576 h 1888"/>
              <a:gd name="T100" fmla="*/ 2682 w 4040"/>
              <a:gd name="T101" fmla="*/ 1678 h 1888"/>
              <a:gd name="T102" fmla="*/ 2240 w 4040"/>
              <a:gd name="T103" fmla="*/ 1736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rgbClr val="DDDDDD">
                  <a:gamma/>
                  <a:tint val="30196"/>
                  <a:invGamma/>
                  <a:alpha val="36000"/>
                </a:srgbClr>
              </a:gs>
              <a:gs pos="100000">
                <a:srgbClr val="D9D9D9"/>
              </a:gs>
            </a:gsLst>
            <a:lin ang="0" scaled="1"/>
          </a:gradFill>
          <a:ln>
            <a:noFill/>
          </a:ln>
          <a:extLst/>
        </p:spPr>
        <p:txBody>
          <a:bodyPr/>
          <a:lstStyle/>
          <a:p>
            <a:pPr>
              <a:defRPr/>
            </a:pPr>
            <a:endParaRPr lang="en-US" kern="0" smtClean="0">
              <a:solidFill>
                <a:srgbClr val="000000"/>
              </a:solidFill>
            </a:endParaRPr>
          </a:p>
        </p:txBody>
      </p:sp>
      <p:sp>
        <p:nvSpPr>
          <p:cNvPr id="61" name="Oval 8"/>
          <p:cNvSpPr>
            <a:spLocks noChangeArrowheads="1"/>
          </p:cNvSpPr>
          <p:nvPr/>
        </p:nvSpPr>
        <p:spPr bwMode="gray">
          <a:xfrm rot="20056323">
            <a:off x="4865273" y="5682763"/>
            <a:ext cx="1066800" cy="304800"/>
          </a:xfrm>
          <a:prstGeom prst="ellipse">
            <a:avLst/>
          </a:prstGeom>
          <a:gradFill rotWithShape="1">
            <a:gsLst>
              <a:gs pos="0">
                <a:srgbClr val="5F5F5F"/>
              </a:gs>
              <a:gs pos="100000">
                <a:srgbClr val="84A5C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kern="0" smtClean="0">
              <a:solidFill>
                <a:srgbClr val="000000"/>
              </a:solidFill>
            </a:endParaRPr>
          </a:p>
        </p:txBody>
      </p:sp>
      <p:sp>
        <p:nvSpPr>
          <p:cNvPr id="62" name="Oval 9"/>
          <p:cNvSpPr>
            <a:spLocks noChangeArrowheads="1"/>
          </p:cNvSpPr>
          <p:nvPr/>
        </p:nvSpPr>
        <p:spPr bwMode="gray">
          <a:xfrm rot="20056323">
            <a:off x="2758787" y="4278244"/>
            <a:ext cx="1066800" cy="304800"/>
          </a:xfrm>
          <a:prstGeom prst="ellipse">
            <a:avLst/>
          </a:prstGeom>
          <a:gradFill rotWithShape="1">
            <a:gsLst>
              <a:gs pos="0">
                <a:srgbClr val="5F5F5F"/>
              </a:gs>
              <a:gs pos="100000">
                <a:srgbClr val="84A5C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kern="0" smtClean="0">
              <a:solidFill>
                <a:srgbClr val="000000"/>
              </a:solidFill>
            </a:endParaRPr>
          </a:p>
        </p:txBody>
      </p:sp>
      <p:sp>
        <p:nvSpPr>
          <p:cNvPr id="63" name="Oval 11"/>
          <p:cNvSpPr>
            <a:spLocks noChangeArrowheads="1"/>
          </p:cNvSpPr>
          <p:nvPr/>
        </p:nvSpPr>
        <p:spPr bwMode="gray">
          <a:xfrm>
            <a:off x="2260003" y="3565764"/>
            <a:ext cx="1141413" cy="1101726"/>
          </a:xfrm>
          <a:prstGeom prst="ellipse">
            <a:avLst/>
          </a:prstGeom>
          <a:gradFill flip="none" rotWithShape="1">
            <a:gsLst>
              <a:gs pos="0">
                <a:schemeClr val="bg1"/>
              </a:gs>
              <a:gs pos="35000">
                <a:schemeClr val="accent4">
                  <a:lumMod val="0"/>
                  <a:lumOff val="100000"/>
                </a:schemeClr>
              </a:gs>
              <a:gs pos="100000">
                <a:srgbClr val="1B6AA3"/>
              </a:gs>
            </a:gsLst>
            <a:path path="circle">
              <a:fillToRect l="50000" t="-80000" r="50000" b="180000"/>
            </a:path>
            <a:tileRect/>
          </a:gradFill>
          <a:ln>
            <a:noFill/>
          </a:ln>
          <a:effectLst/>
          <a:extLst/>
        </p:spPr>
        <p:txBody>
          <a:bodyPr wrap="none" anchor="ctr"/>
          <a:lstStyle/>
          <a:p>
            <a:pPr algn="ctr">
              <a:defRPr/>
            </a:pPr>
            <a:endParaRPr lang="en-US" kern="0" dirty="0" smtClean="0">
              <a:solidFill>
                <a:srgbClr val="000000"/>
              </a:solidFill>
              <a:latin typeface="Source Sans Pro"/>
            </a:endParaRPr>
          </a:p>
        </p:txBody>
      </p:sp>
      <p:sp>
        <p:nvSpPr>
          <p:cNvPr id="64" name="Oval 13"/>
          <p:cNvSpPr>
            <a:spLocks noChangeArrowheads="1"/>
          </p:cNvSpPr>
          <p:nvPr/>
        </p:nvSpPr>
        <p:spPr bwMode="gray">
          <a:xfrm>
            <a:off x="4190277" y="5012217"/>
            <a:ext cx="1141413" cy="1101726"/>
          </a:xfrm>
          <a:prstGeom prst="ellipse">
            <a:avLst/>
          </a:prstGeom>
          <a:gradFill flip="none" rotWithShape="1">
            <a:gsLst>
              <a:gs pos="0">
                <a:schemeClr val="accent5">
                  <a:lumMod val="0"/>
                  <a:lumOff val="100000"/>
                </a:schemeClr>
              </a:gs>
              <a:gs pos="35000">
                <a:schemeClr val="accent5">
                  <a:lumMod val="0"/>
                  <a:lumOff val="100000"/>
                </a:schemeClr>
              </a:gs>
              <a:gs pos="100000">
                <a:srgbClr val="5AAAE4"/>
              </a:gs>
            </a:gsLst>
            <a:path path="circle">
              <a:fillToRect l="50000" t="-80000" r="50000" b="180000"/>
            </a:path>
            <a:tileRect/>
          </a:gradFill>
          <a:ln>
            <a:noFill/>
          </a:ln>
          <a:effectLst/>
          <a:extLst/>
        </p:spPr>
        <p:txBody>
          <a:bodyPr wrap="none" anchor="ctr"/>
          <a:lstStyle/>
          <a:p>
            <a:pPr algn="ctr">
              <a:defRPr/>
            </a:pPr>
            <a:endParaRPr lang="en-US" kern="0" smtClean="0">
              <a:solidFill>
                <a:srgbClr val="000000"/>
              </a:solidFill>
            </a:endParaRPr>
          </a:p>
        </p:txBody>
      </p:sp>
      <p:sp>
        <p:nvSpPr>
          <p:cNvPr id="65" name="Line 21"/>
          <p:cNvSpPr>
            <a:spLocks noChangeShapeType="1"/>
          </p:cNvSpPr>
          <p:nvPr/>
        </p:nvSpPr>
        <p:spPr bwMode="gray">
          <a:xfrm>
            <a:off x="2846894" y="2527200"/>
            <a:ext cx="1338263" cy="1366838"/>
          </a:xfrm>
          <a:prstGeom prst="line">
            <a:avLst/>
          </a:prstGeom>
          <a:noFill/>
          <a:ln w="22225">
            <a:solidFill>
              <a:schemeClr val="accent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en-US" kern="0" smtClean="0">
              <a:solidFill>
                <a:srgbClr val="000000"/>
              </a:solidFill>
            </a:endParaRPr>
          </a:p>
        </p:txBody>
      </p:sp>
      <p:cxnSp>
        <p:nvCxnSpPr>
          <p:cNvPr id="66" name="AutoShape 22"/>
          <p:cNvCxnSpPr>
            <a:cxnSpLocks noChangeShapeType="1"/>
          </p:cNvCxnSpPr>
          <p:nvPr/>
        </p:nvCxnSpPr>
        <p:spPr bwMode="gray">
          <a:xfrm flipH="1">
            <a:off x="1132393" y="2527200"/>
            <a:ext cx="1725613" cy="0"/>
          </a:xfrm>
          <a:prstGeom prst="straightConnector1">
            <a:avLst/>
          </a:prstGeom>
          <a:noFill/>
          <a:ln w="22225">
            <a:solidFill>
              <a:schemeClr val="accent2">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cxnSp>
      <p:sp>
        <p:nvSpPr>
          <p:cNvPr id="67" name="Oval 5"/>
          <p:cNvSpPr>
            <a:spLocks noChangeArrowheads="1"/>
          </p:cNvSpPr>
          <p:nvPr/>
        </p:nvSpPr>
        <p:spPr bwMode="gray">
          <a:xfrm rot="20056323">
            <a:off x="6113257" y="2395477"/>
            <a:ext cx="1066800" cy="304800"/>
          </a:xfrm>
          <a:prstGeom prst="ellipse">
            <a:avLst/>
          </a:prstGeom>
          <a:gradFill rotWithShape="1">
            <a:gsLst>
              <a:gs pos="0">
                <a:srgbClr val="5F5F5F"/>
              </a:gs>
              <a:gs pos="100000">
                <a:srgbClr val="84A5C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kern="0" smtClean="0">
              <a:solidFill>
                <a:srgbClr val="000000"/>
              </a:solidFill>
            </a:endParaRPr>
          </a:p>
        </p:txBody>
      </p:sp>
      <p:sp>
        <p:nvSpPr>
          <p:cNvPr id="68" name="Oval 10"/>
          <p:cNvSpPr>
            <a:spLocks noChangeArrowheads="1"/>
          </p:cNvSpPr>
          <p:nvPr/>
        </p:nvSpPr>
        <p:spPr bwMode="gray">
          <a:xfrm>
            <a:off x="5554596" y="1742145"/>
            <a:ext cx="1143000" cy="1101725"/>
          </a:xfrm>
          <a:prstGeom prst="ellipse">
            <a:avLst/>
          </a:prstGeom>
          <a:gradFill flip="none" rotWithShape="1">
            <a:gsLst>
              <a:gs pos="0">
                <a:schemeClr val="accent3">
                  <a:lumMod val="0"/>
                  <a:lumOff val="100000"/>
                </a:schemeClr>
              </a:gs>
              <a:gs pos="35000">
                <a:schemeClr val="accent3">
                  <a:lumMod val="0"/>
                  <a:lumOff val="100000"/>
                </a:schemeClr>
              </a:gs>
              <a:gs pos="100000">
                <a:srgbClr val="5AAAE4"/>
              </a:gs>
            </a:gsLst>
            <a:path path="circle">
              <a:fillToRect l="50000" t="-80000" r="50000" b="180000"/>
            </a:path>
            <a:tileRect/>
          </a:gradFill>
          <a:ln>
            <a:noFill/>
          </a:ln>
          <a:effectLst/>
        </p:spPr>
        <p:txBody>
          <a:bodyPr wrap="none" anchor="ctr"/>
          <a:lstStyle/>
          <a:p>
            <a:pPr algn="ctr">
              <a:defRPr/>
            </a:pPr>
            <a:endParaRPr lang="en-US" kern="0" dirty="0" smtClean="0">
              <a:solidFill>
                <a:srgbClr val="000000"/>
              </a:solidFill>
              <a:latin typeface="Source Sans Pro"/>
            </a:endParaRPr>
          </a:p>
        </p:txBody>
      </p:sp>
      <p:sp>
        <p:nvSpPr>
          <p:cNvPr id="69" name="文本框 68"/>
          <p:cNvSpPr txBox="1"/>
          <p:nvPr/>
        </p:nvSpPr>
        <p:spPr>
          <a:xfrm>
            <a:off x="4867911" y="1118811"/>
            <a:ext cx="2516370" cy="461665"/>
          </a:xfrm>
          <a:prstGeom prst="rect">
            <a:avLst/>
          </a:prstGeom>
          <a:noFill/>
        </p:spPr>
        <p:txBody>
          <a:bodyPr wrap="square" rtlCol="0" anchor="ctr" anchorCtr="0">
            <a:spAutoFit/>
          </a:bodyPr>
          <a:lstStyle/>
          <a:p>
            <a:pPr algn="ctr"/>
            <a:r>
              <a:rPr lang="en-US" sz="2400" dirty="0" smtClean="0">
                <a:solidFill>
                  <a:srgbClr val="5AAAE4"/>
                </a:solidFill>
              </a:rPr>
              <a:t>Batch Verification</a:t>
            </a:r>
          </a:p>
        </p:txBody>
      </p:sp>
      <p:sp>
        <p:nvSpPr>
          <p:cNvPr id="70" name="AutoShape 113"/>
          <p:cNvSpPr>
            <a:spLocks/>
          </p:cNvSpPr>
          <p:nvPr/>
        </p:nvSpPr>
        <p:spPr bwMode="auto">
          <a:xfrm>
            <a:off x="7173516" y="2053175"/>
            <a:ext cx="315693" cy="46024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rgbClr val="7EBDEA"/>
          </a:solidFill>
          <a:ln>
            <a:noFill/>
          </a:ln>
          <a:effectLst/>
          <a:extLst>
            <a:ext uri="{91240B29-F687-4f45-9708-019B960494DF}"/>
            <a:ext uri="{AF507438-7753-43e0-B8FC-AC1667EBCBE1}"/>
          </a:ex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ndParaRPr>
          </a:p>
        </p:txBody>
      </p:sp>
      <p:sp>
        <p:nvSpPr>
          <p:cNvPr id="71" name="文本框 70"/>
          <p:cNvSpPr txBox="1"/>
          <p:nvPr/>
        </p:nvSpPr>
        <p:spPr>
          <a:xfrm>
            <a:off x="2303938" y="6224882"/>
            <a:ext cx="3168103" cy="461665"/>
          </a:xfrm>
          <a:prstGeom prst="rect">
            <a:avLst/>
          </a:prstGeom>
          <a:noFill/>
        </p:spPr>
        <p:txBody>
          <a:bodyPr wrap="square" rtlCol="0">
            <a:spAutoFit/>
          </a:bodyPr>
          <a:lstStyle/>
          <a:p>
            <a:pPr algn="ctr"/>
            <a:r>
              <a:rPr lang="en-US" sz="2400" dirty="0" smtClean="0">
                <a:solidFill>
                  <a:srgbClr val="5AAAE4"/>
                </a:solidFill>
              </a:rPr>
              <a:t>Identity Preservation</a:t>
            </a:r>
          </a:p>
        </p:txBody>
      </p:sp>
      <mc:AlternateContent xmlns:mc="http://schemas.openxmlformats.org/markup-compatibility/2006" xmlns:a14="http://schemas.microsoft.com/office/drawing/2010/main">
        <mc:Choice Requires="a14">
          <p:sp>
            <p:nvSpPr>
              <p:cNvPr id="72" name="文本框 71"/>
              <p:cNvSpPr txBox="1"/>
              <p:nvPr/>
            </p:nvSpPr>
            <p:spPr>
              <a:xfrm>
                <a:off x="5358392" y="2889256"/>
                <a:ext cx="3718011" cy="1268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rgbClr val="FF0000"/>
                          </a:solidFill>
                          <a:latin typeface="Cambria Math" panose="02040503050406030204" pitchFamily="18" charset="0"/>
                        </a:rPr>
                        <m:t>      </m:t>
                      </m:r>
                      <m:acc>
                        <m:accPr>
                          <m:chr m:val="̂"/>
                          <m:ctrlPr>
                            <a:rPr lang="en-US" altLang="zh-CN" sz="1400" b="1" i="1" smtClean="0">
                              <a:solidFill>
                                <a:srgbClr val="FF0000"/>
                              </a:solidFill>
                              <a:latin typeface="Cambria Math" charset="0"/>
                            </a:rPr>
                          </m:ctrlPr>
                        </m:accPr>
                        <m:e>
                          <m:r>
                            <a:rPr lang="en-US" altLang="zh-CN" sz="1400" b="1" i="1">
                              <a:solidFill>
                                <a:srgbClr val="FF0000"/>
                              </a:solidFill>
                              <a:latin typeface="Cambria Math" panose="02040503050406030204" pitchFamily="18" charset="0"/>
                            </a:rPr>
                            <m:t>𝒆</m:t>
                          </m:r>
                        </m:e>
                      </m:acc>
                      <m:d>
                        <m:dPr>
                          <m:ctrlPr>
                            <a:rPr lang="en-US" altLang="zh-CN" sz="1400" b="1" i="1">
                              <a:solidFill>
                                <a:schemeClr val="tx1"/>
                              </a:solidFill>
                              <a:latin typeface="Cambria Math" charset="0"/>
                            </a:rPr>
                          </m:ctrlPr>
                        </m:dPr>
                        <m:e>
                          <m:nary>
                            <m:naryPr>
                              <m:chr m:val="∏"/>
                              <m:ctrlPr>
                                <a:rPr lang="en-US" altLang="zh-CN" sz="1400" b="1" i="1">
                                  <a:solidFill>
                                    <a:schemeClr val="tx1"/>
                                  </a:solidFill>
                                  <a:latin typeface="Cambria Math" charset="0"/>
                                </a:rPr>
                              </m:ctrlPr>
                            </m:naryPr>
                            <m:sub>
                              <m:r>
                                <m:rPr>
                                  <m:brk m:alnAt="23"/>
                                </m:rPr>
                                <a:rPr lang="en-US" altLang="zh-CN" sz="1400" b="1" i="1">
                                  <a:solidFill>
                                    <a:schemeClr val="tx1"/>
                                  </a:solidFill>
                                  <a:latin typeface="Cambria Math" panose="02040503050406030204" pitchFamily="18" charset="0"/>
                                </a:rPr>
                                <m:t>𝒊</m:t>
                              </m:r>
                              <m:r>
                                <a:rPr lang="en-US" altLang="zh-CN" sz="1400" b="1"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𝟏</m:t>
                              </m:r>
                            </m:sub>
                            <m:sup>
                              <m:r>
                                <a:rPr lang="en-US" altLang="zh-CN" sz="1400" b="1" i="1">
                                  <a:solidFill>
                                    <a:schemeClr val="tx1"/>
                                  </a:solidFill>
                                  <a:latin typeface="Cambria Math" panose="02040503050406030204" pitchFamily="18" charset="0"/>
                                </a:rPr>
                                <m:t>𝒏</m:t>
                              </m:r>
                            </m:sup>
                            <m:e>
                              <m:sSub>
                                <m:sSubPr>
                                  <m:ctrlPr>
                                    <a:rPr lang="en-US" altLang="zh-CN" sz="1400" b="1" i="1">
                                      <a:solidFill>
                                        <a:schemeClr val="tx1"/>
                                      </a:solidFill>
                                      <a:latin typeface="Cambria Math" charset="0"/>
                                    </a:rPr>
                                  </m:ctrlPr>
                                </m:sSubPr>
                                <m:e>
                                  <m:r>
                                    <a:rPr lang="zh-CN" altLang="en-US" sz="1400" b="1" i="1">
                                      <a:solidFill>
                                        <a:schemeClr val="tx1"/>
                                      </a:solidFill>
                                      <a:latin typeface="Cambria Math" panose="02040503050406030204" pitchFamily="18" charset="0"/>
                                    </a:rPr>
                                    <m:t>𝝈</m:t>
                                  </m:r>
                                </m:e>
                                <m:sub>
                                  <m:r>
                                    <a:rPr lang="en-US" altLang="zh-CN" sz="1400" b="1" i="1">
                                      <a:solidFill>
                                        <a:schemeClr val="tx1"/>
                                      </a:solidFill>
                                      <a:latin typeface="Cambria Math" panose="02040503050406030204" pitchFamily="18" charset="0"/>
                                    </a:rPr>
                                    <m:t>𝒊</m:t>
                                  </m:r>
                                </m:sub>
                              </m:sSub>
                            </m:e>
                          </m:nary>
                          <m:r>
                            <a:rPr lang="en-US" altLang="zh-CN" sz="1400" b="1" i="1">
                              <a:solidFill>
                                <a:schemeClr val="tx1"/>
                              </a:solidFill>
                              <a:latin typeface="Cambria Math" panose="02040503050406030204" pitchFamily="18" charset="0"/>
                            </a:rPr>
                            <m:t>, </m:t>
                          </m:r>
                          <m:sSub>
                            <m:sSubPr>
                              <m:ctrlPr>
                                <a:rPr lang="en-US" altLang="zh-CN" sz="1400" b="1" i="1">
                                  <a:solidFill>
                                    <a:schemeClr val="tx1"/>
                                  </a:solidFill>
                                  <a:latin typeface="Cambria Math" charset="0"/>
                                </a:rPr>
                              </m:ctrlPr>
                            </m:sSubPr>
                            <m:e>
                              <m:r>
                                <a:rPr lang="en-US" altLang="zh-CN" sz="1400" b="1" i="1">
                                  <a:solidFill>
                                    <a:schemeClr val="tx1"/>
                                  </a:solidFill>
                                  <a:latin typeface="Cambria Math" panose="02040503050406030204" pitchFamily="18" charset="0"/>
                                </a:rPr>
                                <m:t>𝒈</m:t>
                              </m:r>
                            </m:e>
                            <m:sub>
                              <m:r>
                                <a:rPr lang="en-US" altLang="zh-CN" sz="1400" b="1" i="1">
                                  <a:solidFill>
                                    <a:schemeClr val="tx1"/>
                                  </a:solidFill>
                                  <a:latin typeface="Cambria Math" panose="02040503050406030204" pitchFamily="18" charset="0"/>
                                </a:rPr>
                                <m:t>𝟐</m:t>
                              </m:r>
                            </m:sub>
                          </m:sSub>
                        </m:e>
                      </m:d>
                      <m:r>
                        <a:rPr lang="en-US" altLang="zh-CN" sz="1400" b="1" i="1">
                          <a:solidFill>
                            <a:schemeClr val="tx1"/>
                          </a:solidFill>
                          <a:latin typeface="Cambria Math" panose="02040503050406030204" pitchFamily="18" charset="0"/>
                        </a:rPr>
                        <m:t>≟ </m:t>
                      </m:r>
                      <m:acc>
                        <m:accPr>
                          <m:chr m:val="̂"/>
                          <m:ctrlPr>
                            <a:rPr lang="en-US" altLang="zh-CN" sz="1400" b="1" i="1" smtClean="0">
                              <a:solidFill>
                                <a:srgbClr val="FF0000"/>
                              </a:solidFill>
                              <a:latin typeface="Cambria Math" charset="0"/>
                            </a:rPr>
                          </m:ctrlPr>
                        </m:accPr>
                        <m:e>
                          <m:r>
                            <a:rPr lang="en-US" altLang="zh-CN" sz="1400" b="1" i="1">
                              <a:solidFill>
                                <a:srgbClr val="FF0000"/>
                              </a:solidFill>
                              <a:latin typeface="Cambria Math" panose="02040503050406030204" pitchFamily="18" charset="0"/>
                            </a:rPr>
                            <m:t>𝒆</m:t>
                          </m:r>
                        </m:e>
                      </m:acc>
                      <m:d>
                        <m:dPr>
                          <m:ctrlPr>
                            <a:rPr lang="en-US" altLang="zh-CN" sz="1400" b="1" i="1">
                              <a:solidFill>
                                <a:schemeClr val="tx1"/>
                              </a:solidFill>
                              <a:latin typeface="Cambria Math" charset="0"/>
                            </a:rPr>
                          </m:ctrlPr>
                        </m:dPr>
                        <m:e>
                          <m:nary>
                            <m:naryPr>
                              <m:chr m:val="∏"/>
                              <m:ctrlPr>
                                <a:rPr lang="en-US" altLang="zh-CN" sz="1400" b="1" i="1">
                                  <a:solidFill>
                                    <a:schemeClr val="tx1"/>
                                  </a:solidFill>
                                  <a:latin typeface="Cambria Math" charset="0"/>
                                </a:rPr>
                              </m:ctrlPr>
                            </m:naryPr>
                            <m:sub>
                              <m:r>
                                <m:rPr>
                                  <m:brk m:alnAt="23"/>
                                </m:rPr>
                                <a:rPr lang="en-US" altLang="zh-CN" sz="1400" b="1" i="1">
                                  <a:solidFill>
                                    <a:schemeClr val="tx1"/>
                                  </a:solidFill>
                                  <a:latin typeface="Cambria Math" panose="02040503050406030204" pitchFamily="18" charset="0"/>
                                </a:rPr>
                                <m:t>𝒊</m:t>
                              </m:r>
                              <m:r>
                                <a:rPr lang="en-US" altLang="zh-CN" sz="1400" b="1"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𝟏</m:t>
                              </m:r>
                            </m:sub>
                            <m:sup>
                              <m:r>
                                <a:rPr lang="en-US" altLang="zh-CN" sz="1400" b="1" i="1">
                                  <a:solidFill>
                                    <a:schemeClr val="tx1"/>
                                  </a:solidFill>
                                  <a:latin typeface="Cambria Math" panose="02040503050406030204" pitchFamily="18" charset="0"/>
                                </a:rPr>
                                <m:t>𝒏</m:t>
                              </m:r>
                            </m:sup>
                            <m:e>
                              <m:sSubSup>
                                <m:sSubSupPr>
                                  <m:ctrlPr>
                                    <a:rPr lang="en-US" altLang="zh-CN" sz="1400" b="1" i="1">
                                      <a:solidFill>
                                        <a:schemeClr val="tx1"/>
                                      </a:solidFill>
                                      <a:latin typeface="Cambria Math" charset="0"/>
                                    </a:rPr>
                                  </m:ctrlPr>
                                </m:sSubSupPr>
                                <m:e>
                                  <m:r>
                                    <a:rPr lang="en-US" altLang="zh-CN" sz="1400" b="1" i="1">
                                      <a:solidFill>
                                        <a:schemeClr val="tx1"/>
                                      </a:solidFill>
                                      <a:latin typeface="Cambria Math" panose="02040503050406030204" pitchFamily="18" charset="0"/>
                                    </a:rPr>
                                    <m:t>𝑷𝑰𝑫</m:t>
                                  </m:r>
                                </m:e>
                                <m:sub>
                                  <m:r>
                                    <a:rPr lang="en-US" altLang="zh-CN" sz="1400" b="1" i="1">
                                      <a:solidFill>
                                        <a:schemeClr val="tx1"/>
                                      </a:solidFill>
                                      <a:latin typeface="Cambria Math" panose="02040503050406030204" pitchFamily="18" charset="0"/>
                                    </a:rPr>
                                    <m:t>𝒊</m:t>
                                  </m:r>
                                </m:sub>
                                <m:sup>
                                  <m:r>
                                    <a:rPr lang="en-US" altLang="zh-CN" sz="1400" b="1" i="1">
                                      <a:solidFill>
                                        <a:schemeClr val="tx1"/>
                                      </a:solidFill>
                                      <a:latin typeface="Cambria Math" panose="02040503050406030204" pitchFamily="18" charset="0"/>
                                    </a:rPr>
                                    <m:t>𝟏</m:t>
                                  </m:r>
                                </m:sup>
                              </m:sSubSup>
                              <m:r>
                                <a:rPr lang="en-US" altLang="zh-CN" sz="1400" b="1" i="1">
                                  <a:solidFill>
                                    <a:schemeClr val="tx1"/>
                                  </a:solidFill>
                                  <a:latin typeface="Cambria Math" panose="02040503050406030204" pitchFamily="18" charset="0"/>
                                </a:rPr>
                                <m:t>,</m:t>
                              </m:r>
                              <m:sSub>
                                <m:sSubPr>
                                  <m:ctrlPr>
                                    <a:rPr lang="en-US" altLang="zh-CN" sz="1400" b="1" i="1">
                                      <a:solidFill>
                                        <a:schemeClr val="tx1"/>
                                      </a:solidFill>
                                      <a:latin typeface="Cambria Math" charset="0"/>
                                    </a:rPr>
                                  </m:ctrlPr>
                                </m:sSubPr>
                                <m:e>
                                  <m:r>
                                    <a:rPr lang="en-US" altLang="zh-CN" sz="1400" b="1" i="1">
                                      <a:solidFill>
                                        <a:schemeClr val="tx1"/>
                                      </a:solidFill>
                                      <a:latin typeface="Cambria Math" panose="02040503050406030204" pitchFamily="18" charset="0"/>
                                    </a:rPr>
                                    <m:t>𝑷</m:t>
                                  </m:r>
                                </m:e>
                                <m:sub>
                                  <m:r>
                                    <a:rPr lang="en-US" altLang="zh-CN" sz="1400" b="1" i="1">
                                      <a:solidFill>
                                        <a:schemeClr val="tx1"/>
                                      </a:solidFill>
                                      <a:latin typeface="Cambria Math" panose="02040503050406030204" pitchFamily="18" charset="0"/>
                                    </a:rPr>
                                    <m:t>𝟏</m:t>
                                  </m:r>
                                </m:sub>
                              </m:sSub>
                            </m:e>
                          </m:nary>
                        </m:e>
                      </m:d>
                      <m:acc>
                        <m:accPr>
                          <m:chr m:val="̂"/>
                          <m:ctrlPr>
                            <a:rPr lang="en-US" altLang="zh-CN" sz="1400" b="1" i="1" smtClean="0">
                              <a:solidFill>
                                <a:srgbClr val="FF0000"/>
                              </a:solidFill>
                              <a:latin typeface="Cambria Math" charset="0"/>
                            </a:rPr>
                          </m:ctrlPr>
                        </m:accPr>
                        <m:e>
                          <m:r>
                            <a:rPr lang="en-US" altLang="zh-CN" sz="1400" b="1" i="1">
                              <a:solidFill>
                                <a:srgbClr val="FF0000"/>
                              </a:solidFill>
                              <a:latin typeface="Cambria Math" panose="02040503050406030204" pitchFamily="18" charset="0"/>
                            </a:rPr>
                            <m:t>𝒆</m:t>
                          </m:r>
                        </m:e>
                      </m:acc>
                      <m:d>
                        <m:dPr>
                          <m:ctrlPr>
                            <a:rPr lang="en-US" altLang="zh-CN" sz="1400" b="1" i="1">
                              <a:solidFill>
                                <a:schemeClr val="tx1"/>
                              </a:solidFill>
                              <a:latin typeface="Cambria Math" charset="0"/>
                            </a:rPr>
                          </m:ctrlPr>
                        </m:dPr>
                        <m:e>
                          <m:nary>
                            <m:naryPr>
                              <m:chr m:val="∏"/>
                              <m:ctrlPr>
                                <a:rPr lang="en-US" altLang="zh-CN" sz="1400" b="1" i="1">
                                  <a:solidFill>
                                    <a:schemeClr val="tx1"/>
                                  </a:solidFill>
                                  <a:latin typeface="Cambria Math" charset="0"/>
                                </a:rPr>
                              </m:ctrlPr>
                            </m:naryPr>
                            <m:sub>
                              <m:r>
                                <m:rPr>
                                  <m:brk m:alnAt="23"/>
                                </m:rPr>
                                <a:rPr lang="en-US" altLang="zh-CN" sz="1400" b="1" i="1">
                                  <a:solidFill>
                                    <a:schemeClr val="tx1"/>
                                  </a:solidFill>
                                  <a:latin typeface="Cambria Math" panose="02040503050406030204" pitchFamily="18" charset="0"/>
                                </a:rPr>
                                <m:t>𝒊</m:t>
                              </m:r>
                              <m:r>
                                <a:rPr lang="en-US" altLang="zh-CN" sz="1400" b="1"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𝟏</m:t>
                              </m:r>
                            </m:sub>
                            <m:sup>
                              <m:r>
                                <a:rPr lang="en-US" altLang="zh-CN" sz="1400" b="1" i="1">
                                  <a:solidFill>
                                    <a:schemeClr val="tx1"/>
                                  </a:solidFill>
                                  <a:latin typeface="Cambria Math" panose="02040503050406030204" pitchFamily="18" charset="0"/>
                                </a:rPr>
                                <m:t>𝒏</m:t>
                              </m:r>
                            </m:sup>
                            <m:e>
                              <m:sSup>
                                <m:sSupPr>
                                  <m:ctrlPr>
                                    <a:rPr lang="en-US" altLang="zh-CN" sz="1400" b="1" i="1">
                                      <a:solidFill>
                                        <a:schemeClr val="tx1"/>
                                      </a:solidFill>
                                      <a:latin typeface="Cambria Math" charset="0"/>
                                    </a:rPr>
                                  </m:ctrlPr>
                                </m:sSupPr>
                                <m:e>
                                  <m:r>
                                    <a:rPr lang="en-US" altLang="zh-CN" sz="1400" b="1" i="1">
                                      <a:solidFill>
                                        <a:schemeClr val="tx1"/>
                                      </a:solidFill>
                                      <a:latin typeface="Cambria Math" panose="02040503050406030204" pitchFamily="18" charset="0"/>
                                    </a:rPr>
                                    <m:t>𝑯</m:t>
                                  </m:r>
                                  <m:d>
                                    <m:dPr>
                                      <m:ctrlPr>
                                        <a:rPr lang="en-US" altLang="zh-CN" sz="1400" b="1" i="1">
                                          <a:solidFill>
                                            <a:schemeClr val="tx1"/>
                                          </a:solidFill>
                                          <a:latin typeface="Cambria Math" charset="0"/>
                                        </a:rPr>
                                      </m:ctrlPr>
                                    </m:dPr>
                                    <m:e>
                                      <m:sSubSup>
                                        <m:sSubSupPr>
                                          <m:ctrlPr>
                                            <a:rPr lang="en-US" altLang="zh-CN" sz="1400" b="1" i="1">
                                              <a:solidFill>
                                                <a:schemeClr val="tx1"/>
                                              </a:solidFill>
                                              <a:latin typeface="Cambria Math" charset="0"/>
                                            </a:rPr>
                                          </m:ctrlPr>
                                        </m:sSubSupPr>
                                        <m:e>
                                          <m:r>
                                            <a:rPr lang="en-US" altLang="zh-CN" sz="1400" b="1" i="1">
                                              <a:solidFill>
                                                <a:schemeClr val="tx1"/>
                                              </a:solidFill>
                                              <a:latin typeface="Cambria Math" panose="02040503050406030204" pitchFamily="18" charset="0"/>
                                            </a:rPr>
                                            <m:t>𝑷𝑰𝑫</m:t>
                                          </m:r>
                                        </m:e>
                                        <m:sub>
                                          <m:r>
                                            <a:rPr lang="en-US" altLang="zh-CN" sz="1400" b="1" i="1">
                                              <a:solidFill>
                                                <a:schemeClr val="tx1"/>
                                              </a:solidFill>
                                              <a:latin typeface="Cambria Math" panose="02040503050406030204" pitchFamily="18" charset="0"/>
                                            </a:rPr>
                                            <m:t>𝒊</m:t>
                                          </m:r>
                                        </m:sub>
                                        <m:sup>
                                          <m:r>
                                            <a:rPr lang="en-US" altLang="zh-CN" sz="1400" b="1" i="1">
                                              <a:solidFill>
                                                <a:schemeClr val="tx1"/>
                                              </a:solidFill>
                                              <a:latin typeface="Cambria Math" panose="02040503050406030204" pitchFamily="18" charset="0"/>
                                            </a:rPr>
                                            <m:t>𝟐</m:t>
                                          </m:r>
                                        </m:sup>
                                      </m:sSubSup>
                                    </m:e>
                                  </m:d>
                                </m:e>
                                <m:sup>
                                  <m:r>
                                    <a:rPr lang="en-US" altLang="zh-CN" sz="1400" b="1" i="1">
                                      <a:solidFill>
                                        <a:schemeClr val="tx1"/>
                                      </a:solidFill>
                                      <a:latin typeface="Cambria Math" panose="02040503050406030204" pitchFamily="18" charset="0"/>
                                    </a:rPr>
                                    <m:t>𝒉</m:t>
                                  </m:r>
                                  <m:d>
                                    <m:dPr>
                                      <m:ctrlPr>
                                        <a:rPr lang="en-US" altLang="zh-CN" sz="1400" b="1" i="1">
                                          <a:solidFill>
                                            <a:schemeClr val="tx1"/>
                                          </a:solidFill>
                                          <a:latin typeface="Cambria Math" charset="0"/>
                                        </a:rPr>
                                      </m:ctrlPr>
                                    </m:dPr>
                                    <m:e>
                                      <m:sSub>
                                        <m:sSubPr>
                                          <m:ctrlPr>
                                            <a:rPr lang="en-US" altLang="zh-CN" sz="1400" b="1" i="1">
                                              <a:solidFill>
                                                <a:schemeClr val="tx1"/>
                                              </a:solidFill>
                                              <a:latin typeface="Cambria Math" charset="0"/>
                                            </a:rPr>
                                          </m:ctrlPr>
                                        </m:sSubPr>
                                        <m:e>
                                          <m:r>
                                            <a:rPr lang="en-US" altLang="zh-CN" sz="1400" b="1" i="1">
                                              <a:solidFill>
                                                <a:schemeClr val="tx1"/>
                                              </a:solidFill>
                                              <a:latin typeface="Cambria Math" panose="02040503050406030204" pitchFamily="18" charset="0"/>
                                            </a:rPr>
                                            <m:t>𝑫</m:t>
                                          </m:r>
                                        </m:e>
                                        <m:sub>
                                          <m:r>
                                            <a:rPr lang="en-US" altLang="zh-CN" sz="1400" b="1" i="1">
                                              <a:solidFill>
                                                <a:schemeClr val="tx1"/>
                                              </a:solidFill>
                                              <a:latin typeface="Cambria Math" panose="02040503050406030204" pitchFamily="18" charset="0"/>
                                            </a:rPr>
                                            <m:t>𝒊</m:t>
                                          </m:r>
                                        </m:sub>
                                      </m:sSub>
                                    </m:e>
                                  </m:d>
                                </m:sup>
                              </m:sSup>
                              <m:r>
                                <a:rPr lang="en-US" altLang="zh-CN" sz="1400" b="1" i="1">
                                  <a:solidFill>
                                    <a:schemeClr val="tx1"/>
                                  </a:solidFill>
                                  <a:latin typeface="Cambria Math" panose="02040503050406030204" pitchFamily="18" charset="0"/>
                                </a:rPr>
                                <m:t>,</m:t>
                              </m:r>
                              <m:sSub>
                                <m:sSubPr>
                                  <m:ctrlPr>
                                    <a:rPr lang="en-US" altLang="zh-CN" sz="1400" b="1" i="1">
                                      <a:solidFill>
                                        <a:schemeClr val="tx1"/>
                                      </a:solidFill>
                                      <a:latin typeface="Cambria Math" charset="0"/>
                                    </a:rPr>
                                  </m:ctrlPr>
                                </m:sSubPr>
                                <m:e>
                                  <m:r>
                                    <a:rPr lang="en-US" altLang="zh-CN" sz="1400" b="1" i="1">
                                      <a:solidFill>
                                        <a:schemeClr val="tx1"/>
                                      </a:solidFill>
                                      <a:latin typeface="Cambria Math" panose="02040503050406030204" pitchFamily="18" charset="0"/>
                                    </a:rPr>
                                    <m:t>𝑷</m:t>
                                  </m:r>
                                </m:e>
                                <m:sub>
                                  <m:r>
                                    <a:rPr lang="en-US" altLang="zh-CN" sz="1400" b="1" i="1">
                                      <a:solidFill>
                                        <a:schemeClr val="tx1"/>
                                      </a:solidFill>
                                      <a:latin typeface="Cambria Math" panose="02040503050406030204" pitchFamily="18" charset="0"/>
                                    </a:rPr>
                                    <m:t>𝟐</m:t>
                                  </m:r>
                                </m:sub>
                              </m:sSub>
                            </m:e>
                          </m:nary>
                        </m:e>
                      </m:d>
                    </m:oMath>
                  </m:oMathPara>
                </a14:m>
                <a:endParaRPr lang="en-US" sz="1400" b="1" i="1" dirty="0">
                  <a:solidFill>
                    <a:srgbClr val="7F7F7F"/>
                  </a:solidFill>
                  <a:latin typeface="Source Sans Pro"/>
                </a:endParaRPr>
              </a:p>
            </p:txBody>
          </p:sp>
        </mc:Choice>
        <mc:Fallback xmlns="">
          <p:sp>
            <p:nvSpPr>
              <p:cNvPr id="72" name="文本框 71"/>
              <p:cNvSpPr txBox="1">
                <a:spLocks noRot="1" noChangeAspect="1" noMove="1" noResize="1" noEditPoints="1" noAdjustHandles="1" noChangeArrowheads="1" noChangeShapeType="1" noTextEdit="1"/>
              </p:cNvSpPr>
              <p:nvPr/>
            </p:nvSpPr>
            <p:spPr>
              <a:xfrm>
                <a:off x="5358392" y="2889256"/>
                <a:ext cx="3718011" cy="1268681"/>
              </a:xfrm>
              <a:prstGeom prst="rect">
                <a:avLst/>
              </a:prstGeom>
              <a:blipFill rotWithShape="0">
                <a:blip r:embed="rId5"/>
                <a:stretch>
                  <a:fillRect/>
                </a:stretch>
              </a:blipFill>
            </p:spPr>
            <p:txBody>
              <a:bodyPr/>
              <a:lstStyle/>
              <a:p>
                <a:r>
                  <a:rPr lang="en-US">
                    <a:noFill/>
                  </a:rPr>
                  <a:t> </a:t>
                </a:r>
              </a:p>
            </p:txBody>
          </p:sp>
        </mc:Fallback>
      </mc:AlternateContent>
      <p:sp>
        <p:nvSpPr>
          <p:cNvPr id="73" name="AutoShape 113"/>
          <p:cNvSpPr>
            <a:spLocks/>
          </p:cNvSpPr>
          <p:nvPr/>
        </p:nvSpPr>
        <p:spPr bwMode="auto">
          <a:xfrm>
            <a:off x="5958337" y="5110884"/>
            <a:ext cx="315693" cy="46024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rgbClr val="7BBBE9"/>
          </a:solidFill>
          <a:ln>
            <a:noFill/>
          </a:ln>
          <a:effectLst/>
          <a:extLst>
            <a:ext uri="{91240B29-F687-4f45-9708-019B960494DF}"/>
            <a:ext uri="{AF507438-7753-43e0-B8FC-AC1667EBCBE1}"/>
          </a:ex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ndParaRPr>
          </a:p>
        </p:txBody>
      </p:sp>
      <mc:AlternateContent xmlns:mc="http://schemas.openxmlformats.org/markup-compatibility/2006" xmlns:a14="http://schemas.microsoft.com/office/drawing/2010/main">
        <mc:Choice Requires="a14">
          <p:sp>
            <p:nvSpPr>
              <p:cNvPr id="74" name="文本框 73"/>
              <p:cNvSpPr txBox="1"/>
              <p:nvPr/>
            </p:nvSpPr>
            <p:spPr>
              <a:xfrm>
                <a:off x="6287678" y="5492438"/>
                <a:ext cx="2264780" cy="963277"/>
              </a:xfrm>
              <a:prstGeom prst="rect">
                <a:avLst/>
              </a:prstGeom>
              <a:noFill/>
            </p:spPr>
            <p:txBody>
              <a:bodyPr wrap="square" rtlCol="0">
                <a:spAutoFit/>
              </a:bodyPr>
              <a:lstStyle/>
              <a:p>
                <a:pPr algn="ctr">
                  <a:spcAft>
                    <a:spcPts val="400"/>
                  </a:spcAft>
                </a:pPr>
                <a14:m>
                  <m:oMathPara xmlns:m="http://schemas.openxmlformats.org/officeDocument/2006/math">
                    <m:oMathParaPr>
                      <m:jc m:val="left"/>
                    </m:oMathParaPr>
                    <m:oMath xmlns:m="http://schemas.openxmlformats.org/officeDocument/2006/math">
                      <m:sSubSup>
                        <m:sSubSupPr>
                          <m:ctrlPr>
                            <a:rPr lang="en-US" altLang="zh-CN" sz="1400" b="1" i="1" smtClean="0">
                              <a:latin typeface="Cambria Math" charset="0"/>
                              <a:ea typeface="Cambria Math" panose="02040503050406030204" pitchFamily="18" charset="0"/>
                            </a:rPr>
                          </m:ctrlPr>
                        </m:sSubSupPr>
                        <m:e>
                          <m:r>
                            <a:rPr lang="en-US" altLang="zh-CN" sz="1400" b="1" i="1" smtClean="0">
                              <a:latin typeface="Cambria Math" panose="02040503050406030204" pitchFamily="18" charset="0"/>
                              <a:ea typeface="Cambria Math" panose="02040503050406030204" pitchFamily="18" charset="0"/>
                            </a:rPr>
                            <m:t>𝑷𝑰𝑫</m:t>
                          </m:r>
                        </m:e>
                        <m:sub>
                          <m:r>
                            <a:rPr lang="en-US" altLang="zh-CN" sz="1400" b="1" i="1" smtClean="0">
                              <a:latin typeface="Cambria Math" panose="02040503050406030204" pitchFamily="18" charset="0"/>
                              <a:ea typeface="Cambria Math" panose="02040503050406030204" pitchFamily="18" charset="0"/>
                            </a:rPr>
                            <m:t>𝒊</m:t>
                          </m:r>
                        </m:sub>
                        <m:sup>
                          <m:r>
                            <a:rPr lang="en-US" altLang="zh-CN" sz="1400" b="1" i="1" smtClean="0">
                              <a:latin typeface="Cambria Math" panose="02040503050406030204" pitchFamily="18" charset="0"/>
                              <a:ea typeface="Cambria Math" panose="02040503050406030204" pitchFamily="18" charset="0"/>
                            </a:rPr>
                            <m:t>𝟏</m:t>
                          </m:r>
                        </m:sup>
                      </m:sSubSup>
                      <m:r>
                        <a:rPr lang="en-US" altLang="zh-CN" sz="1400" b="1" i="1" smtClean="0">
                          <a:latin typeface="Cambria Math" panose="02040503050406030204" pitchFamily="18" charset="0"/>
                          <a:ea typeface="Cambria Math" panose="02040503050406030204" pitchFamily="18" charset="0"/>
                        </a:rPr>
                        <m:t>=</m:t>
                      </m:r>
                      <m:sSup>
                        <m:sSupPr>
                          <m:ctrlPr>
                            <a:rPr lang="en-US" altLang="zh-CN" sz="1400" b="1" i="1" smtClean="0">
                              <a:latin typeface="Cambria Math" charset="0"/>
                              <a:ea typeface="Cambria Math" panose="02040503050406030204" pitchFamily="18" charset="0"/>
                            </a:rPr>
                          </m:ctrlPr>
                        </m:sSupPr>
                        <m:e>
                          <m:sSub>
                            <m:sSubPr>
                              <m:ctrlPr>
                                <a:rPr lang="en-US" altLang="zh-CN" sz="1400" b="1" i="1" smtClean="0">
                                  <a:latin typeface="Cambria Math" charset="0"/>
                                  <a:ea typeface="Cambria Math" panose="02040503050406030204" pitchFamily="18" charset="0"/>
                                </a:rPr>
                              </m:ctrlPr>
                            </m:sSubPr>
                            <m:e>
                              <m:r>
                                <a:rPr lang="en-US" altLang="zh-CN" sz="1400" b="1" i="1" smtClean="0">
                                  <a:latin typeface="Cambria Math" panose="02040503050406030204" pitchFamily="18" charset="0"/>
                                  <a:ea typeface="Cambria Math" panose="02040503050406030204" pitchFamily="18" charset="0"/>
                                </a:rPr>
                                <m:t>𝒈</m:t>
                              </m:r>
                            </m:e>
                            <m:sub>
                              <m:r>
                                <a:rPr lang="en-US" altLang="zh-CN" sz="1400" b="1" i="1" smtClean="0">
                                  <a:latin typeface="Cambria Math" panose="02040503050406030204" pitchFamily="18" charset="0"/>
                                  <a:ea typeface="Cambria Math" panose="02040503050406030204" pitchFamily="18" charset="0"/>
                                </a:rPr>
                                <m:t>𝟏</m:t>
                              </m:r>
                            </m:sub>
                          </m:sSub>
                        </m:e>
                        <m:sup>
                          <m:r>
                            <a:rPr lang="en-US" altLang="zh-CN" sz="1400" b="1" i="1" smtClean="0">
                              <a:latin typeface="Cambria Math" panose="02040503050406030204" pitchFamily="18" charset="0"/>
                              <a:ea typeface="Cambria Math" panose="02040503050406030204" pitchFamily="18" charset="0"/>
                            </a:rPr>
                            <m:t>𝒓</m:t>
                          </m:r>
                        </m:sup>
                      </m:sSup>
                    </m:oMath>
                  </m:oMathPara>
                </a14:m>
                <a:endParaRPr lang="en-US" altLang="zh-CN" sz="1400" b="1" i="1" dirty="0" smtClean="0">
                  <a:latin typeface="Source Sans Pro"/>
                  <a:ea typeface="Cambria Math" panose="02040503050406030204" pitchFamily="18" charset="0"/>
                </a:endParaRPr>
              </a:p>
              <a:p>
                <a:pPr algn="ctr">
                  <a:spcAft>
                    <a:spcPts val="400"/>
                  </a:spcAft>
                </a:pPr>
                <a14:m>
                  <m:oMathPara xmlns:m="http://schemas.openxmlformats.org/officeDocument/2006/math">
                    <m:oMathParaPr>
                      <m:jc m:val="left"/>
                    </m:oMathParaPr>
                    <m:oMath xmlns:m="http://schemas.openxmlformats.org/officeDocument/2006/math">
                      <m:sSubSup>
                        <m:sSubSupPr>
                          <m:ctrlPr>
                            <a:rPr lang="en-US" altLang="zh-CN" sz="1400" b="1" i="1" smtClean="0">
                              <a:latin typeface="Cambria Math" charset="0"/>
                              <a:ea typeface="Cambria Math" panose="02040503050406030204" pitchFamily="18" charset="0"/>
                            </a:rPr>
                          </m:ctrlPr>
                        </m:sSubSupPr>
                        <m:e>
                          <m:r>
                            <a:rPr lang="en-US" altLang="zh-CN" sz="1400" b="1" i="1" smtClean="0">
                              <a:latin typeface="Cambria Math" panose="02040503050406030204" pitchFamily="18" charset="0"/>
                              <a:ea typeface="Cambria Math" panose="02040503050406030204" pitchFamily="18" charset="0"/>
                            </a:rPr>
                            <m:t>𝑷𝑰𝑫</m:t>
                          </m:r>
                        </m:e>
                        <m:sub>
                          <m:r>
                            <a:rPr lang="en-US" altLang="zh-CN" sz="1400" b="1" i="1" smtClean="0">
                              <a:latin typeface="Cambria Math" panose="02040503050406030204" pitchFamily="18" charset="0"/>
                              <a:ea typeface="Cambria Math" panose="02040503050406030204" pitchFamily="18" charset="0"/>
                            </a:rPr>
                            <m:t>𝒊</m:t>
                          </m:r>
                        </m:sub>
                        <m:sup>
                          <m:r>
                            <a:rPr lang="en-US" altLang="zh-CN" sz="1400" b="1" i="1" smtClean="0">
                              <a:latin typeface="Cambria Math" panose="02040503050406030204" pitchFamily="18" charset="0"/>
                              <a:ea typeface="Cambria Math" panose="02040503050406030204" pitchFamily="18" charset="0"/>
                            </a:rPr>
                            <m:t>𝟐</m:t>
                          </m:r>
                        </m:sup>
                      </m:sSubSup>
                      <m:r>
                        <a:rPr lang="en-US" altLang="zh-CN" sz="1400" b="1" i="1" smtClean="0">
                          <a:latin typeface="Cambria Math" panose="02040503050406030204" pitchFamily="18" charset="0"/>
                          <a:ea typeface="Cambria Math" panose="02040503050406030204" pitchFamily="18" charset="0"/>
                        </a:rPr>
                        <m:t>=</m:t>
                      </m:r>
                      <m:sSub>
                        <m:sSubPr>
                          <m:ctrlPr>
                            <a:rPr lang="en-US" altLang="zh-CN" sz="1400" b="1" i="1" smtClean="0">
                              <a:latin typeface="Cambria Math" charset="0"/>
                              <a:ea typeface="Cambria Math" panose="02040503050406030204" pitchFamily="18" charset="0"/>
                            </a:rPr>
                          </m:ctrlPr>
                        </m:sSubPr>
                        <m:e>
                          <m:r>
                            <a:rPr lang="en-US" altLang="zh-CN" sz="1400" b="1" i="1" smtClean="0">
                              <a:latin typeface="Cambria Math" panose="02040503050406030204" pitchFamily="18" charset="0"/>
                              <a:ea typeface="Cambria Math" panose="02040503050406030204" pitchFamily="18" charset="0"/>
                            </a:rPr>
                            <m:t>𝑹𝑰𝑫</m:t>
                          </m:r>
                        </m:e>
                        <m:sub>
                          <m:r>
                            <a:rPr lang="en-US" altLang="zh-CN" sz="1400" b="1" i="1" smtClean="0">
                              <a:latin typeface="Cambria Math" panose="02040503050406030204" pitchFamily="18" charset="0"/>
                              <a:ea typeface="Cambria Math" panose="02040503050406030204" pitchFamily="18" charset="0"/>
                            </a:rPr>
                            <m:t>𝒊</m:t>
                          </m:r>
                        </m:sub>
                      </m:sSub>
                      <m:r>
                        <a:rPr lang="en-US" altLang="zh-CN" sz="1400" b="1" i="1" smtClean="0">
                          <a:latin typeface="Cambria Math" panose="02040503050406030204" pitchFamily="18" charset="0"/>
                          <a:ea typeface="Cambria Math" panose="02040503050406030204" pitchFamily="18" charset="0"/>
                        </a:rPr>
                        <m:t>⊙</m:t>
                      </m:r>
                      <m:sSup>
                        <m:sSupPr>
                          <m:ctrlPr>
                            <a:rPr lang="en-US" altLang="zh-CN" sz="1400" b="1" i="1" smtClean="0">
                              <a:latin typeface="Cambria Math" charset="0"/>
                              <a:ea typeface="Cambria Math" panose="02040503050406030204" pitchFamily="18" charset="0"/>
                            </a:rPr>
                          </m:ctrlPr>
                        </m:sSupPr>
                        <m:e>
                          <m:sSub>
                            <m:sSubPr>
                              <m:ctrlPr>
                                <a:rPr lang="en-US" altLang="zh-CN" sz="1400" b="1" i="1" smtClean="0">
                                  <a:latin typeface="Cambria Math" charset="0"/>
                                  <a:ea typeface="Cambria Math" panose="02040503050406030204" pitchFamily="18" charset="0"/>
                                </a:rPr>
                              </m:ctrlPr>
                            </m:sSubPr>
                            <m:e>
                              <m:r>
                                <a:rPr lang="en-US" altLang="zh-CN" sz="1400" b="1" i="1" smtClean="0">
                                  <a:latin typeface="Cambria Math" panose="02040503050406030204" pitchFamily="18" charset="0"/>
                                  <a:ea typeface="Cambria Math" panose="02040503050406030204" pitchFamily="18" charset="0"/>
                                </a:rPr>
                                <m:t>𝑷</m:t>
                              </m:r>
                            </m:e>
                            <m:sub>
                              <m:r>
                                <a:rPr lang="en-US" altLang="zh-CN" sz="1400" b="1" i="1" smtClean="0">
                                  <a:latin typeface="Cambria Math" panose="02040503050406030204" pitchFamily="18" charset="0"/>
                                  <a:ea typeface="Cambria Math" panose="02040503050406030204" pitchFamily="18" charset="0"/>
                                </a:rPr>
                                <m:t>𝟎</m:t>
                              </m:r>
                            </m:sub>
                          </m:sSub>
                        </m:e>
                        <m:sup>
                          <m:r>
                            <a:rPr lang="en-US" altLang="zh-CN" sz="1400" b="1" i="1" smtClean="0">
                              <a:latin typeface="Cambria Math" panose="02040503050406030204" pitchFamily="18" charset="0"/>
                              <a:ea typeface="Cambria Math" panose="02040503050406030204" pitchFamily="18" charset="0"/>
                            </a:rPr>
                            <m:t>𝒓</m:t>
                          </m:r>
                        </m:sup>
                      </m:sSup>
                    </m:oMath>
                  </m:oMathPara>
                </a14:m>
                <a:endParaRPr lang="en-US" altLang="zh-CN" sz="1400" b="1" i="1" dirty="0" smtClean="0">
                  <a:latin typeface="Source Sans Pro"/>
                  <a:ea typeface="Cambria Math" panose="02040503050406030204" pitchFamily="18" charset="0"/>
                </a:endParaRPr>
              </a:p>
              <a:p>
                <a:pPr algn="ctr">
                  <a:spcAft>
                    <a:spcPts val="400"/>
                  </a:spcAft>
                </a:pPr>
                <a14:m>
                  <m:oMathPara xmlns:m="http://schemas.openxmlformats.org/officeDocument/2006/math">
                    <m:oMathParaPr>
                      <m:jc m:val="left"/>
                    </m:oMathParaPr>
                    <m:oMath xmlns:m="http://schemas.openxmlformats.org/officeDocument/2006/math">
                      <m:sSubSup>
                        <m:sSubSupPr>
                          <m:ctrlPr>
                            <a:rPr lang="en-US" altLang="zh-CN" sz="1400" b="1" i="1" smtClean="0">
                              <a:latin typeface="Cambria Math" charset="0"/>
                              <a:ea typeface="Cambria Math" panose="02040503050406030204" pitchFamily="18" charset="0"/>
                            </a:rPr>
                          </m:ctrlPr>
                        </m:sSubSupPr>
                        <m:e>
                          <m:r>
                            <a:rPr lang="en-US" altLang="zh-CN" sz="1400" b="1" i="1" smtClean="0">
                              <a:latin typeface="Cambria Math" panose="02040503050406030204" pitchFamily="18" charset="0"/>
                              <a:ea typeface="Cambria Math" panose="02040503050406030204" pitchFamily="18" charset="0"/>
                            </a:rPr>
                            <m:t>𝑷𝑰𝑫</m:t>
                          </m:r>
                        </m:e>
                        <m:sub>
                          <m:r>
                            <a:rPr lang="en-US" altLang="zh-CN" sz="1400" b="1" i="1" smtClean="0">
                              <a:latin typeface="Cambria Math" panose="02040503050406030204" pitchFamily="18" charset="0"/>
                              <a:ea typeface="Cambria Math" panose="02040503050406030204" pitchFamily="18" charset="0"/>
                            </a:rPr>
                            <m:t>𝒊</m:t>
                          </m:r>
                        </m:sub>
                        <m:sup>
                          <m:r>
                            <a:rPr lang="en-US" altLang="zh-CN" sz="1400" b="1" i="1" smtClean="0">
                              <a:latin typeface="Cambria Math" panose="02040503050406030204" pitchFamily="18" charset="0"/>
                              <a:ea typeface="Cambria Math" panose="02040503050406030204" pitchFamily="18" charset="0"/>
                            </a:rPr>
                            <m:t>𝟐</m:t>
                          </m:r>
                        </m:sup>
                      </m:sSubSup>
                      <m:r>
                        <a:rPr lang="en-US" altLang="zh-CN" sz="1400" b="1" i="1" smtClean="0">
                          <a:latin typeface="Cambria Math" panose="02040503050406030204" pitchFamily="18" charset="0"/>
                          <a:ea typeface="Cambria Math" panose="02040503050406030204" pitchFamily="18" charset="0"/>
                        </a:rPr>
                        <m:t>⊙</m:t>
                      </m:r>
                      <m:sSup>
                        <m:sSupPr>
                          <m:ctrlPr>
                            <a:rPr lang="en-US" altLang="zh-CN" sz="1400" b="1" i="1" smtClean="0">
                              <a:latin typeface="Cambria Math" charset="0"/>
                              <a:ea typeface="Cambria Math" panose="02040503050406030204" pitchFamily="18" charset="0"/>
                            </a:rPr>
                          </m:ctrlPr>
                        </m:sSupPr>
                        <m:e>
                          <m:sSubSup>
                            <m:sSubSupPr>
                              <m:ctrlPr>
                                <a:rPr lang="en-US" altLang="zh-CN" sz="1400" b="1" i="1" smtClean="0">
                                  <a:latin typeface="Cambria Math" charset="0"/>
                                  <a:ea typeface="Cambria Math" panose="02040503050406030204" pitchFamily="18" charset="0"/>
                                </a:rPr>
                              </m:ctrlPr>
                            </m:sSubSupPr>
                            <m:e>
                              <m:r>
                                <a:rPr lang="en-US" altLang="zh-CN" sz="1400" b="1" i="1" smtClean="0">
                                  <a:latin typeface="Cambria Math" panose="02040503050406030204" pitchFamily="18" charset="0"/>
                                  <a:ea typeface="Cambria Math" panose="02040503050406030204" pitchFamily="18" charset="0"/>
                                </a:rPr>
                                <m:t>𝑷𝑰𝑫</m:t>
                              </m:r>
                            </m:e>
                            <m:sub>
                              <m:r>
                                <a:rPr lang="en-US" altLang="zh-CN" sz="1400" b="1" i="1" smtClean="0">
                                  <a:latin typeface="Cambria Math" panose="02040503050406030204" pitchFamily="18" charset="0"/>
                                  <a:ea typeface="Cambria Math" panose="02040503050406030204" pitchFamily="18" charset="0"/>
                                </a:rPr>
                                <m:t>𝒊</m:t>
                              </m:r>
                            </m:sub>
                            <m:sup>
                              <m:r>
                                <a:rPr lang="en-US" altLang="zh-CN" sz="1400" b="1" i="1" smtClean="0">
                                  <a:latin typeface="Cambria Math" panose="02040503050406030204" pitchFamily="18" charset="0"/>
                                  <a:ea typeface="Cambria Math" panose="02040503050406030204" pitchFamily="18" charset="0"/>
                                </a:rPr>
                                <m:t>𝟏</m:t>
                              </m:r>
                            </m:sup>
                          </m:sSubSup>
                        </m:e>
                        <m:sup>
                          <m:sSub>
                            <m:sSubPr>
                              <m:ctrlPr>
                                <a:rPr lang="en-US" altLang="zh-CN" sz="1400" b="1" i="1" smtClean="0">
                                  <a:latin typeface="Cambria Math" charset="0"/>
                                  <a:ea typeface="Cambria Math" panose="02040503050406030204" pitchFamily="18" charset="0"/>
                                </a:rPr>
                              </m:ctrlPr>
                            </m:sSubPr>
                            <m:e>
                              <m:r>
                                <a:rPr lang="en-US" altLang="zh-CN" sz="1400" b="1" i="1" smtClean="0">
                                  <a:latin typeface="Cambria Math" panose="02040503050406030204" pitchFamily="18" charset="0"/>
                                  <a:ea typeface="Cambria Math" panose="02040503050406030204" pitchFamily="18" charset="0"/>
                                </a:rPr>
                                <m:t>𝒔</m:t>
                              </m:r>
                            </m:e>
                            <m:sub>
                              <m:r>
                                <a:rPr lang="en-US" altLang="zh-CN" sz="1400" b="1" i="1" smtClean="0">
                                  <a:latin typeface="Cambria Math" panose="02040503050406030204" pitchFamily="18" charset="0"/>
                                  <a:ea typeface="Cambria Math" panose="02040503050406030204" pitchFamily="18" charset="0"/>
                                </a:rPr>
                                <m:t>𝟏</m:t>
                              </m:r>
                            </m:sub>
                          </m:sSub>
                        </m:sup>
                      </m:sSup>
                      <m:r>
                        <a:rPr lang="en-US" altLang="zh-CN" sz="1400" b="1" i="1" smtClean="0">
                          <a:latin typeface="Cambria Math" panose="02040503050406030204" pitchFamily="18" charset="0"/>
                          <a:ea typeface="Cambria Math" panose="02040503050406030204" pitchFamily="18" charset="0"/>
                        </a:rPr>
                        <m:t>=</m:t>
                      </m:r>
                      <m:sSub>
                        <m:sSubPr>
                          <m:ctrlPr>
                            <a:rPr lang="en-US" altLang="zh-CN" sz="1400" b="1" i="1" smtClean="0">
                              <a:latin typeface="Cambria Math" charset="0"/>
                              <a:ea typeface="Cambria Math" panose="02040503050406030204" pitchFamily="18" charset="0"/>
                            </a:rPr>
                          </m:ctrlPr>
                        </m:sSubPr>
                        <m:e>
                          <m:r>
                            <a:rPr lang="en-US" altLang="zh-CN" sz="1400" b="1" i="1" smtClean="0">
                              <a:latin typeface="Cambria Math" panose="02040503050406030204" pitchFamily="18" charset="0"/>
                              <a:ea typeface="Cambria Math" panose="02040503050406030204" pitchFamily="18" charset="0"/>
                            </a:rPr>
                            <m:t>𝑹𝑰𝑫</m:t>
                          </m:r>
                        </m:e>
                        <m:sub>
                          <m:r>
                            <a:rPr lang="en-US" altLang="zh-CN" sz="1400" b="1" i="1" smtClean="0">
                              <a:latin typeface="Cambria Math" panose="02040503050406030204" pitchFamily="18" charset="0"/>
                              <a:ea typeface="Cambria Math" panose="02040503050406030204" pitchFamily="18" charset="0"/>
                            </a:rPr>
                            <m:t>𝒊</m:t>
                          </m:r>
                        </m:sub>
                      </m:sSub>
                    </m:oMath>
                  </m:oMathPara>
                </a14:m>
                <a:endParaRPr lang="en-US" sz="1400" b="1" i="1" dirty="0">
                  <a:latin typeface="Source Sans Pro"/>
                  <a:ea typeface="Cambria Math" panose="02040503050406030204" pitchFamily="18" charset="0"/>
                </a:endParaRPr>
              </a:p>
            </p:txBody>
          </p:sp>
        </mc:Choice>
        <mc:Fallback xmlns="">
          <p:sp>
            <p:nvSpPr>
              <p:cNvPr id="74" name="文本框 73"/>
              <p:cNvSpPr txBox="1">
                <a:spLocks noRot="1" noChangeAspect="1" noMove="1" noResize="1" noEditPoints="1" noAdjustHandles="1" noChangeArrowheads="1" noChangeShapeType="1" noTextEdit="1"/>
              </p:cNvSpPr>
              <p:nvPr/>
            </p:nvSpPr>
            <p:spPr>
              <a:xfrm>
                <a:off x="6287678" y="5492438"/>
                <a:ext cx="2264780" cy="963277"/>
              </a:xfrm>
              <a:prstGeom prst="rect">
                <a:avLst/>
              </a:prstGeom>
              <a:blipFill>
                <a:blip r:embed="rId6"/>
                <a:stretch>
                  <a:fillRect/>
                </a:stretch>
              </a:blipFill>
            </p:spPr>
            <p:txBody>
              <a:bodyPr/>
              <a:lstStyle/>
              <a:p>
                <a:r>
                  <a:rPr lang="zh-CN" altLang="en-US">
                    <a:noFill/>
                  </a:rPr>
                  <a:t> </a:t>
                </a:r>
              </a:p>
            </p:txBody>
          </p:sp>
        </mc:Fallback>
      </mc:AlternateContent>
      <p:grpSp>
        <p:nvGrpSpPr>
          <p:cNvPr id="75" name="Group 25"/>
          <p:cNvGrpSpPr/>
          <p:nvPr/>
        </p:nvGrpSpPr>
        <p:grpSpPr>
          <a:xfrm rot="20894338">
            <a:off x="2261142" y="1689990"/>
            <a:ext cx="840322" cy="690143"/>
            <a:chOff x="1975693" y="2187576"/>
            <a:chExt cx="366676" cy="366050"/>
          </a:xfrm>
          <a:solidFill>
            <a:srgbClr val="1B6AA3"/>
          </a:solidFill>
        </p:grpSpPr>
        <p:sp>
          <p:nvSpPr>
            <p:cNvPr id="76" name="AutoShape 128"/>
            <p:cNvSpPr>
              <a:spLocks/>
            </p:cNvSpPr>
            <p:nvPr/>
          </p:nvSpPr>
          <p:spPr bwMode="auto">
            <a:xfrm>
              <a:off x="1975693" y="2187576"/>
              <a:ext cx="366676" cy="366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a:extLst>
              <a:ext uri="{91240B29-F687-4f45-9708-019B960494DF}"/>
              <a:ext uri="{AF507438-7753-43e0-B8FC-AC1667EBCBE1}"/>
            </a:ex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ndParaRPr>
            </a:p>
          </p:txBody>
        </p:sp>
        <p:sp>
          <p:nvSpPr>
            <p:cNvPr id="77" name="AutoShape 129"/>
            <p:cNvSpPr>
              <a:spLocks/>
            </p:cNvSpPr>
            <p:nvPr/>
          </p:nvSpPr>
          <p:spPr bwMode="auto">
            <a:xfrm>
              <a:off x="2204709" y="2233253"/>
              <a:ext cx="91356" cy="91356"/>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a:extLst>
              <a:ext uri="{91240B29-F687-4f45-9708-019B960494DF}"/>
              <a:ext uri="{AF507438-7753-43e0-B8FC-AC1667EBCBE1}"/>
            </a:ex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ndParaRPr>
            </a:p>
          </p:txBody>
        </p:sp>
      </p:grpSp>
      <p:sp>
        <p:nvSpPr>
          <p:cNvPr id="78" name="文本框 77"/>
          <p:cNvSpPr txBox="1"/>
          <p:nvPr/>
        </p:nvSpPr>
        <p:spPr>
          <a:xfrm>
            <a:off x="40943" y="1611461"/>
            <a:ext cx="2290957" cy="830997"/>
          </a:xfrm>
          <a:prstGeom prst="rect">
            <a:avLst/>
          </a:prstGeom>
          <a:noFill/>
        </p:spPr>
        <p:txBody>
          <a:bodyPr wrap="square" rtlCol="0">
            <a:spAutoFit/>
          </a:bodyPr>
          <a:lstStyle/>
          <a:p>
            <a:pPr algn="ctr"/>
            <a:r>
              <a:rPr lang="en-US" sz="2400" dirty="0" smtClean="0">
                <a:solidFill>
                  <a:srgbClr val="1B6AA3"/>
                </a:solidFill>
              </a:rPr>
              <a:t>Truthfulness of Data Collection</a:t>
            </a:r>
            <a:endParaRPr lang="en-US" sz="2400" dirty="0">
              <a:solidFill>
                <a:srgbClr val="1B6AA3"/>
              </a:solidFill>
            </a:endParaRPr>
          </a:p>
        </p:txBody>
      </p:sp>
      <p:sp>
        <p:nvSpPr>
          <p:cNvPr id="79" name="文本框 78"/>
          <p:cNvSpPr txBox="1"/>
          <p:nvPr/>
        </p:nvSpPr>
        <p:spPr>
          <a:xfrm>
            <a:off x="243343" y="3052314"/>
            <a:ext cx="2573064" cy="461665"/>
          </a:xfrm>
          <a:prstGeom prst="rect">
            <a:avLst/>
          </a:prstGeom>
          <a:noFill/>
        </p:spPr>
        <p:txBody>
          <a:bodyPr wrap="square" rtlCol="0">
            <a:spAutoFit/>
          </a:bodyPr>
          <a:lstStyle/>
          <a:p>
            <a:pPr algn="ctr"/>
            <a:r>
              <a:rPr lang="en-US" sz="2400" dirty="0" smtClean="0">
                <a:solidFill>
                  <a:srgbClr val="5791BB"/>
                </a:solidFill>
              </a:rPr>
              <a:t>Space Construction</a:t>
            </a:r>
          </a:p>
        </p:txBody>
      </p:sp>
      <p:sp>
        <p:nvSpPr>
          <p:cNvPr id="80" name="AutoShape 113"/>
          <p:cNvSpPr>
            <a:spLocks/>
          </p:cNvSpPr>
          <p:nvPr/>
        </p:nvSpPr>
        <p:spPr bwMode="auto">
          <a:xfrm>
            <a:off x="3867636" y="2884453"/>
            <a:ext cx="315693" cy="46024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rgbClr val="6197BF"/>
          </a:solidFill>
          <a:ln>
            <a:noFill/>
          </a:ln>
          <a:effectLst/>
          <a:extLst>
            <a:ext uri="{91240B29-F687-4f45-9708-019B960494DF}"/>
            <a:ext uri="{AF507438-7753-43e0-B8FC-AC1667EBCBE1}"/>
          </a:ex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ndParaRPr>
          </a:p>
        </p:txBody>
      </p:sp>
      <p:sp>
        <p:nvSpPr>
          <p:cNvPr id="81" name="文本框 80"/>
          <p:cNvSpPr txBox="1"/>
          <p:nvPr/>
        </p:nvSpPr>
        <p:spPr>
          <a:xfrm>
            <a:off x="2873884" y="2090320"/>
            <a:ext cx="2303717" cy="646331"/>
          </a:xfrm>
          <a:prstGeom prst="rect">
            <a:avLst/>
          </a:prstGeom>
          <a:noFill/>
        </p:spPr>
        <p:txBody>
          <a:bodyPr wrap="square" rtlCol="0">
            <a:spAutoFit/>
          </a:bodyPr>
          <a:lstStyle/>
          <a:p>
            <a:pPr algn="ctr"/>
            <a:r>
              <a:rPr lang="en-US" b="1" dirty="0" smtClean="0"/>
              <a:t>SWHE </a:t>
            </a:r>
          </a:p>
          <a:p>
            <a:pPr algn="ctr"/>
            <a:r>
              <a:rPr lang="en-US" b="1" dirty="0" smtClean="0"/>
              <a:t>(e.g., BGN scheme)</a:t>
            </a:r>
            <a:endParaRPr lang="en-US" b="1" dirty="0"/>
          </a:p>
        </p:txBody>
      </p:sp>
      <p:sp>
        <p:nvSpPr>
          <p:cNvPr id="82" name="文本框 81"/>
          <p:cNvSpPr txBox="1"/>
          <p:nvPr/>
        </p:nvSpPr>
        <p:spPr>
          <a:xfrm>
            <a:off x="5012547" y="2608317"/>
            <a:ext cx="65" cy="276999"/>
          </a:xfrm>
          <a:prstGeom prst="rect">
            <a:avLst/>
          </a:prstGeom>
          <a:noFill/>
        </p:spPr>
        <p:txBody>
          <a:bodyPr wrap="none" lIns="0" tIns="0" rIns="0" bIns="0" rtlCol="0">
            <a:spAutoFit/>
          </a:bodyPr>
          <a:lstStyle/>
          <a:p>
            <a:endParaRPr lang="zh-CN" altLang="en-US" dirty="0"/>
          </a:p>
        </p:txBody>
      </p:sp>
      <p:sp>
        <p:nvSpPr>
          <p:cNvPr id="29"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07</a:t>
            </a:r>
            <a:endParaRPr lang="en-US" sz="1100" dirty="0">
              <a:solidFill>
                <a:schemeClr val="bg1"/>
              </a:solidFill>
            </a:endParaRPr>
          </a:p>
        </p:txBody>
      </p:sp>
    </p:spTree>
    <p:custDataLst>
      <p:tags r:id="rId1"/>
    </p:custDataLst>
    <p:extLst>
      <p:ext uri="{BB962C8B-B14F-4D97-AF65-F5344CB8AC3E}">
        <p14:creationId xmlns:p14="http://schemas.microsoft.com/office/powerpoint/2010/main" val="6888466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0000"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0-#ppt_w/2"/>
                                          </p:val>
                                        </p:tav>
                                        <p:tav tm="100000">
                                          <p:val>
                                            <p:strVal val="#ppt_x"/>
                                          </p:val>
                                        </p:tav>
                                      </p:tavLst>
                                    </p:anim>
                                    <p:anim calcmode="lin" valueType="num">
                                      <p:cBhvr additive="base">
                                        <p:cTn id="8"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
                                        </p:tgtEl>
                                        <p:attrNameLst>
                                          <p:attrName>style.visibility</p:attrName>
                                        </p:attrNameLst>
                                      </p:cBhvr>
                                      <p:to>
                                        <p:strVal val="visible"/>
                                      </p:to>
                                    </p:set>
                                    <p:anim calcmode="lin" valueType="num">
                                      <p:cBhvr additive="base">
                                        <p:cTn id="13" dur="250" fill="hold"/>
                                        <p:tgtEl>
                                          <p:spTgt spid="78"/>
                                        </p:tgtEl>
                                        <p:attrNameLst>
                                          <p:attrName>ppt_x</p:attrName>
                                        </p:attrNameLst>
                                      </p:cBhvr>
                                      <p:tavLst>
                                        <p:tav tm="0">
                                          <p:val>
                                            <p:strVal val="0-#ppt_w/2"/>
                                          </p:val>
                                        </p:tav>
                                        <p:tav tm="100000">
                                          <p:val>
                                            <p:strVal val="#ppt_x"/>
                                          </p:val>
                                        </p:tav>
                                      </p:tavLst>
                                    </p:anim>
                                    <p:anim calcmode="lin" valueType="num">
                                      <p:cBhvr additive="base">
                                        <p:cTn id="14" dur="250" fill="hold"/>
                                        <p:tgtEl>
                                          <p:spTgt spid="78"/>
                                        </p:tgtEl>
                                        <p:attrNameLst>
                                          <p:attrName>ppt_y</p:attrName>
                                        </p:attrNameLst>
                                      </p:cBhvr>
                                      <p:tavLst>
                                        <p:tav tm="0">
                                          <p:val>
                                            <p:strVal val="#ppt_y"/>
                                          </p:val>
                                        </p:tav>
                                        <p:tav tm="100000">
                                          <p:val>
                                            <p:strVal val="#ppt_y"/>
                                          </p:val>
                                        </p:tav>
                                      </p:tavLst>
                                    </p:anim>
                                  </p:childTnLst>
                                </p:cTn>
                              </p:par>
                            </p:childTnLst>
                          </p:cTn>
                        </p:par>
                        <p:par>
                          <p:cTn id="15" fill="hold">
                            <p:stCondLst>
                              <p:cond delay="250"/>
                            </p:stCondLst>
                            <p:childTnLst>
                              <p:par>
                                <p:cTn id="16" presetID="22" presetClass="entr" presetSubtype="8" fill="hold" nodeType="after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wipe(left)">
                                      <p:cBhvr>
                                        <p:cTn id="18" dur="250"/>
                                        <p:tgtEl>
                                          <p:spTgt spid="66"/>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wipe(left)">
                                      <p:cBhvr>
                                        <p:cTn id="22" dur="250"/>
                                        <p:tgtEl>
                                          <p:spTgt spid="65"/>
                                        </p:tgtEl>
                                      </p:cBhvr>
                                    </p:animEffect>
                                  </p:childTnLst>
                                </p:cTn>
                              </p:par>
                            </p:childTnLst>
                          </p:cTn>
                        </p:par>
                        <p:par>
                          <p:cTn id="23" fill="hold">
                            <p:stCondLst>
                              <p:cond delay="750"/>
                            </p:stCondLst>
                            <p:childTnLst>
                              <p:par>
                                <p:cTn id="24" presetID="10" presetClass="entr" presetSubtype="0" fill="hold" nodeType="afterEffect">
                                  <p:stCondLst>
                                    <p:cond delay="0"/>
                                  </p:stCondLst>
                                  <p:childTnLst>
                                    <p:set>
                                      <p:cBhvr>
                                        <p:cTn id="25" dur="1" fill="hold">
                                          <p:stCondLst>
                                            <p:cond delay="0"/>
                                          </p:stCondLst>
                                        </p:cTn>
                                        <p:tgtEl>
                                          <p:spTgt spid="75"/>
                                        </p:tgtEl>
                                        <p:attrNameLst>
                                          <p:attrName>style.visibility</p:attrName>
                                        </p:attrNameLst>
                                      </p:cBhvr>
                                      <p:to>
                                        <p:strVal val="visible"/>
                                      </p:to>
                                    </p:set>
                                    <p:animEffect transition="in" filter="fade">
                                      <p:cBhvr>
                                        <p:cTn id="26" dur="250"/>
                                        <p:tgtEl>
                                          <p:spTgt spid="75"/>
                                        </p:tgtEl>
                                      </p:cBhvr>
                                    </p:animEffect>
                                  </p:childTnLst>
                                </p:cTn>
                              </p:par>
                            </p:childTnLst>
                          </p:cTn>
                        </p:par>
                        <p:par>
                          <p:cTn id="27" fill="hold">
                            <p:stCondLst>
                              <p:cond delay="1000"/>
                            </p:stCondLst>
                            <p:childTnLst>
                              <p:par>
                                <p:cTn id="28" presetID="0" presetClass="path" presetSubtype="0" accel="50000" decel="50000" fill="hold" nodeType="afterEffect">
                                  <p:stCondLst>
                                    <p:cond delay="0"/>
                                  </p:stCondLst>
                                  <p:childTnLst>
                                    <p:animMotion origin="layout" path="M 8.33333E-7 7.40741E-7 L 0.04496 7.40741E-7 L 0.22101 0.29398 " pathEditMode="relative" rAng="0" ptsTypes="AAA">
                                      <p:cBhvr>
                                        <p:cTn id="29" dur="750" fill="hold"/>
                                        <p:tgtEl>
                                          <p:spTgt spid="75"/>
                                        </p:tgtEl>
                                        <p:attrNameLst>
                                          <p:attrName>ppt_x</p:attrName>
                                          <p:attrName>ppt_y</p:attrName>
                                        </p:attrNameLst>
                                      </p:cBhvr>
                                      <p:rCtr x="11042" y="14699"/>
                                    </p:animMotion>
                                  </p:childTnLst>
                                </p:cTn>
                              </p:par>
                            </p:childTnLst>
                          </p:cTn>
                        </p:par>
                        <p:par>
                          <p:cTn id="30" fill="hold">
                            <p:stCondLst>
                              <p:cond delay="1750"/>
                            </p:stCondLst>
                            <p:childTnLst>
                              <p:par>
                                <p:cTn id="31" presetID="8" presetClass="emph" presetSubtype="0" fill="hold" nodeType="afterEffect">
                                  <p:stCondLst>
                                    <p:cond delay="0"/>
                                  </p:stCondLst>
                                  <p:childTnLst>
                                    <p:animRot by="10800000">
                                      <p:cBhvr>
                                        <p:cTn id="32" dur="750" fill="hold"/>
                                        <p:tgtEl>
                                          <p:spTgt spid="75"/>
                                        </p:tgtEl>
                                        <p:attrNameLst>
                                          <p:attrName>r</p:attrName>
                                        </p:attrNameLst>
                                      </p:cBhvr>
                                    </p:animRot>
                                  </p:childTnLst>
                                </p:cTn>
                              </p:par>
                              <p:par>
                                <p:cTn id="33" presetID="21" presetClass="entr" presetSubtype="2"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wheel(2)">
                                      <p:cBhvr>
                                        <p:cTn id="35" dur="750"/>
                                        <p:tgtEl>
                                          <p:spTgt spid="6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3"/>
                                        </p:tgtEl>
                                        <p:attrNameLst>
                                          <p:attrName>style.visibility</p:attrName>
                                        </p:attrNameLst>
                                      </p:cBhvr>
                                      <p:to>
                                        <p:strVal val="visible"/>
                                      </p:to>
                                    </p:set>
                                    <p:animEffect transition="in" filter="fade">
                                      <p:cBhvr>
                                        <p:cTn id="38" dur="250"/>
                                        <p:tgtEl>
                                          <p:spTgt spid="6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2"/>
                                        </p:tgtEl>
                                        <p:attrNameLst>
                                          <p:attrName>style.visibility</p:attrName>
                                        </p:attrNameLst>
                                      </p:cBhvr>
                                      <p:to>
                                        <p:strVal val="visible"/>
                                      </p:to>
                                    </p:set>
                                    <p:animEffect transition="in" filter="fade">
                                      <p:cBhvr>
                                        <p:cTn id="41" dur="250"/>
                                        <p:tgtEl>
                                          <p:spTgt spid="62"/>
                                        </p:tgtEl>
                                      </p:cBhvr>
                                    </p:animEffect>
                                  </p:childTnLst>
                                </p:cTn>
                              </p:par>
                            </p:childTnLst>
                          </p:cTn>
                        </p:par>
                        <p:par>
                          <p:cTn id="42" fill="hold">
                            <p:stCondLst>
                              <p:cond delay="2500"/>
                            </p:stCondLst>
                            <p:childTnLst>
                              <p:par>
                                <p:cTn id="43" presetID="10" presetClass="entr" presetSubtype="0" fill="hold" grpId="0" nodeType="afterEffect">
                                  <p:stCondLst>
                                    <p:cond delay="0"/>
                                  </p:stCondLst>
                                  <p:childTnLst>
                                    <p:set>
                                      <p:cBhvr>
                                        <p:cTn id="44" dur="1" fill="hold">
                                          <p:stCondLst>
                                            <p:cond delay="0"/>
                                          </p:stCondLst>
                                        </p:cTn>
                                        <p:tgtEl>
                                          <p:spTgt spid="79"/>
                                        </p:tgtEl>
                                        <p:attrNameLst>
                                          <p:attrName>style.visibility</p:attrName>
                                        </p:attrNameLst>
                                      </p:cBhvr>
                                      <p:to>
                                        <p:strVal val="visible"/>
                                      </p:to>
                                    </p:set>
                                    <p:animEffect transition="in" filter="fade">
                                      <p:cBhvr>
                                        <p:cTn id="45" dur="500"/>
                                        <p:tgtEl>
                                          <p:spTgt spid="7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fade">
                                      <p:cBhvr>
                                        <p:cTn id="48" dur="250"/>
                                        <p:tgtEl>
                                          <p:spTgt spid="6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fade">
                                      <p:cBhvr>
                                        <p:cTn id="51" dur="250"/>
                                        <p:tgtEl>
                                          <p:spTgt spid="67"/>
                                        </p:tgtEl>
                                      </p:cBhvr>
                                    </p:animEffect>
                                  </p:childTnLst>
                                </p:cTn>
                              </p:par>
                            </p:childTnLst>
                          </p:cTn>
                        </p:par>
                        <p:par>
                          <p:cTn id="52" fill="hold">
                            <p:stCondLst>
                              <p:cond delay="3000"/>
                            </p:stCondLst>
                            <p:childTnLst>
                              <p:par>
                                <p:cTn id="53" presetID="10" presetClass="entr" presetSubtype="0" fill="hold" grpId="0" nodeType="afterEffect">
                                  <p:stCondLst>
                                    <p:cond delay="0"/>
                                  </p:stCondLst>
                                  <p:childTnLst>
                                    <p:set>
                                      <p:cBhvr>
                                        <p:cTn id="54" dur="1" fill="hold">
                                          <p:stCondLst>
                                            <p:cond delay="0"/>
                                          </p:stCondLst>
                                        </p:cTn>
                                        <p:tgtEl>
                                          <p:spTgt spid="69"/>
                                        </p:tgtEl>
                                        <p:attrNameLst>
                                          <p:attrName>style.visibility</p:attrName>
                                        </p:attrNameLst>
                                      </p:cBhvr>
                                      <p:to>
                                        <p:strVal val="visible"/>
                                      </p:to>
                                    </p:set>
                                    <p:animEffect transition="in" filter="fade">
                                      <p:cBhvr>
                                        <p:cTn id="55" dur="250"/>
                                        <p:tgtEl>
                                          <p:spTgt spid="6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fade">
                                      <p:cBhvr>
                                        <p:cTn id="58" dur="250"/>
                                        <p:tgtEl>
                                          <p:spTgt spid="6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250"/>
                                        <p:tgtEl>
                                          <p:spTgt spid="61"/>
                                        </p:tgtEl>
                                      </p:cBhvr>
                                    </p:animEffect>
                                  </p:childTnLst>
                                </p:cTn>
                              </p:par>
                            </p:childTnLst>
                          </p:cTn>
                        </p:par>
                        <p:par>
                          <p:cTn id="62" fill="hold">
                            <p:stCondLst>
                              <p:cond delay="3250"/>
                            </p:stCondLst>
                            <p:childTnLst>
                              <p:par>
                                <p:cTn id="63" presetID="10" presetClass="entr" presetSubtype="0" fill="hold" grpId="0" nodeType="afterEffect">
                                  <p:stCondLst>
                                    <p:cond delay="0"/>
                                  </p:stCondLst>
                                  <p:childTnLst>
                                    <p:set>
                                      <p:cBhvr>
                                        <p:cTn id="64" dur="1" fill="hold">
                                          <p:stCondLst>
                                            <p:cond delay="0"/>
                                          </p:stCondLst>
                                        </p:cTn>
                                        <p:tgtEl>
                                          <p:spTgt spid="71"/>
                                        </p:tgtEl>
                                        <p:attrNameLst>
                                          <p:attrName>style.visibility</p:attrName>
                                        </p:attrNameLst>
                                      </p:cBhvr>
                                      <p:to>
                                        <p:strVal val="visible"/>
                                      </p:to>
                                    </p:set>
                                    <p:animEffect transition="in" filter="fade">
                                      <p:cBhvr>
                                        <p:cTn id="65" dur="250"/>
                                        <p:tgtEl>
                                          <p:spTgt spid="7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80"/>
                                        </p:tgtEl>
                                        <p:attrNameLst>
                                          <p:attrName>style.visibility</p:attrName>
                                        </p:attrNameLst>
                                      </p:cBhvr>
                                      <p:to>
                                        <p:strVal val="visible"/>
                                      </p:to>
                                    </p:set>
                                    <p:animEffect transition="in" filter="wipe(down)">
                                      <p:cBhvr>
                                        <p:cTn id="70" dur="250"/>
                                        <p:tgtEl>
                                          <p:spTgt spid="80"/>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81"/>
                                        </p:tgtEl>
                                        <p:attrNameLst>
                                          <p:attrName>style.visibility</p:attrName>
                                        </p:attrNameLst>
                                      </p:cBhvr>
                                      <p:to>
                                        <p:strVal val="visible"/>
                                      </p:to>
                                    </p:set>
                                    <p:animEffect transition="in" filter="wipe(down)">
                                      <p:cBhvr>
                                        <p:cTn id="73" dur="250"/>
                                        <p:tgtEl>
                                          <p:spTgt spid="8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72"/>
                                        </p:tgtEl>
                                        <p:attrNameLst>
                                          <p:attrName>style.visibility</p:attrName>
                                        </p:attrNameLst>
                                      </p:cBhvr>
                                      <p:to>
                                        <p:strVal val="visible"/>
                                      </p:to>
                                    </p:set>
                                    <p:animEffect transition="in" filter="wipe(down)">
                                      <p:cBhvr>
                                        <p:cTn id="78" dur="250"/>
                                        <p:tgtEl>
                                          <p:spTgt spid="72"/>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70"/>
                                        </p:tgtEl>
                                        <p:attrNameLst>
                                          <p:attrName>style.visibility</p:attrName>
                                        </p:attrNameLst>
                                      </p:cBhvr>
                                      <p:to>
                                        <p:strVal val="visible"/>
                                      </p:to>
                                    </p:set>
                                    <p:animEffect transition="in" filter="wipe(down)">
                                      <p:cBhvr>
                                        <p:cTn id="81" dur="250"/>
                                        <p:tgtEl>
                                          <p:spTgt spid="7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74"/>
                                        </p:tgtEl>
                                        <p:attrNameLst>
                                          <p:attrName>style.visibility</p:attrName>
                                        </p:attrNameLst>
                                      </p:cBhvr>
                                      <p:to>
                                        <p:strVal val="visible"/>
                                      </p:to>
                                    </p:set>
                                    <p:animEffect transition="in" filter="wipe(down)">
                                      <p:cBhvr>
                                        <p:cTn id="86" dur="250"/>
                                        <p:tgtEl>
                                          <p:spTgt spid="74"/>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73"/>
                                        </p:tgtEl>
                                        <p:attrNameLst>
                                          <p:attrName>style.visibility</p:attrName>
                                        </p:attrNameLst>
                                      </p:cBhvr>
                                      <p:to>
                                        <p:strVal val="visible"/>
                                      </p:to>
                                    </p:set>
                                    <p:animEffect transition="in" filter="wipe(down)">
                                      <p:cBhvr>
                                        <p:cTn id="89" dur="25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61" grpId="0" animBg="1"/>
      <p:bldP spid="62" grpId="0" animBg="1"/>
      <p:bldP spid="63" grpId="0" animBg="1"/>
      <p:bldP spid="64" grpId="0" animBg="1"/>
      <p:bldP spid="65" grpId="0" animBg="1"/>
      <p:bldP spid="67" grpId="0" animBg="1"/>
      <p:bldP spid="68" grpId="0" animBg="1"/>
      <p:bldP spid="69" grpId="0"/>
      <p:bldP spid="70" grpId="0" animBg="1"/>
      <p:bldP spid="71" grpId="0"/>
      <p:bldP spid="72" grpId="0"/>
      <p:bldP spid="73" grpId="0" animBg="1"/>
      <p:bldP spid="74" grpId="0"/>
      <p:bldP spid="78" grpId="0"/>
      <p:bldP spid="79" grpId="0"/>
      <p:bldP spid="80" grpId="0" animBg="1"/>
      <p:bldP spid="8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Design of TPDM</a:t>
            </a:r>
            <a:endParaRPr lang="en-US" sz="3400" dirty="0"/>
          </a:p>
        </p:txBody>
      </p:sp>
      <p:pic>
        <p:nvPicPr>
          <p:cNvPr id="83" name="图片 82"/>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59" name="Rectangle 7"/>
          <p:cNvSpPr/>
          <p:nvPr/>
        </p:nvSpPr>
        <p:spPr>
          <a:xfrm>
            <a:off x="0" y="2053944"/>
            <a:ext cx="60959" cy="375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prstClr val="white"/>
              </a:solidFill>
            </a:endParaRPr>
          </a:p>
        </p:txBody>
      </p:sp>
      <p:sp>
        <p:nvSpPr>
          <p:cNvPr id="60" name="Freeform 4"/>
          <p:cNvSpPr>
            <a:spLocks noEditPoints="1"/>
          </p:cNvSpPr>
          <p:nvPr/>
        </p:nvSpPr>
        <p:spPr bwMode="gray">
          <a:xfrm rot="20241944">
            <a:off x="2302178" y="2653806"/>
            <a:ext cx="6277435" cy="2827242"/>
          </a:xfrm>
          <a:custGeom>
            <a:avLst/>
            <a:gdLst>
              <a:gd name="T0" fmla="*/ 1692 w 4040"/>
              <a:gd name="T1" fmla="*/ 12 h 1888"/>
              <a:gd name="T2" fmla="*/ 1234 w 4040"/>
              <a:gd name="T3" fmla="*/ 74 h 1888"/>
              <a:gd name="T4" fmla="*/ 828 w 4040"/>
              <a:gd name="T5" fmla="*/ 182 h 1888"/>
              <a:gd name="T6" fmla="*/ 486 w 4040"/>
              <a:gd name="T7" fmla="*/ 330 h 1888"/>
              <a:gd name="T8" fmla="*/ 226 w 4040"/>
              <a:gd name="T9" fmla="*/ 510 h 1888"/>
              <a:gd name="T10" fmla="*/ 58 w 4040"/>
              <a:gd name="T11" fmla="*/ 718 h 1888"/>
              <a:gd name="T12" fmla="*/ 0 w 4040"/>
              <a:gd name="T13" fmla="*/ 944 h 1888"/>
              <a:gd name="T14" fmla="*/ 58 w 4040"/>
              <a:gd name="T15" fmla="*/ 1170 h 1888"/>
              <a:gd name="T16" fmla="*/ 226 w 4040"/>
              <a:gd name="T17" fmla="*/ 1378 h 1888"/>
              <a:gd name="T18" fmla="*/ 486 w 4040"/>
              <a:gd name="T19" fmla="*/ 1558 h 1888"/>
              <a:gd name="T20" fmla="*/ 828 w 4040"/>
              <a:gd name="T21" fmla="*/ 1706 h 1888"/>
              <a:gd name="T22" fmla="*/ 1234 w 4040"/>
              <a:gd name="T23" fmla="*/ 1814 h 1888"/>
              <a:gd name="T24" fmla="*/ 1692 w 4040"/>
              <a:gd name="T25" fmla="*/ 1876 h 1888"/>
              <a:gd name="T26" fmla="*/ 2186 w 4040"/>
              <a:gd name="T27" fmla="*/ 1884 h 1888"/>
              <a:gd name="T28" fmla="*/ 2658 w 4040"/>
              <a:gd name="T29" fmla="*/ 1840 h 1888"/>
              <a:gd name="T30" fmla="*/ 3084 w 4040"/>
              <a:gd name="T31" fmla="*/ 1746 h 1888"/>
              <a:gd name="T32" fmla="*/ 3448 w 4040"/>
              <a:gd name="T33" fmla="*/ 1612 h 1888"/>
              <a:gd name="T34" fmla="*/ 3738 w 4040"/>
              <a:gd name="T35" fmla="*/ 1442 h 1888"/>
              <a:gd name="T36" fmla="*/ 3938 w 4040"/>
              <a:gd name="T37" fmla="*/ 1242 h 1888"/>
              <a:gd name="T38" fmla="*/ 4034 w 4040"/>
              <a:gd name="T39" fmla="*/ 1022 h 1888"/>
              <a:gd name="T40" fmla="*/ 4014 w 4040"/>
              <a:gd name="T41" fmla="*/ 790 h 1888"/>
              <a:gd name="T42" fmla="*/ 3882 w 4040"/>
              <a:gd name="T43" fmla="*/ 576 h 1888"/>
              <a:gd name="T44" fmla="*/ 3650 w 4040"/>
              <a:gd name="T45" fmla="*/ 386 h 1888"/>
              <a:gd name="T46" fmla="*/ 3334 w 4040"/>
              <a:gd name="T47" fmla="*/ 228 h 1888"/>
              <a:gd name="T48" fmla="*/ 2948 w 4040"/>
              <a:gd name="T49" fmla="*/ 106 h 1888"/>
              <a:gd name="T50" fmla="*/ 2506 w 4040"/>
              <a:gd name="T51" fmla="*/ 28 h 1888"/>
              <a:gd name="T52" fmla="*/ 2020 w 4040"/>
              <a:gd name="T53" fmla="*/ 0 h 1888"/>
              <a:gd name="T54" fmla="*/ 1606 w 4040"/>
              <a:gd name="T55" fmla="*/ 1736 h 1888"/>
              <a:gd name="T56" fmla="*/ 1164 w 4040"/>
              <a:gd name="T57" fmla="*/ 1678 h 1888"/>
              <a:gd name="T58" fmla="*/ 776 w 4040"/>
              <a:gd name="T59" fmla="*/ 1576 h 1888"/>
              <a:gd name="T60" fmla="*/ 458 w 4040"/>
              <a:gd name="T61" fmla="*/ 1436 h 1888"/>
              <a:gd name="T62" fmla="*/ 224 w 4040"/>
              <a:gd name="T63" fmla="*/ 1266 h 1888"/>
              <a:gd name="T64" fmla="*/ 88 w 4040"/>
              <a:gd name="T65" fmla="*/ 1074 h 1888"/>
              <a:gd name="T66" fmla="*/ 68 w 4040"/>
              <a:gd name="T67" fmla="*/ 864 h 1888"/>
              <a:gd name="T68" fmla="*/ 166 w 4040"/>
              <a:gd name="T69" fmla="*/ 664 h 1888"/>
              <a:gd name="T70" fmla="*/ 370 w 4040"/>
              <a:gd name="T71" fmla="*/ 486 h 1888"/>
              <a:gd name="T72" fmla="*/ 662 w 4040"/>
              <a:gd name="T73" fmla="*/ 336 h 1888"/>
              <a:gd name="T74" fmla="*/ 1028 w 4040"/>
              <a:gd name="T75" fmla="*/ 222 h 1888"/>
              <a:gd name="T76" fmla="*/ 1454 w 4040"/>
              <a:gd name="T77" fmla="*/ 148 h 1888"/>
              <a:gd name="T78" fmla="*/ 1922 w 4040"/>
              <a:gd name="T79" fmla="*/ 120 h 1888"/>
              <a:gd name="T80" fmla="*/ 2392 w 4040"/>
              <a:gd name="T81" fmla="*/ 148 h 1888"/>
              <a:gd name="T82" fmla="*/ 2818 w 4040"/>
              <a:gd name="T83" fmla="*/ 222 h 1888"/>
              <a:gd name="T84" fmla="*/ 3184 w 4040"/>
              <a:gd name="T85" fmla="*/ 336 h 1888"/>
              <a:gd name="T86" fmla="*/ 3476 w 4040"/>
              <a:gd name="T87" fmla="*/ 486 h 1888"/>
              <a:gd name="T88" fmla="*/ 3680 w 4040"/>
              <a:gd name="T89" fmla="*/ 664 h 1888"/>
              <a:gd name="T90" fmla="*/ 3778 w 4040"/>
              <a:gd name="T91" fmla="*/ 864 h 1888"/>
              <a:gd name="T92" fmla="*/ 3758 w 4040"/>
              <a:gd name="T93" fmla="*/ 1074 h 1888"/>
              <a:gd name="T94" fmla="*/ 3622 w 4040"/>
              <a:gd name="T95" fmla="*/ 1266 h 1888"/>
              <a:gd name="T96" fmla="*/ 3388 w 4040"/>
              <a:gd name="T97" fmla="*/ 1436 h 1888"/>
              <a:gd name="T98" fmla="*/ 3070 w 4040"/>
              <a:gd name="T99" fmla="*/ 1576 h 1888"/>
              <a:gd name="T100" fmla="*/ 2682 w 4040"/>
              <a:gd name="T101" fmla="*/ 1678 h 1888"/>
              <a:gd name="T102" fmla="*/ 2240 w 4040"/>
              <a:gd name="T103" fmla="*/ 1736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rgbClr val="DDDDDD">
                  <a:gamma/>
                  <a:tint val="30196"/>
                  <a:invGamma/>
                  <a:alpha val="36000"/>
                </a:srgbClr>
              </a:gs>
              <a:gs pos="100000">
                <a:srgbClr val="D9D9D9"/>
              </a:gs>
            </a:gsLst>
            <a:lin ang="0" scaled="1"/>
          </a:gradFill>
          <a:ln>
            <a:noFill/>
          </a:ln>
          <a:extLst/>
        </p:spPr>
        <p:txBody>
          <a:bodyPr/>
          <a:lstStyle/>
          <a:p>
            <a:pPr>
              <a:defRPr/>
            </a:pPr>
            <a:endParaRPr lang="en-US" kern="0" smtClean="0">
              <a:solidFill>
                <a:srgbClr val="000000"/>
              </a:solidFill>
            </a:endParaRPr>
          </a:p>
        </p:txBody>
      </p:sp>
      <p:sp>
        <p:nvSpPr>
          <p:cNvPr id="61" name="Oval 8"/>
          <p:cNvSpPr>
            <a:spLocks noChangeArrowheads="1"/>
          </p:cNvSpPr>
          <p:nvPr/>
        </p:nvSpPr>
        <p:spPr bwMode="gray">
          <a:xfrm rot="20056323">
            <a:off x="4865273" y="5682763"/>
            <a:ext cx="1066800" cy="304800"/>
          </a:xfrm>
          <a:prstGeom prst="ellipse">
            <a:avLst/>
          </a:prstGeom>
          <a:gradFill rotWithShape="1">
            <a:gsLst>
              <a:gs pos="0">
                <a:srgbClr val="5F5F5F"/>
              </a:gs>
              <a:gs pos="100000">
                <a:srgbClr val="84A5C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kern="0" smtClean="0">
              <a:solidFill>
                <a:srgbClr val="000000"/>
              </a:solidFill>
            </a:endParaRPr>
          </a:p>
        </p:txBody>
      </p:sp>
      <p:sp>
        <p:nvSpPr>
          <p:cNvPr id="64" name="Oval 13"/>
          <p:cNvSpPr>
            <a:spLocks noChangeArrowheads="1"/>
          </p:cNvSpPr>
          <p:nvPr/>
        </p:nvSpPr>
        <p:spPr bwMode="gray">
          <a:xfrm>
            <a:off x="4190277" y="5012217"/>
            <a:ext cx="1141413" cy="1101726"/>
          </a:xfrm>
          <a:prstGeom prst="ellipse">
            <a:avLst/>
          </a:prstGeom>
          <a:gradFill flip="none" rotWithShape="1">
            <a:gsLst>
              <a:gs pos="0">
                <a:schemeClr val="accent5">
                  <a:lumMod val="0"/>
                  <a:lumOff val="100000"/>
                </a:schemeClr>
              </a:gs>
              <a:gs pos="35000">
                <a:schemeClr val="accent5">
                  <a:lumMod val="0"/>
                  <a:lumOff val="100000"/>
                </a:schemeClr>
              </a:gs>
              <a:gs pos="100000">
                <a:srgbClr val="5AAAE4"/>
              </a:gs>
            </a:gsLst>
            <a:path path="circle">
              <a:fillToRect l="50000" t="-80000" r="50000" b="180000"/>
            </a:path>
            <a:tileRect/>
          </a:gradFill>
          <a:ln>
            <a:noFill/>
          </a:ln>
          <a:effectLst/>
          <a:extLst/>
        </p:spPr>
        <p:txBody>
          <a:bodyPr wrap="none" anchor="ctr"/>
          <a:lstStyle/>
          <a:p>
            <a:pPr algn="ctr">
              <a:defRPr/>
            </a:pPr>
            <a:endParaRPr lang="en-US" kern="0" smtClean="0">
              <a:solidFill>
                <a:srgbClr val="000000"/>
              </a:solidFill>
            </a:endParaRPr>
          </a:p>
        </p:txBody>
      </p:sp>
      <p:sp>
        <p:nvSpPr>
          <p:cNvPr id="65" name="Line 21"/>
          <p:cNvSpPr>
            <a:spLocks noChangeShapeType="1"/>
          </p:cNvSpPr>
          <p:nvPr/>
        </p:nvSpPr>
        <p:spPr bwMode="gray">
          <a:xfrm>
            <a:off x="2846894" y="2527200"/>
            <a:ext cx="1338263" cy="1366838"/>
          </a:xfrm>
          <a:prstGeom prst="line">
            <a:avLst/>
          </a:prstGeom>
          <a:noFill/>
          <a:ln w="22225">
            <a:solidFill>
              <a:schemeClr val="accent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en-US" kern="0" smtClean="0">
              <a:solidFill>
                <a:srgbClr val="000000"/>
              </a:solidFill>
            </a:endParaRPr>
          </a:p>
        </p:txBody>
      </p:sp>
      <p:cxnSp>
        <p:nvCxnSpPr>
          <p:cNvPr id="66" name="AutoShape 22"/>
          <p:cNvCxnSpPr>
            <a:cxnSpLocks noChangeShapeType="1"/>
          </p:cNvCxnSpPr>
          <p:nvPr/>
        </p:nvCxnSpPr>
        <p:spPr bwMode="gray">
          <a:xfrm flipH="1">
            <a:off x="1132393" y="2527200"/>
            <a:ext cx="1725613" cy="0"/>
          </a:xfrm>
          <a:prstGeom prst="straightConnector1">
            <a:avLst/>
          </a:prstGeom>
          <a:noFill/>
          <a:ln w="22225">
            <a:solidFill>
              <a:schemeClr val="accent2">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cxnSp>
      <p:sp>
        <p:nvSpPr>
          <p:cNvPr id="67" name="Oval 5"/>
          <p:cNvSpPr>
            <a:spLocks noChangeArrowheads="1"/>
          </p:cNvSpPr>
          <p:nvPr/>
        </p:nvSpPr>
        <p:spPr bwMode="gray">
          <a:xfrm rot="20056323">
            <a:off x="6113257" y="2395477"/>
            <a:ext cx="1066800" cy="304800"/>
          </a:xfrm>
          <a:prstGeom prst="ellipse">
            <a:avLst/>
          </a:prstGeom>
          <a:gradFill rotWithShape="1">
            <a:gsLst>
              <a:gs pos="0">
                <a:srgbClr val="5F5F5F"/>
              </a:gs>
              <a:gs pos="100000">
                <a:srgbClr val="84A5C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kern="0" smtClean="0">
              <a:solidFill>
                <a:srgbClr val="000000"/>
              </a:solidFill>
            </a:endParaRPr>
          </a:p>
        </p:txBody>
      </p:sp>
      <p:sp>
        <p:nvSpPr>
          <p:cNvPr id="68" name="Oval 10"/>
          <p:cNvSpPr>
            <a:spLocks noChangeArrowheads="1"/>
          </p:cNvSpPr>
          <p:nvPr/>
        </p:nvSpPr>
        <p:spPr bwMode="gray">
          <a:xfrm>
            <a:off x="5554596" y="1742145"/>
            <a:ext cx="1143000" cy="1101725"/>
          </a:xfrm>
          <a:prstGeom prst="ellipse">
            <a:avLst/>
          </a:prstGeom>
          <a:gradFill flip="none" rotWithShape="1">
            <a:gsLst>
              <a:gs pos="0">
                <a:schemeClr val="accent3">
                  <a:lumMod val="0"/>
                  <a:lumOff val="100000"/>
                </a:schemeClr>
              </a:gs>
              <a:gs pos="35000">
                <a:schemeClr val="accent3">
                  <a:lumMod val="0"/>
                  <a:lumOff val="100000"/>
                </a:schemeClr>
              </a:gs>
              <a:gs pos="100000">
                <a:srgbClr val="5AAAE4"/>
              </a:gs>
            </a:gsLst>
            <a:path path="circle">
              <a:fillToRect l="50000" t="-80000" r="50000" b="180000"/>
            </a:path>
            <a:tileRect/>
          </a:gradFill>
          <a:ln>
            <a:noFill/>
          </a:ln>
          <a:effectLst/>
        </p:spPr>
        <p:txBody>
          <a:bodyPr wrap="none" anchor="ctr"/>
          <a:lstStyle/>
          <a:p>
            <a:pPr algn="ctr">
              <a:defRPr/>
            </a:pPr>
            <a:endParaRPr lang="en-US" kern="0" dirty="0" smtClean="0">
              <a:solidFill>
                <a:srgbClr val="000000"/>
              </a:solidFill>
              <a:latin typeface="Source Sans Pro"/>
            </a:endParaRPr>
          </a:p>
        </p:txBody>
      </p:sp>
      <p:sp>
        <p:nvSpPr>
          <p:cNvPr id="69" name="文本框 68"/>
          <p:cNvSpPr txBox="1"/>
          <p:nvPr/>
        </p:nvSpPr>
        <p:spPr>
          <a:xfrm>
            <a:off x="4972839" y="1151635"/>
            <a:ext cx="2306514" cy="461665"/>
          </a:xfrm>
          <a:prstGeom prst="rect">
            <a:avLst/>
          </a:prstGeom>
          <a:noFill/>
        </p:spPr>
        <p:txBody>
          <a:bodyPr wrap="square" rtlCol="0" anchor="ctr" anchorCtr="0">
            <a:spAutoFit/>
          </a:bodyPr>
          <a:lstStyle/>
          <a:p>
            <a:pPr algn="ctr"/>
            <a:r>
              <a:rPr lang="en-US" sz="2400" dirty="0" smtClean="0">
                <a:solidFill>
                  <a:srgbClr val="5AAAE4"/>
                </a:solidFill>
              </a:rPr>
              <a:t>Data Processing</a:t>
            </a:r>
          </a:p>
        </p:txBody>
      </p:sp>
      <p:sp>
        <p:nvSpPr>
          <p:cNvPr id="70" name="AutoShape 113"/>
          <p:cNvSpPr>
            <a:spLocks/>
          </p:cNvSpPr>
          <p:nvPr/>
        </p:nvSpPr>
        <p:spPr bwMode="auto">
          <a:xfrm>
            <a:off x="7173516" y="2053175"/>
            <a:ext cx="315693" cy="46024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rgbClr val="7EBDEA"/>
          </a:solidFill>
          <a:ln>
            <a:noFill/>
          </a:ln>
          <a:effectLst/>
          <a:extLst>
            <a:ext uri="{91240B29-F687-4f45-9708-019B960494DF}"/>
            <a:ext uri="{AF507438-7753-43e0-B8FC-AC1667EBCBE1}"/>
          </a:ex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ndParaRPr>
          </a:p>
        </p:txBody>
      </p:sp>
      <p:sp>
        <p:nvSpPr>
          <p:cNvPr id="71" name="文本框 70"/>
          <p:cNvSpPr txBox="1"/>
          <p:nvPr/>
        </p:nvSpPr>
        <p:spPr>
          <a:xfrm>
            <a:off x="2290957" y="6267524"/>
            <a:ext cx="3040733" cy="461665"/>
          </a:xfrm>
          <a:prstGeom prst="rect">
            <a:avLst/>
          </a:prstGeom>
          <a:noFill/>
        </p:spPr>
        <p:txBody>
          <a:bodyPr wrap="square" rtlCol="0">
            <a:spAutoFit/>
          </a:bodyPr>
          <a:lstStyle/>
          <a:p>
            <a:pPr algn="ctr"/>
            <a:r>
              <a:rPr lang="en-US" sz="2400" dirty="0" smtClean="0">
                <a:solidFill>
                  <a:srgbClr val="5AAAE4"/>
                </a:solidFill>
              </a:rPr>
              <a:t>Outcome Verification</a:t>
            </a:r>
          </a:p>
        </p:txBody>
      </p:sp>
      <mc:AlternateContent xmlns:mc="http://schemas.openxmlformats.org/markup-compatibility/2006" xmlns:a14="http://schemas.microsoft.com/office/drawing/2010/main">
        <mc:Choice Requires="a14">
          <p:sp>
            <p:nvSpPr>
              <p:cNvPr id="72" name="文本框 71"/>
              <p:cNvSpPr txBox="1"/>
              <p:nvPr/>
            </p:nvSpPr>
            <p:spPr>
              <a:xfrm>
                <a:off x="4393420" y="2945505"/>
                <a:ext cx="4876907" cy="3435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ea typeface="Cambria Math" panose="02040503050406030204" pitchFamily="18" charset="0"/>
                        </a:rPr>
                        <m:t>     </m:t>
                      </m:r>
                      <m:r>
                        <a:rPr lang="en-US" altLang="zh-CN" sz="1400" b="1" i="1" smtClean="0">
                          <a:solidFill>
                            <a:schemeClr val="tx1"/>
                          </a:solidFill>
                          <a:latin typeface="Cambria Math" panose="02040503050406030204" pitchFamily="18" charset="0"/>
                          <a:ea typeface="Cambria Math" panose="02040503050406030204" pitchFamily="18" charset="0"/>
                        </a:rPr>
                        <m:t>𝑬</m:t>
                      </m:r>
                      <m:d>
                        <m:dPr>
                          <m:ctrlPr>
                            <a:rPr lang="en-US" altLang="zh-CN" sz="1400" b="1" i="1" smtClean="0">
                              <a:solidFill>
                                <a:schemeClr val="tx1"/>
                              </a:solidFill>
                              <a:latin typeface="Cambria Math" charset="0"/>
                              <a:ea typeface="Cambria Math" panose="02040503050406030204" pitchFamily="18" charset="0"/>
                            </a:rPr>
                          </m:ctrlPr>
                        </m:dPr>
                        <m:e>
                          <m:r>
                            <a:rPr lang="en-US" altLang="zh-CN" sz="1400" b="1" i="1" smtClean="0">
                              <a:solidFill>
                                <a:schemeClr val="tx1"/>
                              </a:solidFill>
                              <a:latin typeface="Cambria Math" panose="02040503050406030204" pitchFamily="18" charset="0"/>
                              <a:ea typeface="Cambria Math" panose="02040503050406030204" pitchFamily="18" charset="0"/>
                            </a:rPr>
                            <m:t>𝟏</m:t>
                          </m:r>
                        </m:e>
                      </m:d>
                      <m:r>
                        <a:rPr lang="en-US" altLang="zh-CN" sz="1400" b="1" i="1">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𝑬</m:t>
                      </m:r>
                      <m:d>
                        <m:dPr>
                          <m:ctrlPr>
                            <a:rPr lang="en-US" altLang="zh-CN" sz="1400" b="1" i="1" smtClean="0">
                              <a:solidFill>
                                <a:schemeClr val="tx1"/>
                              </a:solidFill>
                              <a:latin typeface="Cambria Math" charset="0"/>
                            </a:rPr>
                          </m:ctrlPr>
                        </m:dPr>
                        <m:e>
                          <m:sSup>
                            <m:sSupPr>
                              <m:ctrlPr>
                                <a:rPr lang="en-US" altLang="zh-CN" sz="1400" b="1" i="1" smtClean="0">
                                  <a:solidFill>
                                    <a:schemeClr val="tx1"/>
                                  </a:solidFill>
                                  <a:latin typeface="Cambria Math" charset="0"/>
                                </a:rPr>
                              </m:ctrlPr>
                            </m:sSupPr>
                            <m:e>
                              <m:sSub>
                                <m:sSubPr>
                                  <m:ctrlPr>
                                    <a:rPr lang="en-US" altLang="zh-CN" sz="1400" b="1" i="1" smtClean="0">
                                      <a:solidFill>
                                        <a:schemeClr val="tx1"/>
                                      </a:solidFill>
                                      <a:latin typeface="Cambria Math" charset="0"/>
                                    </a:rPr>
                                  </m:ctrlPr>
                                </m:sSubPr>
                                <m:e>
                                  <m:r>
                                    <a:rPr lang="en-US" altLang="zh-CN" sz="1400" b="1" i="1" smtClean="0">
                                      <a:solidFill>
                                        <a:schemeClr val="tx1"/>
                                      </a:solidFill>
                                      <a:latin typeface="Cambria Math" panose="02040503050406030204" pitchFamily="18" charset="0"/>
                                    </a:rPr>
                                    <m:t>𝒗</m:t>
                                  </m:r>
                                </m:e>
                                <m:sub>
                                  <m:r>
                                    <a:rPr lang="en-US" altLang="zh-CN" sz="1400" b="1" i="1" smtClean="0">
                                      <a:solidFill>
                                        <a:schemeClr val="tx1"/>
                                      </a:solidFill>
                                      <a:latin typeface="Cambria Math" panose="02040503050406030204" pitchFamily="18" charset="0"/>
                                    </a:rPr>
                                    <m:t>𝒋</m:t>
                                  </m:r>
                                </m:sub>
                              </m:sSub>
                            </m:e>
                            <m:sup>
                              <m:r>
                                <a:rPr lang="en-US" altLang="zh-CN" sz="1400" b="1" i="1" smtClean="0">
                                  <a:solidFill>
                                    <a:schemeClr val="tx1"/>
                                  </a:solidFill>
                                  <a:latin typeface="Cambria Math" panose="02040503050406030204" pitchFamily="18" charset="0"/>
                                </a:rPr>
                                <m:t>𝟐</m:t>
                              </m:r>
                            </m:sup>
                          </m:sSup>
                        </m:e>
                      </m:d>
                      <m:r>
                        <a:rPr lang="en-US" altLang="zh-CN" sz="1400" b="1" i="1">
                          <a:solidFill>
                            <a:schemeClr val="tx1"/>
                          </a:solidFill>
                          <a:latin typeface="Cambria Math" panose="02040503050406030204" pitchFamily="18" charset="0"/>
                        </a:rPr>
                        <m:t>⊕</m:t>
                      </m:r>
                      <m:r>
                        <a:rPr lang="en-US" altLang="zh-CN" sz="1400" b="1" i="1" smtClean="0">
                          <a:solidFill>
                            <a:srgbClr val="FF0000"/>
                          </a:solidFill>
                          <a:latin typeface="Cambria Math" panose="02040503050406030204" pitchFamily="18" charset="0"/>
                        </a:rPr>
                        <m:t>𝑬</m:t>
                      </m:r>
                      <m:d>
                        <m:dPr>
                          <m:ctrlPr>
                            <a:rPr lang="en-US" altLang="zh-CN" sz="1400" b="1" i="1" smtClean="0">
                              <a:solidFill>
                                <a:srgbClr val="FF0000"/>
                              </a:solidFill>
                              <a:latin typeface="Cambria Math" charset="0"/>
                            </a:rPr>
                          </m:ctrlPr>
                        </m:dPr>
                        <m:e>
                          <m:sSub>
                            <m:sSubPr>
                              <m:ctrlPr>
                                <a:rPr lang="en-US" altLang="zh-CN" sz="1400" b="1" i="1" smtClean="0">
                                  <a:solidFill>
                                    <a:srgbClr val="FF0000"/>
                                  </a:solidFill>
                                  <a:latin typeface="Cambria Math" charset="0"/>
                                </a:rPr>
                              </m:ctrlPr>
                            </m:sSubPr>
                            <m:e>
                              <m:r>
                                <a:rPr lang="en-US" altLang="zh-CN" sz="1400" b="1" i="1" smtClean="0">
                                  <a:solidFill>
                                    <a:srgbClr val="FF0000"/>
                                  </a:solidFill>
                                  <a:latin typeface="Cambria Math" panose="02040503050406030204" pitchFamily="18" charset="0"/>
                                </a:rPr>
                                <m:t>𝒖</m:t>
                              </m:r>
                            </m:e>
                            <m:sub>
                              <m:r>
                                <a:rPr lang="en-US" altLang="zh-CN" sz="1400" b="1" i="1" smtClean="0">
                                  <a:solidFill>
                                    <a:srgbClr val="FF0000"/>
                                  </a:solidFill>
                                  <a:latin typeface="Cambria Math" panose="02040503050406030204" pitchFamily="18" charset="0"/>
                                </a:rPr>
                                <m:t>𝒊𝒋</m:t>
                              </m:r>
                            </m:sub>
                          </m:sSub>
                        </m:e>
                      </m:d>
                      <m:r>
                        <a:rPr lang="en-US" altLang="zh-CN" sz="1400" b="1" i="1">
                          <a:solidFill>
                            <a:srgbClr val="FF0000"/>
                          </a:solidFill>
                          <a:latin typeface="Cambria Math" panose="02040503050406030204" pitchFamily="18" charset="0"/>
                        </a:rPr>
                        <m:t>⊗</m:t>
                      </m:r>
                      <m:r>
                        <a:rPr lang="en-US" altLang="zh-CN" sz="1400" b="1" i="1" smtClean="0">
                          <a:solidFill>
                            <a:srgbClr val="FF0000"/>
                          </a:solidFill>
                          <a:latin typeface="Cambria Math" panose="02040503050406030204" pitchFamily="18" charset="0"/>
                        </a:rPr>
                        <m:t>𝑬</m:t>
                      </m:r>
                      <m:d>
                        <m:dPr>
                          <m:ctrlPr>
                            <a:rPr lang="en-US" altLang="zh-CN" sz="1400" b="1" i="1" smtClean="0">
                              <a:solidFill>
                                <a:srgbClr val="FF0000"/>
                              </a:solidFill>
                              <a:latin typeface="Cambria Math" charset="0"/>
                            </a:rPr>
                          </m:ctrlPr>
                        </m:dPr>
                        <m:e>
                          <m:r>
                            <a:rPr lang="en-US" altLang="zh-CN" sz="1400" b="1" i="1" smtClean="0">
                              <a:solidFill>
                                <a:srgbClr val="FF0000"/>
                              </a:solidFill>
                              <a:latin typeface="Cambria Math" panose="02040503050406030204" pitchFamily="18" charset="0"/>
                            </a:rPr>
                            <m:t>−</m:t>
                          </m:r>
                          <m:r>
                            <a:rPr lang="en-US" altLang="zh-CN" sz="1400" b="1" i="1" smtClean="0">
                              <a:solidFill>
                                <a:srgbClr val="FF0000"/>
                              </a:solidFill>
                              <a:latin typeface="Cambria Math" panose="02040503050406030204" pitchFamily="18" charset="0"/>
                            </a:rPr>
                            <m:t>𝟐</m:t>
                          </m:r>
                          <m:sSub>
                            <m:sSubPr>
                              <m:ctrlPr>
                                <a:rPr lang="en-US" altLang="zh-CN" sz="1400" b="1" i="1" smtClean="0">
                                  <a:solidFill>
                                    <a:srgbClr val="FF0000"/>
                                  </a:solidFill>
                                  <a:latin typeface="Cambria Math" charset="0"/>
                                </a:rPr>
                              </m:ctrlPr>
                            </m:sSubPr>
                            <m:e>
                              <m:r>
                                <a:rPr lang="en-US" altLang="zh-CN" sz="1400" b="1" i="1" smtClean="0">
                                  <a:solidFill>
                                    <a:srgbClr val="FF0000"/>
                                  </a:solidFill>
                                  <a:latin typeface="Cambria Math" panose="02040503050406030204" pitchFamily="18" charset="0"/>
                                </a:rPr>
                                <m:t>𝒗</m:t>
                              </m:r>
                            </m:e>
                            <m:sub>
                              <m:r>
                                <a:rPr lang="en-US" altLang="zh-CN" sz="1400" b="1" i="1" smtClean="0">
                                  <a:solidFill>
                                    <a:srgbClr val="FF0000"/>
                                  </a:solidFill>
                                  <a:latin typeface="Cambria Math" panose="02040503050406030204" pitchFamily="18" charset="0"/>
                                </a:rPr>
                                <m:t>𝒋</m:t>
                              </m:r>
                            </m:sub>
                          </m:sSub>
                        </m:e>
                      </m:d>
                      <m:r>
                        <a:rPr lang="en-US" altLang="zh-CN" sz="1400" b="1" i="1">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𝑬</m:t>
                      </m:r>
                      <m:d>
                        <m:dPr>
                          <m:ctrlPr>
                            <a:rPr lang="en-US" altLang="zh-CN" sz="1400" b="1" i="1" smtClean="0">
                              <a:solidFill>
                                <a:schemeClr val="tx1"/>
                              </a:solidFill>
                              <a:latin typeface="Cambria Math" charset="0"/>
                            </a:rPr>
                          </m:ctrlPr>
                        </m:dPr>
                        <m:e>
                          <m:sSup>
                            <m:sSupPr>
                              <m:ctrlPr>
                                <a:rPr lang="en-US" altLang="zh-CN" sz="1400" b="1" i="1" smtClean="0">
                                  <a:solidFill>
                                    <a:schemeClr val="tx1"/>
                                  </a:solidFill>
                                  <a:latin typeface="Cambria Math" charset="0"/>
                                </a:rPr>
                              </m:ctrlPr>
                            </m:sSupPr>
                            <m:e>
                              <m:sSub>
                                <m:sSubPr>
                                  <m:ctrlPr>
                                    <a:rPr lang="en-US" altLang="zh-CN" sz="1400" b="1" i="1" smtClean="0">
                                      <a:solidFill>
                                        <a:schemeClr val="tx1"/>
                                      </a:solidFill>
                                      <a:latin typeface="Cambria Math" charset="0"/>
                                    </a:rPr>
                                  </m:ctrlPr>
                                </m:sSubPr>
                                <m:e>
                                  <m:r>
                                    <a:rPr lang="en-US" altLang="zh-CN" sz="1400" b="1" i="1" smtClean="0">
                                      <a:solidFill>
                                        <a:schemeClr val="tx1"/>
                                      </a:solidFill>
                                      <a:latin typeface="Cambria Math" panose="02040503050406030204" pitchFamily="18" charset="0"/>
                                    </a:rPr>
                                    <m:t>𝒖</m:t>
                                  </m:r>
                                </m:e>
                                <m:sub>
                                  <m:r>
                                    <a:rPr lang="en-US" altLang="zh-CN" sz="1400" b="1" i="1" smtClean="0">
                                      <a:solidFill>
                                        <a:schemeClr val="tx1"/>
                                      </a:solidFill>
                                      <a:latin typeface="Cambria Math" panose="02040503050406030204" pitchFamily="18" charset="0"/>
                                    </a:rPr>
                                    <m:t>𝒊𝒋</m:t>
                                  </m:r>
                                </m:sub>
                              </m:sSub>
                            </m:e>
                            <m:sup>
                              <m:r>
                                <a:rPr lang="en-US" altLang="zh-CN" sz="1400" b="1" i="1" smtClean="0">
                                  <a:solidFill>
                                    <a:schemeClr val="tx1"/>
                                  </a:solidFill>
                                  <a:latin typeface="Cambria Math" panose="02040503050406030204" pitchFamily="18" charset="0"/>
                                </a:rPr>
                                <m:t>𝟐</m:t>
                              </m:r>
                            </m:sup>
                          </m:sSup>
                        </m:e>
                      </m:d>
                      <m:r>
                        <a:rPr lang="en-US" altLang="zh-CN" sz="1400" b="1" i="1">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𝑬</m:t>
                      </m:r>
                      <m:d>
                        <m:dPr>
                          <m:ctrlPr>
                            <a:rPr lang="en-US" altLang="zh-CN" sz="1400" b="1" i="1" smtClean="0">
                              <a:solidFill>
                                <a:schemeClr val="tx1"/>
                              </a:solidFill>
                              <a:latin typeface="Cambria Math" charset="0"/>
                            </a:rPr>
                          </m:ctrlPr>
                        </m:dPr>
                        <m:e>
                          <m:r>
                            <a:rPr lang="en-US" altLang="zh-CN" sz="1400" b="1" i="1" smtClean="0">
                              <a:solidFill>
                                <a:schemeClr val="tx1"/>
                              </a:solidFill>
                              <a:latin typeface="Cambria Math" panose="02040503050406030204" pitchFamily="18" charset="0"/>
                            </a:rPr>
                            <m:t>𝟏</m:t>
                          </m:r>
                        </m:e>
                      </m:d>
                    </m:oMath>
                  </m:oMathPara>
                </a14:m>
                <a:endParaRPr lang="en-US" sz="1400" b="1" i="1" dirty="0">
                  <a:solidFill>
                    <a:schemeClr val="tx1"/>
                  </a:solidFill>
                  <a:latin typeface="Source Sans Pro"/>
                </a:endParaRPr>
              </a:p>
            </p:txBody>
          </p:sp>
        </mc:Choice>
        <mc:Fallback xmlns="">
          <p:sp>
            <p:nvSpPr>
              <p:cNvPr id="72" name="文本框 71"/>
              <p:cNvSpPr txBox="1">
                <a:spLocks noRot="1" noChangeAspect="1" noMove="1" noResize="1" noEditPoints="1" noAdjustHandles="1" noChangeArrowheads="1" noChangeShapeType="1" noTextEdit="1"/>
              </p:cNvSpPr>
              <p:nvPr/>
            </p:nvSpPr>
            <p:spPr>
              <a:xfrm>
                <a:off x="4393420" y="2945505"/>
                <a:ext cx="4876907" cy="343556"/>
              </a:xfrm>
              <a:prstGeom prst="rect">
                <a:avLst/>
              </a:prstGeom>
              <a:blipFill rotWithShape="0">
                <a:blip r:embed="rId5"/>
                <a:stretch>
                  <a:fillRect/>
                </a:stretch>
              </a:blipFill>
            </p:spPr>
            <p:txBody>
              <a:bodyPr/>
              <a:lstStyle/>
              <a:p>
                <a:r>
                  <a:rPr lang="en-US">
                    <a:noFill/>
                  </a:rPr>
                  <a:t> </a:t>
                </a:r>
              </a:p>
            </p:txBody>
          </p:sp>
        </mc:Fallback>
      </mc:AlternateContent>
      <p:sp>
        <p:nvSpPr>
          <p:cNvPr id="73" name="AutoShape 113"/>
          <p:cNvSpPr>
            <a:spLocks/>
          </p:cNvSpPr>
          <p:nvPr/>
        </p:nvSpPr>
        <p:spPr bwMode="auto">
          <a:xfrm>
            <a:off x="5958337" y="5110884"/>
            <a:ext cx="315693" cy="46024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rgbClr val="7BBBE9"/>
          </a:solidFill>
          <a:ln>
            <a:noFill/>
          </a:ln>
          <a:effectLst/>
          <a:extLst>
            <a:ext uri="{91240B29-F687-4f45-9708-019B960494DF}"/>
            <a:ext uri="{AF507438-7753-43e0-B8FC-AC1667EBCBE1}"/>
          </a:ex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ndParaRPr>
          </a:p>
        </p:txBody>
      </p:sp>
      <mc:AlternateContent xmlns:mc="http://schemas.openxmlformats.org/markup-compatibility/2006" xmlns:a14="http://schemas.microsoft.com/office/drawing/2010/main">
        <mc:Choice Requires="a14">
          <p:sp>
            <p:nvSpPr>
              <p:cNvPr id="74" name="文本框 73"/>
              <p:cNvSpPr txBox="1"/>
              <p:nvPr/>
            </p:nvSpPr>
            <p:spPr>
              <a:xfrm>
                <a:off x="6275883" y="5489236"/>
                <a:ext cx="2673021" cy="442878"/>
              </a:xfrm>
              <a:prstGeom prst="rect">
                <a:avLst/>
              </a:prstGeom>
              <a:noFill/>
            </p:spPr>
            <p:txBody>
              <a:bodyPr wrap="square" rtlCol="0">
                <a:spAutoFit/>
              </a:bodyPr>
              <a:lstStyle/>
              <a:p>
                <a:pPr algn="ctr">
                  <a:spcAft>
                    <a:spcPts val="400"/>
                  </a:spcAft>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𝑬</m:t>
                      </m:r>
                      <m:d>
                        <m:dPr>
                          <m:ctrlPr>
                            <a:rPr lang="en-US" altLang="zh-CN" sz="1400" b="1" i="1">
                              <a:solidFill>
                                <a:schemeClr val="tx1"/>
                              </a:solidFill>
                              <a:latin typeface="Cambria Math" charset="0"/>
                            </a:rPr>
                          </m:ctrlPr>
                        </m:dPr>
                        <m:e>
                          <m:sSup>
                            <m:sSupPr>
                              <m:ctrlPr>
                                <a:rPr lang="en-US" altLang="zh-CN" sz="1400" b="1" i="1">
                                  <a:solidFill>
                                    <a:schemeClr val="tx1"/>
                                  </a:solidFill>
                                  <a:latin typeface="Cambria Math" charset="0"/>
                                </a:rPr>
                              </m:ctrlPr>
                            </m:sSupPr>
                            <m:e>
                              <m:sSub>
                                <m:sSubPr>
                                  <m:ctrlPr>
                                    <a:rPr lang="en-US" altLang="zh-CN" sz="1400" b="1" i="1">
                                      <a:solidFill>
                                        <a:schemeClr val="tx1"/>
                                      </a:solidFill>
                                      <a:latin typeface="Cambria Math" charset="0"/>
                                    </a:rPr>
                                  </m:ctrlPr>
                                </m:sSubPr>
                                <m:e>
                                  <m:r>
                                    <a:rPr lang="en-US" altLang="zh-CN" sz="1400" b="1" i="1">
                                      <a:solidFill>
                                        <a:schemeClr val="tx1"/>
                                      </a:solidFill>
                                      <a:latin typeface="Cambria Math" panose="02040503050406030204" pitchFamily="18" charset="0"/>
                                    </a:rPr>
                                    <m:t>𝒖</m:t>
                                  </m:r>
                                </m:e>
                                <m:sub>
                                  <m:r>
                                    <a:rPr lang="en-US" altLang="zh-CN" sz="1400" b="1" i="1">
                                      <a:solidFill>
                                        <a:schemeClr val="tx1"/>
                                      </a:solidFill>
                                      <a:latin typeface="Cambria Math" panose="02040503050406030204" pitchFamily="18" charset="0"/>
                                    </a:rPr>
                                    <m:t>𝒊𝒋</m:t>
                                  </m:r>
                                </m:sub>
                              </m:sSub>
                            </m:e>
                            <m:sup>
                              <m:r>
                                <a:rPr lang="en-US" altLang="zh-CN" sz="1400" b="1" i="1">
                                  <a:solidFill>
                                    <a:schemeClr val="tx1"/>
                                  </a:solidFill>
                                  <a:latin typeface="Cambria Math" panose="02040503050406030204" pitchFamily="18" charset="0"/>
                                </a:rPr>
                                <m:t>𝟐</m:t>
                              </m:r>
                            </m:sup>
                          </m:sSup>
                        </m:e>
                      </m:d>
                      <m:r>
                        <a:rPr lang="en-US" altLang="zh-CN" sz="1400" b="1" i="1">
                          <a:solidFill>
                            <a:schemeClr val="tx1"/>
                          </a:solidFill>
                          <a:latin typeface="Cambria Math" panose="02040503050406030204" pitchFamily="18" charset="0"/>
                          <a:ea typeface="Cambria Math" panose="02040503050406030204" pitchFamily="18" charset="0"/>
                        </a:rPr>
                        <m:t>⊕</m:t>
                      </m:r>
                      <m:sSup>
                        <m:sSupPr>
                          <m:ctrlPr>
                            <a:rPr lang="en-US" altLang="zh-CN" sz="1400" b="1" i="1" smtClean="0">
                              <a:solidFill>
                                <a:srgbClr val="FF0000"/>
                              </a:solidFill>
                              <a:latin typeface="Cambria Math" charset="0"/>
                              <a:ea typeface="Cambria Math" panose="02040503050406030204" pitchFamily="18" charset="0"/>
                            </a:rPr>
                          </m:ctrlPr>
                        </m:sSupPr>
                        <m:e>
                          <m:r>
                            <a:rPr lang="en-US" altLang="zh-CN" sz="1400" b="1" i="1">
                              <a:solidFill>
                                <a:srgbClr val="FF0000"/>
                              </a:solidFill>
                              <a:latin typeface="Cambria Math" panose="02040503050406030204" pitchFamily="18" charset="0"/>
                              <a:ea typeface="Cambria Math" panose="02040503050406030204" pitchFamily="18" charset="0"/>
                            </a:rPr>
                            <m:t>𝑬</m:t>
                          </m:r>
                          <m:d>
                            <m:dPr>
                              <m:ctrlPr>
                                <a:rPr lang="en-US" altLang="zh-CN" sz="1400" b="1" i="1">
                                  <a:solidFill>
                                    <a:srgbClr val="FF0000"/>
                                  </a:solidFill>
                                  <a:latin typeface="Cambria Math" charset="0"/>
                                  <a:ea typeface="Cambria Math" panose="02040503050406030204" pitchFamily="18" charset="0"/>
                                </a:rPr>
                              </m:ctrlPr>
                            </m:dPr>
                            <m:e>
                              <m:sSub>
                                <m:sSubPr>
                                  <m:ctrlPr>
                                    <a:rPr lang="en-US" altLang="zh-CN" sz="1400" b="1" i="1">
                                      <a:solidFill>
                                        <a:srgbClr val="FF0000"/>
                                      </a:solidFill>
                                      <a:latin typeface="Cambria Math" charset="0"/>
                                      <a:ea typeface="Cambria Math" panose="02040503050406030204" pitchFamily="18" charset="0"/>
                                    </a:rPr>
                                  </m:ctrlPr>
                                </m:sSubPr>
                                <m:e>
                                  <m:r>
                                    <a:rPr lang="en-US" altLang="zh-CN" sz="1400" b="1" i="1">
                                      <a:solidFill>
                                        <a:srgbClr val="FF0000"/>
                                      </a:solidFill>
                                      <a:latin typeface="Cambria Math" panose="02040503050406030204" pitchFamily="18" charset="0"/>
                                      <a:ea typeface="Cambria Math" panose="02040503050406030204" pitchFamily="18" charset="0"/>
                                    </a:rPr>
                                    <m:t>𝒖</m:t>
                                  </m:r>
                                </m:e>
                                <m:sub>
                                  <m:r>
                                    <a:rPr lang="en-US" altLang="zh-CN" sz="1400" b="1" i="1">
                                      <a:solidFill>
                                        <a:srgbClr val="FF0000"/>
                                      </a:solidFill>
                                      <a:latin typeface="Cambria Math" panose="02040503050406030204" pitchFamily="18" charset="0"/>
                                      <a:ea typeface="Cambria Math" panose="02040503050406030204" pitchFamily="18" charset="0"/>
                                    </a:rPr>
                                    <m:t>𝒊𝒋</m:t>
                                  </m:r>
                                </m:sub>
                              </m:sSub>
                            </m:e>
                          </m:d>
                        </m:e>
                        <m:sup>
                          <m:r>
                            <a:rPr lang="en-US" altLang="zh-CN" sz="1400" b="1" i="1">
                              <a:solidFill>
                                <a:srgbClr val="FF0000"/>
                              </a:solidFill>
                              <a:latin typeface="Cambria Math" panose="02040503050406030204" pitchFamily="18" charset="0"/>
                              <a:ea typeface="Cambria Math" panose="02040503050406030204" pitchFamily="18" charset="0"/>
                            </a:rPr>
                            <m:t>−</m:t>
                          </m:r>
                          <m:r>
                            <a:rPr lang="en-US" altLang="zh-CN" sz="1400" b="1" i="1">
                              <a:solidFill>
                                <a:srgbClr val="FF0000"/>
                              </a:solidFill>
                              <a:latin typeface="Cambria Math" panose="02040503050406030204" pitchFamily="18" charset="0"/>
                              <a:ea typeface="Cambria Math" panose="02040503050406030204" pitchFamily="18" charset="0"/>
                            </a:rPr>
                            <m:t>𝟐</m:t>
                          </m:r>
                          <m:sSub>
                            <m:sSubPr>
                              <m:ctrlPr>
                                <a:rPr lang="en-US" altLang="zh-CN" sz="1400" b="1" i="1">
                                  <a:solidFill>
                                    <a:srgbClr val="FF0000"/>
                                  </a:solidFill>
                                  <a:latin typeface="Cambria Math" charset="0"/>
                                  <a:ea typeface="Cambria Math" panose="02040503050406030204" pitchFamily="18" charset="0"/>
                                </a:rPr>
                              </m:ctrlPr>
                            </m:sSubPr>
                            <m:e>
                              <m:r>
                                <a:rPr lang="en-US" altLang="zh-CN" sz="1400" b="1" i="1">
                                  <a:solidFill>
                                    <a:srgbClr val="FF0000"/>
                                  </a:solidFill>
                                  <a:latin typeface="Cambria Math" panose="02040503050406030204" pitchFamily="18" charset="0"/>
                                  <a:ea typeface="Cambria Math" panose="02040503050406030204" pitchFamily="18" charset="0"/>
                                </a:rPr>
                                <m:t>𝒗</m:t>
                              </m:r>
                            </m:e>
                            <m:sub>
                              <m:r>
                                <a:rPr lang="en-US" altLang="zh-CN" sz="1400" b="1" i="1">
                                  <a:solidFill>
                                    <a:srgbClr val="FF0000"/>
                                  </a:solidFill>
                                  <a:latin typeface="Cambria Math" panose="02040503050406030204" pitchFamily="18" charset="0"/>
                                  <a:ea typeface="Cambria Math" panose="02040503050406030204" pitchFamily="18" charset="0"/>
                                </a:rPr>
                                <m:t>𝒋</m:t>
                              </m:r>
                            </m:sub>
                          </m:sSub>
                        </m:sup>
                      </m:sSup>
                      <m:r>
                        <a:rPr lang="en-US" altLang="zh-CN" sz="1400" b="1" i="1">
                          <a:solidFill>
                            <a:schemeClr val="tx1"/>
                          </a:solidFill>
                          <a:latin typeface="Cambria Math" panose="02040503050406030204" pitchFamily="18" charset="0"/>
                          <a:ea typeface="Cambria Math" panose="02040503050406030204" pitchFamily="18" charset="0"/>
                        </a:rPr>
                        <m:t>⊕</m:t>
                      </m:r>
                      <m:r>
                        <a:rPr lang="en-US" altLang="zh-CN" sz="1400" b="1" i="1">
                          <a:solidFill>
                            <a:schemeClr val="tx1"/>
                          </a:solidFill>
                          <a:latin typeface="Cambria Math" panose="02040503050406030204" pitchFamily="18" charset="0"/>
                          <a:ea typeface="Cambria Math" panose="02040503050406030204" pitchFamily="18" charset="0"/>
                        </a:rPr>
                        <m:t>𝑬</m:t>
                      </m:r>
                      <m:d>
                        <m:dPr>
                          <m:ctrlPr>
                            <a:rPr lang="en-US" altLang="zh-CN" sz="1400" b="1" i="1">
                              <a:solidFill>
                                <a:schemeClr val="tx1"/>
                              </a:solidFill>
                              <a:latin typeface="Cambria Math" charset="0"/>
                              <a:ea typeface="Cambria Math" panose="02040503050406030204" pitchFamily="18" charset="0"/>
                            </a:rPr>
                          </m:ctrlPr>
                        </m:dPr>
                        <m:e>
                          <m:sSup>
                            <m:sSupPr>
                              <m:ctrlPr>
                                <a:rPr lang="en-US" altLang="zh-CN" sz="1400" b="1" i="1">
                                  <a:solidFill>
                                    <a:schemeClr val="tx1"/>
                                  </a:solidFill>
                                  <a:latin typeface="Cambria Math" charset="0"/>
                                  <a:ea typeface="Cambria Math" panose="02040503050406030204" pitchFamily="18" charset="0"/>
                                </a:rPr>
                              </m:ctrlPr>
                            </m:sSupPr>
                            <m:e>
                              <m:sSub>
                                <m:sSubPr>
                                  <m:ctrlPr>
                                    <a:rPr lang="en-US" altLang="zh-CN" sz="1400" b="1" i="1">
                                      <a:solidFill>
                                        <a:schemeClr val="tx1"/>
                                      </a:solidFill>
                                      <a:latin typeface="Cambria Math" charset="0"/>
                                      <a:ea typeface="Cambria Math" panose="02040503050406030204" pitchFamily="18" charset="0"/>
                                    </a:rPr>
                                  </m:ctrlPr>
                                </m:sSubPr>
                                <m:e>
                                  <m:r>
                                    <a:rPr lang="en-US" altLang="zh-CN" sz="1400" b="1" i="1">
                                      <a:solidFill>
                                        <a:schemeClr val="tx1"/>
                                      </a:solidFill>
                                      <a:latin typeface="Cambria Math" panose="02040503050406030204" pitchFamily="18" charset="0"/>
                                      <a:ea typeface="Cambria Math" panose="02040503050406030204" pitchFamily="18" charset="0"/>
                                    </a:rPr>
                                    <m:t>𝒗</m:t>
                                  </m:r>
                                </m:e>
                                <m:sub>
                                  <m:r>
                                    <a:rPr lang="en-US" altLang="zh-CN" sz="1400" b="1" i="1">
                                      <a:solidFill>
                                        <a:schemeClr val="tx1"/>
                                      </a:solidFill>
                                      <a:latin typeface="Cambria Math" panose="02040503050406030204" pitchFamily="18" charset="0"/>
                                      <a:ea typeface="Cambria Math" panose="02040503050406030204" pitchFamily="18" charset="0"/>
                                    </a:rPr>
                                    <m:t>𝒋</m:t>
                                  </m:r>
                                </m:sub>
                              </m:sSub>
                            </m:e>
                            <m:sup>
                              <m:r>
                                <a:rPr lang="en-US" altLang="zh-CN" sz="1400" b="1" i="1">
                                  <a:solidFill>
                                    <a:schemeClr val="tx1"/>
                                  </a:solidFill>
                                  <a:latin typeface="Cambria Math" panose="02040503050406030204" pitchFamily="18" charset="0"/>
                                  <a:ea typeface="Cambria Math" panose="02040503050406030204" pitchFamily="18" charset="0"/>
                                </a:rPr>
                                <m:t>𝟐</m:t>
                              </m:r>
                            </m:sup>
                          </m:sSup>
                        </m:e>
                      </m:d>
                    </m:oMath>
                  </m:oMathPara>
                </a14:m>
                <a:endParaRPr lang="en-US" sz="1400" b="1" i="1" dirty="0">
                  <a:solidFill>
                    <a:schemeClr val="tx1">
                      <a:lumMod val="65000"/>
                      <a:lumOff val="35000"/>
                    </a:schemeClr>
                  </a:solidFill>
                  <a:latin typeface="Source Sans Pro"/>
                  <a:ea typeface="Cambria Math" panose="02040503050406030204" pitchFamily="18" charset="0"/>
                </a:endParaRPr>
              </a:p>
            </p:txBody>
          </p:sp>
        </mc:Choice>
        <mc:Fallback xmlns="">
          <p:sp>
            <p:nvSpPr>
              <p:cNvPr id="74" name="文本框 73"/>
              <p:cNvSpPr txBox="1">
                <a:spLocks noRot="1" noChangeAspect="1" noMove="1" noResize="1" noEditPoints="1" noAdjustHandles="1" noChangeArrowheads="1" noChangeShapeType="1" noTextEdit="1"/>
              </p:cNvSpPr>
              <p:nvPr/>
            </p:nvSpPr>
            <p:spPr>
              <a:xfrm>
                <a:off x="6275883" y="5489236"/>
                <a:ext cx="2673021" cy="442878"/>
              </a:xfrm>
              <a:prstGeom prst="rect">
                <a:avLst/>
              </a:prstGeom>
              <a:blipFill>
                <a:blip r:embed="rId6"/>
                <a:stretch>
                  <a:fillRect/>
                </a:stretch>
              </a:blipFill>
            </p:spPr>
            <p:txBody>
              <a:bodyPr/>
              <a:lstStyle/>
              <a:p>
                <a:r>
                  <a:rPr lang="zh-CN" altLang="en-US">
                    <a:noFill/>
                  </a:rPr>
                  <a:t> </a:t>
                </a:r>
              </a:p>
            </p:txBody>
          </p:sp>
        </mc:Fallback>
      </mc:AlternateContent>
      <p:grpSp>
        <p:nvGrpSpPr>
          <p:cNvPr id="75" name="Group 25"/>
          <p:cNvGrpSpPr/>
          <p:nvPr/>
        </p:nvGrpSpPr>
        <p:grpSpPr>
          <a:xfrm rot="20894338">
            <a:off x="2261142" y="1689990"/>
            <a:ext cx="840322" cy="690143"/>
            <a:chOff x="1975693" y="2187576"/>
            <a:chExt cx="366676" cy="366050"/>
          </a:xfrm>
          <a:solidFill>
            <a:srgbClr val="1B6AA3"/>
          </a:solidFill>
        </p:grpSpPr>
        <p:sp>
          <p:nvSpPr>
            <p:cNvPr id="76" name="AutoShape 128"/>
            <p:cNvSpPr>
              <a:spLocks/>
            </p:cNvSpPr>
            <p:nvPr/>
          </p:nvSpPr>
          <p:spPr bwMode="auto">
            <a:xfrm>
              <a:off x="1975693" y="2187576"/>
              <a:ext cx="366676" cy="366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a:extLst>
              <a:ext uri="{91240B29-F687-4f45-9708-019B960494DF}"/>
              <a:ext uri="{AF507438-7753-43e0-B8FC-AC1667EBCBE1}"/>
            </a:ex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ndParaRPr>
            </a:p>
          </p:txBody>
        </p:sp>
        <p:sp>
          <p:nvSpPr>
            <p:cNvPr id="77" name="AutoShape 129"/>
            <p:cNvSpPr>
              <a:spLocks/>
            </p:cNvSpPr>
            <p:nvPr/>
          </p:nvSpPr>
          <p:spPr bwMode="auto">
            <a:xfrm>
              <a:off x="2204709" y="2233253"/>
              <a:ext cx="91356" cy="91356"/>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a:extLst>
              <a:ext uri="{91240B29-F687-4f45-9708-019B960494DF}"/>
              <a:ext uri="{AF507438-7753-43e0-B8FC-AC1667EBCBE1}"/>
            </a:extLst>
          </p:spPr>
          <p:txBody>
            <a:bodyPr lIns="38100" tIns="38100" rIns="38100" bIns="38100" anchor="ctr"/>
            <a:lstStyle/>
            <a:p>
              <a:pPr defTabSz="457200">
                <a:defRPr/>
              </a:pPr>
              <a:endParaRPr lang="en-US" sz="3000">
                <a:solidFill>
                  <a:srgbClr val="FFFFFF"/>
                </a:solidFill>
                <a:effectLst>
                  <a:outerShdw blurRad="38100" dist="38100" dir="2700000" algn="tl">
                    <a:srgbClr val="000000"/>
                  </a:outerShdw>
                </a:effectLst>
              </a:endParaRPr>
            </a:p>
          </p:txBody>
        </p:sp>
      </p:grpSp>
      <p:sp>
        <p:nvSpPr>
          <p:cNvPr id="78" name="文本框 77"/>
          <p:cNvSpPr txBox="1"/>
          <p:nvPr/>
        </p:nvSpPr>
        <p:spPr>
          <a:xfrm>
            <a:off x="40943" y="1611461"/>
            <a:ext cx="2290957" cy="830997"/>
          </a:xfrm>
          <a:prstGeom prst="rect">
            <a:avLst/>
          </a:prstGeom>
          <a:noFill/>
        </p:spPr>
        <p:txBody>
          <a:bodyPr wrap="square" rtlCol="0">
            <a:spAutoFit/>
          </a:bodyPr>
          <a:lstStyle/>
          <a:p>
            <a:pPr algn="ctr"/>
            <a:r>
              <a:rPr lang="en-US" sz="2400" dirty="0" smtClean="0">
                <a:solidFill>
                  <a:srgbClr val="1B6AA3"/>
                </a:solidFill>
              </a:rPr>
              <a:t>Truthfulness of Data Processing</a:t>
            </a:r>
            <a:endParaRPr lang="en-US" sz="2400" dirty="0">
              <a:solidFill>
                <a:srgbClr val="1B6AA3"/>
              </a:solidFill>
            </a:endParaRPr>
          </a:p>
        </p:txBody>
      </p:sp>
      <p:sp>
        <p:nvSpPr>
          <p:cNvPr id="82" name="文本框 81"/>
          <p:cNvSpPr txBox="1"/>
          <p:nvPr/>
        </p:nvSpPr>
        <p:spPr>
          <a:xfrm>
            <a:off x="5012547" y="2608317"/>
            <a:ext cx="65" cy="276999"/>
          </a:xfrm>
          <a:prstGeom prst="rect">
            <a:avLst/>
          </a:prstGeom>
          <a:noFill/>
        </p:spPr>
        <p:txBody>
          <a:bodyPr wrap="none" lIns="0" tIns="0" rIns="0" bIns="0" rtlCol="0">
            <a:spAutoFit/>
          </a:bodyPr>
          <a:lstStyle/>
          <a:p>
            <a:endParaRPr lang="zh-CN" altLang="en-US" dirty="0"/>
          </a:p>
        </p:txBody>
      </p:sp>
      <p:sp>
        <p:nvSpPr>
          <p:cNvPr id="24"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08</a:t>
            </a:r>
            <a:endParaRPr lang="en-US" sz="1100" dirty="0">
              <a:solidFill>
                <a:schemeClr val="bg1"/>
              </a:solidFill>
            </a:endParaRPr>
          </a:p>
        </p:txBody>
      </p:sp>
    </p:spTree>
    <p:custDataLst>
      <p:tags r:id="rId1"/>
    </p:custDataLst>
    <p:extLst>
      <p:ext uri="{BB962C8B-B14F-4D97-AF65-F5344CB8AC3E}">
        <p14:creationId xmlns:p14="http://schemas.microsoft.com/office/powerpoint/2010/main" val="91352750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0000"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0-#ppt_w/2"/>
                                          </p:val>
                                        </p:tav>
                                        <p:tav tm="100000">
                                          <p:val>
                                            <p:strVal val="#ppt_x"/>
                                          </p:val>
                                        </p:tav>
                                      </p:tavLst>
                                    </p:anim>
                                    <p:anim calcmode="lin" valueType="num">
                                      <p:cBhvr additive="base">
                                        <p:cTn id="8"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
                                        </p:tgtEl>
                                        <p:attrNameLst>
                                          <p:attrName>style.visibility</p:attrName>
                                        </p:attrNameLst>
                                      </p:cBhvr>
                                      <p:to>
                                        <p:strVal val="visible"/>
                                      </p:to>
                                    </p:set>
                                    <p:anim calcmode="lin" valueType="num">
                                      <p:cBhvr additive="base">
                                        <p:cTn id="13" dur="250" fill="hold"/>
                                        <p:tgtEl>
                                          <p:spTgt spid="78"/>
                                        </p:tgtEl>
                                        <p:attrNameLst>
                                          <p:attrName>ppt_x</p:attrName>
                                        </p:attrNameLst>
                                      </p:cBhvr>
                                      <p:tavLst>
                                        <p:tav tm="0">
                                          <p:val>
                                            <p:strVal val="0-#ppt_w/2"/>
                                          </p:val>
                                        </p:tav>
                                        <p:tav tm="100000">
                                          <p:val>
                                            <p:strVal val="#ppt_x"/>
                                          </p:val>
                                        </p:tav>
                                      </p:tavLst>
                                    </p:anim>
                                    <p:anim calcmode="lin" valueType="num">
                                      <p:cBhvr additive="base">
                                        <p:cTn id="14" dur="250" fill="hold"/>
                                        <p:tgtEl>
                                          <p:spTgt spid="78"/>
                                        </p:tgtEl>
                                        <p:attrNameLst>
                                          <p:attrName>ppt_y</p:attrName>
                                        </p:attrNameLst>
                                      </p:cBhvr>
                                      <p:tavLst>
                                        <p:tav tm="0">
                                          <p:val>
                                            <p:strVal val="#ppt_y"/>
                                          </p:val>
                                        </p:tav>
                                        <p:tav tm="100000">
                                          <p:val>
                                            <p:strVal val="#ppt_y"/>
                                          </p:val>
                                        </p:tav>
                                      </p:tavLst>
                                    </p:anim>
                                  </p:childTnLst>
                                </p:cTn>
                              </p:par>
                            </p:childTnLst>
                          </p:cTn>
                        </p:par>
                        <p:par>
                          <p:cTn id="15" fill="hold">
                            <p:stCondLst>
                              <p:cond delay="250"/>
                            </p:stCondLst>
                            <p:childTnLst>
                              <p:par>
                                <p:cTn id="16" presetID="22" presetClass="entr" presetSubtype="8" fill="hold" nodeType="after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wipe(left)">
                                      <p:cBhvr>
                                        <p:cTn id="18" dur="250"/>
                                        <p:tgtEl>
                                          <p:spTgt spid="66"/>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wipe(left)">
                                      <p:cBhvr>
                                        <p:cTn id="22" dur="250"/>
                                        <p:tgtEl>
                                          <p:spTgt spid="65"/>
                                        </p:tgtEl>
                                      </p:cBhvr>
                                    </p:animEffect>
                                  </p:childTnLst>
                                </p:cTn>
                              </p:par>
                            </p:childTnLst>
                          </p:cTn>
                        </p:par>
                        <p:par>
                          <p:cTn id="23" fill="hold">
                            <p:stCondLst>
                              <p:cond delay="750"/>
                            </p:stCondLst>
                            <p:childTnLst>
                              <p:par>
                                <p:cTn id="24" presetID="10" presetClass="entr" presetSubtype="0" fill="hold" nodeType="afterEffect">
                                  <p:stCondLst>
                                    <p:cond delay="0"/>
                                  </p:stCondLst>
                                  <p:childTnLst>
                                    <p:set>
                                      <p:cBhvr>
                                        <p:cTn id="25" dur="1" fill="hold">
                                          <p:stCondLst>
                                            <p:cond delay="0"/>
                                          </p:stCondLst>
                                        </p:cTn>
                                        <p:tgtEl>
                                          <p:spTgt spid="75"/>
                                        </p:tgtEl>
                                        <p:attrNameLst>
                                          <p:attrName>style.visibility</p:attrName>
                                        </p:attrNameLst>
                                      </p:cBhvr>
                                      <p:to>
                                        <p:strVal val="visible"/>
                                      </p:to>
                                    </p:set>
                                    <p:animEffect transition="in" filter="fade">
                                      <p:cBhvr>
                                        <p:cTn id="26" dur="250"/>
                                        <p:tgtEl>
                                          <p:spTgt spid="75"/>
                                        </p:tgtEl>
                                      </p:cBhvr>
                                    </p:animEffect>
                                  </p:childTnLst>
                                </p:cTn>
                              </p:par>
                            </p:childTnLst>
                          </p:cTn>
                        </p:par>
                        <p:par>
                          <p:cTn id="27" fill="hold">
                            <p:stCondLst>
                              <p:cond delay="1000"/>
                            </p:stCondLst>
                            <p:childTnLst>
                              <p:par>
                                <p:cTn id="28" presetID="0" presetClass="path" presetSubtype="0" accel="50000" decel="50000" fill="hold" nodeType="afterEffect">
                                  <p:stCondLst>
                                    <p:cond delay="0"/>
                                  </p:stCondLst>
                                  <p:childTnLst>
                                    <p:animMotion origin="layout" path="M 8.33333E-7 7.40741E-7 L 0.04496 7.40741E-7 L 0.22101 0.29398 " pathEditMode="relative" rAng="0" ptsTypes="AAA">
                                      <p:cBhvr>
                                        <p:cTn id="29" dur="750" fill="hold"/>
                                        <p:tgtEl>
                                          <p:spTgt spid="75"/>
                                        </p:tgtEl>
                                        <p:attrNameLst>
                                          <p:attrName>ppt_x</p:attrName>
                                          <p:attrName>ppt_y</p:attrName>
                                        </p:attrNameLst>
                                      </p:cBhvr>
                                      <p:rCtr x="11042" y="14699"/>
                                    </p:animMotion>
                                  </p:childTnLst>
                                </p:cTn>
                              </p:par>
                            </p:childTnLst>
                          </p:cTn>
                        </p:par>
                        <p:par>
                          <p:cTn id="30" fill="hold">
                            <p:stCondLst>
                              <p:cond delay="1750"/>
                            </p:stCondLst>
                            <p:childTnLst>
                              <p:par>
                                <p:cTn id="31" presetID="8" presetClass="emph" presetSubtype="0" fill="hold" nodeType="afterEffect">
                                  <p:stCondLst>
                                    <p:cond delay="0"/>
                                  </p:stCondLst>
                                  <p:childTnLst>
                                    <p:animRot by="10800000">
                                      <p:cBhvr>
                                        <p:cTn id="32" dur="750" fill="hold"/>
                                        <p:tgtEl>
                                          <p:spTgt spid="75"/>
                                        </p:tgtEl>
                                        <p:attrNameLst>
                                          <p:attrName>r</p:attrName>
                                        </p:attrNameLst>
                                      </p:cBhvr>
                                    </p:animRot>
                                  </p:childTnLst>
                                </p:cTn>
                              </p:par>
                              <p:par>
                                <p:cTn id="33" presetID="21" presetClass="entr" presetSubtype="2"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wheel(2)">
                                      <p:cBhvr>
                                        <p:cTn id="35" dur="750"/>
                                        <p:tgtEl>
                                          <p:spTgt spid="60"/>
                                        </p:tgtEl>
                                      </p:cBhvr>
                                    </p:animEffect>
                                  </p:childTnLst>
                                </p:cTn>
                              </p:par>
                            </p:childTnLst>
                          </p:cTn>
                        </p:par>
                        <p:par>
                          <p:cTn id="36" fill="hold">
                            <p:stCondLst>
                              <p:cond delay="2500"/>
                            </p:stCondLst>
                            <p:childTnLst>
                              <p:par>
                                <p:cTn id="37" presetID="10" presetClass="entr" presetSubtype="0" fill="hold" grpId="0" nodeType="afterEffect">
                                  <p:stCondLst>
                                    <p:cond delay="0"/>
                                  </p:stCondLst>
                                  <p:childTnLst>
                                    <p:set>
                                      <p:cBhvr>
                                        <p:cTn id="38" dur="1" fill="hold">
                                          <p:stCondLst>
                                            <p:cond delay="0"/>
                                          </p:stCondLst>
                                        </p:cTn>
                                        <p:tgtEl>
                                          <p:spTgt spid="68"/>
                                        </p:tgtEl>
                                        <p:attrNameLst>
                                          <p:attrName>style.visibility</p:attrName>
                                        </p:attrNameLst>
                                      </p:cBhvr>
                                      <p:to>
                                        <p:strVal val="visible"/>
                                      </p:to>
                                    </p:set>
                                    <p:animEffect transition="in" filter="fade">
                                      <p:cBhvr>
                                        <p:cTn id="39" dur="250"/>
                                        <p:tgtEl>
                                          <p:spTgt spid="6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7"/>
                                        </p:tgtEl>
                                        <p:attrNameLst>
                                          <p:attrName>style.visibility</p:attrName>
                                        </p:attrNameLst>
                                      </p:cBhvr>
                                      <p:to>
                                        <p:strVal val="visible"/>
                                      </p:to>
                                    </p:set>
                                    <p:animEffect transition="in" filter="fade">
                                      <p:cBhvr>
                                        <p:cTn id="42" dur="250"/>
                                        <p:tgtEl>
                                          <p:spTgt spid="67"/>
                                        </p:tgtEl>
                                      </p:cBhvr>
                                    </p:animEffect>
                                  </p:childTnLst>
                                </p:cTn>
                              </p:par>
                            </p:childTnLst>
                          </p:cTn>
                        </p:par>
                        <p:par>
                          <p:cTn id="43" fill="hold">
                            <p:stCondLst>
                              <p:cond delay="2750"/>
                            </p:stCondLst>
                            <p:childTnLst>
                              <p:par>
                                <p:cTn id="44" presetID="10" presetClass="entr" presetSubtype="0" fill="hold" grpId="0" nodeType="afterEffect">
                                  <p:stCondLst>
                                    <p:cond delay="0"/>
                                  </p:stCondLst>
                                  <p:childTnLst>
                                    <p:set>
                                      <p:cBhvr>
                                        <p:cTn id="45" dur="1" fill="hold">
                                          <p:stCondLst>
                                            <p:cond delay="0"/>
                                          </p:stCondLst>
                                        </p:cTn>
                                        <p:tgtEl>
                                          <p:spTgt spid="69"/>
                                        </p:tgtEl>
                                        <p:attrNameLst>
                                          <p:attrName>style.visibility</p:attrName>
                                        </p:attrNameLst>
                                      </p:cBhvr>
                                      <p:to>
                                        <p:strVal val="visible"/>
                                      </p:to>
                                    </p:set>
                                    <p:animEffect transition="in" filter="fade">
                                      <p:cBhvr>
                                        <p:cTn id="46" dur="250"/>
                                        <p:tgtEl>
                                          <p:spTgt spid="6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fade">
                                      <p:cBhvr>
                                        <p:cTn id="49" dur="250"/>
                                        <p:tgtEl>
                                          <p:spTgt spid="6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fade">
                                      <p:cBhvr>
                                        <p:cTn id="52" dur="250"/>
                                        <p:tgtEl>
                                          <p:spTgt spid="61"/>
                                        </p:tgtEl>
                                      </p:cBhvr>
                                    </p:animEffect>
                                  </p:childTnLst>
                                </p:cTn>
                              </p:par>
                            </p:childTnLst>
                          </p:cTn>
                        </p:par>
                        <p:par>
                          <p:cTn id="53" fill="hold">
                            <p:stCondLst>
                              <p:cond delay="3000"/>
                            </p:stCondLst>
                            <p:childTnLst>
                              <p:par>
                                <p:cTn id="54" presetID="10" presetClass="entr" presetSubtype="0" fill="hold" grpId="0" nodeType="afterEffect">
                                  <p:stCondLst>
                                    <p:cond delay="0"/>
                                  </p:stCondLst>
                                  <p:childTnLst>
                                    <p:set>
                                      <p:cBhvr>
                                        <p:cTn id="55" dur="1" fill="hold">
                                          <p:stCondLst>
                                            <p:cond delay="0"/>
                                          </p:stCondLst>
                                        </p:cTn>
                                        <p:tgtEl>
                                          <p:spTgt spid="71"/>
                                        </p:tgtEl>
                                        <p:attrNameLst>
                                          <p:attrName>style.visibility</p:attrName>
                                        </p:attrNameLst>
                                      </p:cBhvr>
                                      <p:to>
                                        <p:strVal val="visible"/>
                                      </p:to>
                                    </p:set>
                                    <p:animEffect transition="in" filter="fade">
                                      <p:cBhvr>
                                        <p:cTn id="56" dur="250"/>
                                        <p:tgtEl>
                                          <p:spTgt spid="7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72"/>
                                        </p:tgtEl>
                                        <p:attrNameLst>
                                          <p:attrName>style.visibility</p:attrName>
                                        </p:attrNameLst>
                                      </p:cBhvr>
                                      <p:to>
                                        <p:strVal val="visible"/>
                                      </p:to>
                                    </p:set>
                                    <p:animEffect transition="in" filter="wipe(down)">
                                      <p:cBhvr>
                                        <p:cTn id="61" dur="250"/>
                                        <p:tgtEl>
                                          <p:spTgt spid="72"/>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70"/>
                                        </p:tgtEl>
                                        <p:attrNameLst>
                                          <p:attrName>style.visibility</p:attrName>
                                        </p:attrNameLst>
                                      </p:cBhvr>
                                      <p:to>
                                        <p:strVal val="visible"/>
                                      </p:to>
                                    </p:set>
                                    <p:animEffect transition="in" filter="wipe(down)">
                                      <p:cBhvr>
                                        <p:cTn id="64" dur="250"/>
                                        <p:tgtEl>
                                          <p:spTgt spid="7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74"/>
                                        </p:tgtEl>
                                        <p:attrNameLst>
                                          <p:attrName>style.visibility</p:attrName>
                                        </p:attrNameLst>
                                      </p:cBhvr>
                                      <p:to>
                                        <p:strVal val="visible"/>
                                      </p:to>
                                    </p:set>
                                    <p:animEffect transition="in" filter="wipe(down)">
                                      <p:cBhvr>
                                        <p:cTn id="69" dur="250"/>
                                        <p:tgtEl>
                                          <p:spTgt spid="74"/>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73"/>
                                        </p:tgtEl>
                                        <p:attrNameLst>
                                          <p:attrName>style.visibility</p:attrName>
                                        </p:attrNameLst>
                                      </p:cBhvr>
                                      <p:to>
                                        <p:strVal val="visible"/>
                                      </p:to>
                                    </p:set>
                                    <p:animEffect transition="in" filter="wipe(down)">
                                      <p:cBhvr>
                                        <p:cTn id="72" dur="25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61" grpId="0" animBg="1"/>
      <p:bldP spid="64" grpId="0" animBg="1"/>
      <p:bldP spid="65" grpId="0" animBg="1"/>
      <p:bldP spid="67" grpId="0" animBg="1"/>
      <p:bldP spid="68" grpId="0" animBg="1"/>
      <p:bldP spid="69" grpId="0"/>
      <p:bldP spid="70" grpId="0" animBg="1"/>
      <p:bldP spid="71" grpId="0"/>
      <p:bldP spid="72" grpId="0"/>
      <p:bldP spid="73" grpId="0" animBg="1"/>
      <p:bldP spid="74" grpId="0"/>
      <p:bldP spid="7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E3E3">
            <a:alpha val="50000"/>
          </a:srgbClr>
        </a:solidFill>
        <a:effectLst/>
      </p:bgPr>
    </p:bg>
    <p:spTree>
      <p:nvGrpSpPr>
        <p:cNvPr id="1" name=""/>
        <p:cNvGrpSpPr/>
        <p:nvPr/>
      </p:nvGrpSpPr>
      <p:grpSpPr>
        <a:xfrm>
          <a:off x="0" y="0"/>
          <a:ext cx="0" cy="0"/>
          <a:chOff x="0" y="0"/>
          <a:chExt cx="0" cy="0"/>
        </a:xfrm>
      </p:grpSpPr>
      <p:sp>
        <p:nvSpPr>
          <p:cNvPr id="4" name="Rectangle 3"/>
          <p:cNvSpPr/>
          <p:nvPr/>
        </p:nvSpPr>
        <p:spPr>
          <a:xfrm>
            <a:off x="0" y="3937000"/>
            <a:ext cx="9144000" cy="21336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itle 1"/>
          <p:cNvSpPr>
            <a:spLocks noGrp="1"/>
          </p:cNvSpPr>
          <p:nvPr>
            <p:ph type="title"/>
          </p:nvPr>
        </p:nvSpPr>
        <p:spPr>
          <a:xfrm>
            <a:off x="457200" y="4411229"/>
            <a:ext cx="8229600" cy="798896"/>
          </a:xfrm>
        </p:spPr>
        <p:txBody>
          <a:bodyPr>
            <a:noAutofit/>
          </a:bodyPr>
          <a:lstStyle/>
          <a:p>
            <a:pPr algn="r"/>
            <a:r>
              <a:rPr lang="en-US" sz="4800" dirty="0" smtClean="0">
                <a:solidFill>
                  <a:schemeClr val="bg1"/>
                </a:solidFill>
              </a:rPr>
              <a:t>Evaluation Result</a:t>
            </a:r>
            <a:endParaRPr lang="en-US" sz="4800" dirty="0">
              <a:solidFill>
                <a:schemeClr val="bg1"/>
              </a:solidFill>
            </a:endParaRPr>
          </a:p>
        </p:txBody>
      </p:sp>
      <p:sp>
        <p:nvSpPr>
          <p:cNvPr id="3" name="Subtitle 4"/>
          <p:cNvSpPr txBox="1">
            <a:spLocks/>
          </p:cNvSpPr>
          <p:nvPr/>
        </p:nvSpPr>
        <p:spPr>
          <a:xfrm>
            <a:off x="457200" y="5317217"/>
            <a:ext cx="8229600" cy="406400"/>
          </a:xfrm>
          <a:prstGeom prst="rect">
            <a:avLst/>
          </a:prstGeom>
        </p:spPr>
        <p:txBody>
          <a:bodyPr vert="horz" lIns="91440" tIns="45720" rIns="91440" bIns="45720" rtlCol="0">
            <a:noAutofit/>
          </a:bodyPr>
          <a:lstStyle/>
          <a:p>
            <a:pPr marL="342900" marR="0" lvl="0" indent="-342900" algn="r" defTabSz="914400" rtl="0" eaLnBrk="1" fontAlgn="auto" latinLnBrk="0" hangingPunct="1">
              <a:lnSpc>
                <a:spcPct val="100000"/>
              </a:lnSpc>
              <a:spcBef>
                <a:spcPct val="20000"/>
              </a:spcBef>
              <a:spcAft>
                <a:spcPts val="0"/>
              </a:spcAft>
              <a:buClrTx/>
              <a:buSzTx/>
              <a:buFontTx/>
              <a:buNone/>
              <a:tabLst/>
              <a:defRPr/>
            </a:pPr>
            <a:r>
              <a:rPr lang="ms-MY" sz="2200" dirty="0">
                <a:solidFill>
                  <a:prstClr val="white"/>
                </a:solidFill>
                <a:latin typeface="+mj-lt"/>
              </a:rPr>
              <a:t>o</a:t>
            </a:r>
            <a:r>
              <a:rPr kumimoji="0" lang="ms-MY" sz="2200" b="0" i="0" u="none" strike="noStrike" kern="1200" cap="none" spc="0" normalizeH="0" baseline="0" noProof="0" dirty="0" smtClean="0">
                <a:ln>
                  <a:noFill/>
                </a:ln>
                <a:solidFill>
                  <a:prstClr val="white"/>
                </a:solidFill>
                <a:effectLst/>
                <a:uLnTx/>
                <a:uFillTx/>
                <a:latin typeface="+mj-lt"/>
              </a:rPr>
              <a:t>n </a:t>
            </a:r>
            <a:r>
              <a:rPr lang="ms-MY" sz="2200" b="1" dirty="0" smtClean="0">
                <a:solidFill>
                  <a:prstClr val="white"/>
                </a:solidFill>
                <a:latin typeface="+mj-lt"/>
              </a:rPr>
              <a:t>Yahoo! Music</a:t>
            </a:r>
            <a:r>
              <a:rPr kumimoji="0" lang="ms-MY" sz="2200" b="0" i="0" u="none" strike="noStrike" kern="1200" cap="none" spc="0" normalizeH="0" baseline="0" noProof="0" dirty="0" smtClean="0">
                <a:ln>
                  <a:noFill/>
                </a:ln>
                <a:solidFill>
                  <a:prstClr val="white"/>
                </a:solidFill>
                <a:effectLst/>
                <a:uLnTx/>
                <a:uFillTx/>
                <a:latin typeface="+mj-lt"/>
              </a:rPr>
              <a:t> Ratings</a:t>
            </a:r>
            <a:r>
              <a:rPr kumimoji="0" lang="ms-MY" sz="2200" b="0" i="0" u="none" strike="noStrike" kern="1200" cap="none" spc="0" normalizeH="0" noProof="0" dirty="0" smtClean="0">
                <a:ln>
                  <a:noFill/>
                </a:ln>
                <a:solidFill>
                  <a:prstClr val="white"/>
                </a:solidFill>
                <a:effectLst/>
                <a:uLnTx/>
                <a:uFillTx/>
                <a:latin typeface="+mj-lt"/>
              </a:rPr>
              <a:t> Dataset</a:t>
            </a:r>
            <a:endParaRPr kumimoji="0" lang="en-US" sz="2200" b="0" i="0" u="none" strike="noStrike" kern="1200" cap="none" spc="0" normalizeH="0" baseline="0" noProof="0" dirty="0">
              <a:ln>
                <a:noFill/>
              </a:ln>
              <a:solidFill>
                <a:prstClr val="white"/>
              </a:solidFill>
              <a:effectLst/>
              <a:uLnTx/>
              <a:uFillTx/>
              <a:latin typeface="+mj-lt"/>
            </a:endParaRPr>
          </a:p>
        </p:txBody>
      </p:sp>
      <p:grpSp>
        <p:nvGrpSpPr>
          <p:cNvPr id="39" name="Group 4"/>
          <p:cNvGrpSpPr>
            <a:grpSpLocks noChangeAspect="1"/>
          </p:cNvGrpSpPr>
          <p:nvPr/>
        </p:nvGrpSpPr>
        <p:grpSpPr>
          <a:xfrm>
            <a:off x="2091702" y="4204296"/>
            <a:ext cx="1595668" cy="1598400"/>
            <a:chOff x="5685632" y="2915922"/>
            <a:chExt cx="366051" cy="366677"/>
          </a:xfrm>
          <a:solidFill>
            <a:schemeClr val="bg1"/>
          </a:solidFill>
        </p:grpSpPr>
        <p:sp>
          <p:nvSpPr>
            <p:cNvPr id="40" name="AutoShape 37"/>
            <p:cNvSpPr>
              <a:spLocks/>
            </p:cNvSpPr>
            <p:nvPr/>
          </p:nvSpPr>
          <p:spPr bwMode="auto">
            <a:xfrm>
              <a:off x="5685632" y="2950337"/>
              <a:ext cx="333513" cy="33226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41" name="AutoShape 38"/>
            <p:cNvSpPr>
              <a:spLocks/>
            </p:cNvSpPr>
            <p:nvPr/>
          </p:nvSpPr>
          <p:spPr bwMode="auto">
            <a:xfrm>
              <a:off x="5845818" y="3099260"/>
              <a:ext cx="56941" cy="575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42" name="AutoShape 39"/>
            <p:cNvSpPr>
              <a:spLocks/>
            </p:cNvSpPr>
            <p:nvPr/>
          </p:nvSpPr>
          <p:spPr bwMode="auto">
            <a:xfrm>
              <a:off x="5994742" y="2915922"/>
              <a:ext cx="56941" cy="575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43" name="AutoShape 40"/>
            <p:cNvSpPr>
              <a:spLocks/>
            </p:cNvSpPr>
            <p:nvPr/>
          </p:nvSpPr>
          <p:spPr bwMode="auto">
            <a:xfrm>
              <a:off x="5776988" y="3087997"/>
              <a:ext cx="45678" cy="4567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44" name="AutoShape 41"/>
            <p:cNvSpPr>
              <a:spLocks/>
            </p:cNvSpPr>
            <p:nvPr/>
          </p:nvSpPr>
          <p:spPr bwMode="auto">
            <a:xfrm>
              <a:off x="5822666" y="3168090"/>
              <a:ext cx="23152" cy="2252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45" name="AutoShape 42"/>
            <p:cNvSpPr>
              <a:spLocks/>
            </p:cNvSpPr>
            <p:nvPr/>
          </p:nvSpPr>
          <p:spPr bwMode="auto">
            <a:xfrm>
              <a:off x="6006005" y="2996016"/>
              <a:ext cx="22526" cy="231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grpSp>
    </p:spTree>
    <p:extLst>
      <p:ext uri="{BB962C8B-B14F-4D97-AF65-F5344CB8AC3E}">
        <p14:creationId xmlns:p14="http://schemas.microsoft.com/office/powerpoint/2010/main" val="11358003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0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39"/>
                                        </p:tgtEl>
                                        <p:attrNameLst>
                                          <p:attrName>style.visibility</p:attrName>
                                        </p:attrNameLst>
                                      </p:cBhvr>
                                      <p:to>
                                        <p:strVal val="visible"/>
                                      </p:to>
                                    </p:set>
                                    <p:anim calcmode="lin" valueType="num">
                                      <p:cBhvr additive="base">
                                        <p:cTn id="12" dur="600" fill="hold"/>
                                        <p:tgtEl>
                                          <p:spTgt spid="39"/>
                                        </p:tgtEl>
                                        <p:attrNameLst>
                                          <p:attrName>ppt_x</p:attrName>
                                        </p:attrNameLst>
                                      </p:cBhvr>
                                      <p:tavLst>
                                        <p:tav tm="0">
                                          <p:val>
                                            <p:strVal val="0-#ppt_w/2"/>
                                          </p:val>
                                        </p:tav>
                                        <p:tav tm="100000">
                                          <p:val>
                                            <p:strVal val="#ppt_x"/>
                                          </p:val>
                                        </p:tav>
                                      </p:tavLst>
                                    </p:anim>
                                    <p:anim calcmode="lin" valueType="num">
                                      <p:cBhvr additive="base">
                                        <p:cTn id="13" dur="600" fill="hold"/>
                                        <p:tgtEl>
                                          <p:spTgt spid="39"/>
                                        </p:tgtEl>
                                        <p:attrNameLst>
                                          <p:attrName>ppt_y</p:attrName>
                                        </p:attrNameLst>
                                      </p:cBhvr>
                                      <p:tavLst>
                                        <p:tav tm="0">
                                          <p:val>
                                            <p:strVal val="#ppt_y"/>
                                          </p:val>
                                        </p:tav>
                                        <p:tav tm="100000">
                                          <p:val>
                                            <p:strVal val="#ppt_y"/>
                                          </p:val>
                                        </p:tav>
                                      </p:tavLst>
                                    </p:anim>
                                  </p:childTnLst>
                                </p:cTn>
                              </p:par>
                              <p:par>
                                <p:cTn id="14" presetID="2" presetClass="entr" presetSubtype="2" decel="5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600" fill="hold"/>
                                        <p:tgtEl>
                                          <p:spTgt spid="6"/>
                                        </p:tgtEl>
                                        <p:attrNameLst>
                                          <p:attrName>ppt_x</p:attrName>
                                        </p:attrNameLst>
                                      </p:cBhvr>
                                      <p:tavLst>
                                        <p:tav tm="0">
                                          <p:val>
                                            <p:strVal val="1+#ppt_w/2"/>
                                          </p:val>
                                        </p:tav>
                                        <p:tav tm="100000">
                                          <p:val>
                                            <p:strVal val="#ppt_x"/>
                                          </p:val>
                                        </p:tav>
                                      </p:tavLst>
                                    </p:anim>
                                    <p:anim calcmode="lin" valueType="num">
                                      <p:cBhvr additive="base">
                                        <p:cTn id="17" dur="600" fill="hold"/>
                                        <p:tgtEl>
                                          <p:spTgt spid="6"/>
                                        </p:tgtEl>
                                        <p:attrNameLst>
                                          <p:attrName>ppt_y</p:attrName>
                                        </p:attrNameLst>
                                      </p:cBhvr>
                                      <p:tavLst>
                                        <p:tav tm="0">
                                          <p:val>
                                            <p:strVal val="#ppt_y"/>
                                          </p:val>
                                        </p:tav>
                                        <p:tav tm="100000">
                                          <p:val>
                                            <p:strVal val="#ppt_y"/>
                                          </p:val>
                                        </p:tav>
                                      </p:tavLst>
                                    </p:anim>
                                  </p:childTnLst>
                                </p:cTn>
                              </p:par>
                              <p:par>
                                <p:cTn id="18" presetID="2" presetClass="entr" presetSubtype="2" decel="5000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600" fill="hold"/>
                                        <p:tgtEl>
                                          <p:spTgt spid="3"/>
                                        </p:tgtEl>
                                        <p:attrNameLst>
                                          <p:attrName>ppt_x</p:attrName>
                                        </p:attrNameLst>
                                      </p:cBhvr>
                                      <p:tavLst>
                                        <p:tav tm="0">
                                          <p:val>
                                            <p:strVal val="1+#ppt_w/2"/>
                                          </p:val>
                                        </p:tav>
                                        <p:tav tm="100000">
                                          <p:val>
                                            <p:strVal val="#ppt_x"/>
                                          </p:val>
                                        </p:tav>
                                      </p:tavLst>
                                    </p:anim>
                                    <p:anim calcmode="lin" valueType="num">
                                      <p:cBhvr additive="base">
                                        <p:cTn id="21" dur="6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Evaluation Setup</a:t>
            </a:r>
            <a:endParaRPr lang="en-US" sz="3400" dirty="0"/>
          </a:p>
        </p:txBody>
      </p:sp>
      <p:pic>
        <p:nvPicPr>
          <p:cNvPr id="83" name="图片 82"/>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8" name="Rounded Rectangle 90"/>
          <p:cNvSpPr/>
          <p:nvPr/>
        </p:nvSpPr>
        <p:spPr>
          <a:xfrm>
            <a:off x="432000" y="953035"/>
            <a:ext cx="8280000" cy="230230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000"/>
              </a:spcAft>
            </a:pPr>
            <a:r>
              <a:rPr lang="en-US" sz="2800" dirty="0" smtClean="0">
                <a:solidFill>
                  <a:schemeClr val="tx1"/>
                </a:solidFill>
              </a:rPr>
              <a:t>Yahoo! Music Dataset</a:t>
            </a:r>
          </a:p>
          <a:p>
            <a:pPr marL="342900" indent="-342900">
              <a:spcAft>
                <a:spcPts val="600"/>
              </a:spcAft>
              <a:buSzPct val="90000"/>
              <a:buFont typeface="Wingdings" panose="05000000000000000000" pitchFamily="2" charset="2"/>
              <a:buChar char="l"/>
            </a:pPr>
            <a:r>
              <a:rPr lang="en-US" sz="2000" dirty="0">
                <a:solidFill>
                  <a:schemeClr val="tx1"/>
                </a:solidFill>
              </a:rPr>
              <a:t>R1-Yahoo! Music User Ratings of Musical Artists Version 1.0</a:t>
            </a:r>
            <a:endParaRPr lang="en-US" sz="2000" dirty="0" smtClean="0">
              <a:solidFill>
                <a:schemeClr val="tx1"/>
              </a:solidFill>
            </a:endParaRPr>
          </a:p>
          <a:p>
            <a:pPr marL="342900" indent="-342900">
              <a:spcAft>
                <a:spcPts val="600"/>
              </a:spcAft>
              <a:buSzPct val="90000"/>
              <a:buFont typeface="Wingdings" panose="05000000000000000000" pitchFamily="2" charset="2"/>
              <a:buChar char="l"/>
            </a:pPr>
            <a:r>
              <a:rPr lang="en-US" sz="2000" dirty="0">
                <a:solidFill>
                  <a:schemeClr val="tx1"/>
                </a:solidFill>
              </a:rPr>
              <a:t>11,557,943 ratings of 98,211 artists given by </a:t>
            </a:r>
            <a:r>
              <a:rPr lang="en-US" sz="2000" dirty="0" smtClean="0">
                <a:solidFill>
                  <a:schemeClr val="tx1"/>
                </a:solidFill>
              </a:rPr>
              <a:t>1,948,882 users</a:t>
            </a:r>
          </a:p>
          <a:p>
            <a:pPr marL="342900" indent="-342900">
              <a:spcAft>
                <a:spcPts val="600"/>
              </a:spcAft>
              <a:buSzPct val="90000"/>
              <a:buFont typeface="Wingdings" panose="05000000000000000000" pitchFamily="2" charset="2"/>
              <a:buChar char="l"/>
            </a:pPr>
            <a:r>
              <a:rPr lang="en-US" sz="2000" dirty="0" smtClean="0">
                <a:solidFill>
                  <a:schemeClr val="tx1"/>
                </a:solidFill>
              </a:rPr>
              <a:t>Choose </a:t>
            </a:r>
            <a:r>
              <a:rPr lang="en-US" sz="2000" dirty="0">
                <a:solidFill>
                  <a:srgbClr val="FF0000"/>
                </a:solidFill>
              </a:rPr>
              <a:t>𝛽 common artists </a:t>
            </a:r>
            <a:r>
              <a:rPr lang="en-US" sz="2000" dirty="0">
                <a:solidFill>
                  <a:schemeClr val="tx1"/>
                </a:solidFill>
              </a:rPr>
              <a:t>as the evaluating attributes</a:t>
            </a:r>
          </a:p>
          <a:p>
            <a:pPr marL="342900" indent="-342900">
              <a:spcAft>
                <a:spcPts val="600"/>
              </a:spcAft>
              <a:buSzPct val="90000"/>
              <a:buFont typeface="Wingdings" panose="05000000000000000000" pitchFamily="2" charset="2"/>
              <a:buChar char="l"/>
            </a:pPr>
            <a:r>
              <a:rPr lang="en-US" sz="2000" dirty="0" smtClean="0">
                <a:solidFill>
                  <a:schemeClr val="tx1"/>
                </a:solidFill>
              </a:rPr>
              <a:t>Append each user’s ratings ranging from 0 to 10</a:t>
            </a:r>
          </a:p>
        </p:txBody>
      </p:sp>
      <p:sp>
        <p:nvSpPr>
          <p:cNvPr id="9" name="Rounded Rectangle 90"/>
          <p:cNvSpPr/>
          <p:nvPr/>
        </p:nvSpPr>
        <p:spPr>
          <a:xfrm>
            <a:off x="380724" y="3211035"/>
            <a:ext cx="8678432" cy="34081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000"/>
              </a:spcAft>
            </a:pPr>
            <a:r>
              <a:rPr lang="en-US" sz="2800" dirty="0" smtClean="0">
                <a:solidFill>
                  <a:schemeClr val="tx1"/>
                </a:solidFill>
              </a:rPr>
              <a:t>Evaluation Settings</a:t>
            </a:r>
            <a:endParaRPr lang="en-US" sz="2000" dirty="0" smtClean="0">
              <a:solidFill>
                <a:schemeClr val="tx1"/>
              </a:solidFill>
            </a:endParaRPr>
          </a:p>
          <a:p>
            <a:pPr marL="342900" indent="-342900">
              <a:spcAft>
                <a:spcPts val="600"/>
              </a:spcAft>
              <a:buSzPct val="90000"/>
              <a:buFont typeface="Wingdings" panose="05000000000000000000" pitchFamily="2" charset="2"/>
              <a:buChar char="l"/>
            </a:pPr>
            <a:r>
              <a:rPr lang="en-US" sz="2000" dirty="0" smtClean="0">
                <a:solidFill>
                  <a:schemeClr val="tx1"/>
                </a:solidFill>
              </a:rPr>
              <a:t>Identity-based signature scheme</a:t>
            </a:r>
          </a:p>
          <a:p>
            <a:pPr marL="800100" lvl="1" indent="-342900">
              <a:spcAft>
                <a:spcPts val="600"/>
              </a:spcAft>
              <a:buSzPct val="90000"/>
              <a:buFont typeface="Wingdings" panose="05000000000000000000" pitchFamily="2" charset="2"/>
              <a:buChar char="l"/>
            </a:pPr>
            <a:r>
              <a:rPr lang="en-US" dirty="0">
                <a:solidFill>
                  <a:schemeClr val="tx1"/>
                </a:solidFill>
              </a:rPr>
              <a:t>SS512: a </a:t>
            </a:r>
            <a:r>
              <a:rPr lang="en-US" dirty="0" err="1">
                <a:solidFill>
                  <a:schemeClr val="tx1"/>
                </a:solidFill>
              </a:rPr>
              <a:t>supersingle</a:t>
            </a:r>
            <a:r>
              <a:rPr lang="en-US" dirty="0">
                <a:solidFill>
                  <a:schemeClr val="tx1"/>
                </a:solidFill>
              </a:rPr>
              <a:t> </a:t>
            </a:r>
            <a:r>
              <a:rPr lang="en-US" dirty="0" smtClean="0">
                <a:solidFill>
                  <a:schemeClr val="tx1"/>
                </a:solidFill>
              </a:rPr>
              <a:t>curve, base </a:t>
            </a:r>
            <a:r>
              <a:rPr lang="en-US" dirty="0">
                <a:solidFill>
                  <a:schemeClr val="tx1"/>
                </a:solidFill>
              </a:rPr>
              <a:t>field size </a:t>
            </a:r>
            <a:r>
              <a:rPr lang="en-US" dirty="0" smtClean="0">
                <a:solidFill>
                  <a:schemeClr val="tx1"/>
                </a:solidFill>
              </a:rPr>
              <a:t>512 </a:t>
            </a:r>
            <a:r>
              <a:rPr lang="en-US" dirty="0">
                <a:solidFill>
                  <a:schemeClr val="tx1"/>
                </a:solidFill>
              </a:rPr>
              <a:t>bits, </a:t>
            </a:r>
            <a:r>
              <a:rPr lang="en-US" dirty="0" smtClean="0">
                <a:solidFill>
                  <a:schemeClr val="tx1"/>
                </a:solidFill>
              </a:rPr>
              <a:t>embedding degree 2</a:t>
            </a:r>
          </a:p>
          <a:p>
            <a:pPr marL="800100" lvl="1" indent="-342900">
              <a:spcAft>
                <a:spcPts val="600"/>
              </a:spcAft>
              <a:buSzPct val="90000"/>
              <a:buFont typeface="Wingdings" panose="05000000000000000000" pitchFamily="2" charset="2"/>
              <a:buChar char="l"/>
            </a:pPr>
            <a:r>
              <a:rPr lang="en-US" dirty="0">
                <a:solidFill>
                  <a:schemeClr val="tx1"/>
                </a:solidFill>
              </a:rPr>
              <a:t>MNT159: a MNT </a:t>
            </a:r>
            <a:r>
              <a:rPr lang="en-US" dirty="0" smtClean="0">
                <a:solidFill>
                  <a:schemeClr val="tx1"/>
                </a:solidFill>
              </a:rPr>
              <a:t>curve, base </a:t>
            </a:r>
            <a:r>
              <a:rPr lang="en-US" dirty="0">
                <a:solidFill>
                  <a:schemeClr val="tx1"/>
                </a:solidFill>
              </a:rPr>
              <a:t>field </a:t>
            </a:r>
            <a:r>
              <a:rPr lang="en-US" dirty="0" smtClean="0">
                <a:solidFill>
                  <a:schemeClr val="tx1"/>
                </a:solidFill>
              </a:rPr>
              <a:t>size 159 </a:t>
            </a:r>
            <a:r>
              <a:rPr lang="en-US" dirty="0">
                <a:solidFill>
                  <a:schemeClr val="tx1"/>
                </a:solidFill>
              </a:rPr>
              <a:t>bits, </a:t>
            </a:r>
            <a:r>
              <a:rPr lang="en-US" dirty="0" smtClean="0">
                <a:solidFill>
                  <a:schemeClr val="tx1"/>
                </a:solidFill>
              </a:rPr>
              <a:t>embedding degree 6</a:t>
            </a:r>
          </a:p>
          <a:p>
            <a:pPr marL="800100" lvl="1" indent="-342900">
              <a:spcAft>
                <a:spcPts val="600"/>
              </a:spcAft>
              <a:buSzPct val="90000"/>
              <a:buFont typeface="Wingdings" panose="05000000000000000000" pitchFamily="2" charset="2"/>
              <a:buChar char="l"/>
            </a:pPr>
            <a:r>
              <a:rPr lang="en-US" dirty="0">
                <a:solidFill>
                  <a:schemeClr val="tx1"/>
                </a:solidFill>
              </a:rPr>
              <a:t>G</a:t>
            </a:r>
            <a:r>
              <a:rPr lang="en-US" dirty="0" smtClean="0">
                <a:solidFill>
                  <a:schemeClr val="tx1"/>
                </a:solidFill>
              </a:rPr>
              <a:t>roup order 160 bits; </a:t>
            </a:r>
            <a:r>
              <a:rPr lang="en-US" dirty="0">
                <a:solidFill>
                  <a:schemeClr val="tx1"/>
                </a:solidFill>
              </a:rPr>
              <a:t>all </a:t>
            </a:r>
            <a:r>
              <a:rPr lang="en-US" dirty="0" err="1" smtClean="0">
                <a:solidFill>
                  <a:schemeClr val="tx1"/>
                </a:solidFill>
              </a:rPr>
              <a:t>hashings</a:t>
            </a:r>
            <a:r>
              <a:rPr lang="en-US" dirty="0">
                <a:solidFill>
                  <a:schemeClr val="tx1"/>
                </a:solidFill>
              </a:rPr>
              <a:t> </a:t>
            </a:r>
            <a:r>
              <a:rPr lang="en-US" dirty="0" smtClean="0">
                <a:solidFill>
                  <a:schemeClr val="tx1"/>
                </a:solidFill>
              </a:rPr>
              <a:t>implemented </a:t>
            </a:r>
            <a:r>
              <a:rPr lang="en-US" dirty="0">
                <a:solidFill>
                  <a:schemeClr val="tx1"/>
                </a:solidFill>
              </a:rPr>
              <a:t>in </a:t>
            </a:r>
            <a:r>
              <a:rPr lang="en-US" dirty="0" smtClean="0">
                <a:solidFill>
                  <a:schemeClr val="tx1"/>
                </a:solidFill>
              </a:rPr>
              <a:t>SHA1</a:t>
            </a:r>
          </a:p>
          <a:p>
            <a:pPr marL="342900" indent="-342900">
              <a:spcAft>
                <a:spcPts val="600"/>
              </a:spcAft>
              <a:buSzPct val="90000"/>
              <a:buFont typeface="Wingdings" panose="05000000000000000000" pitchFamily="2" charset="2"/>
              <a:buChar char="l"/>
            </a:pPr>
            <a:r>
              <a:rPr lang="en-US" sz="2000" dirty="0" smtClean="0">
                <a:solidFill>
                  <a:schemeClr val="tx1"/>
                </a:solidFill>
              </a:rPr>
              <a:t>BGN: Type A1 pairing; group order is a product of two 512-bit primes</a:t>
            </a:r>
          </a:p>
          <a:p>
            <a:pPr marL="342900" indent="-342900">
              <a:spcAft>
                <a:spcPts val="600"/>
              </a:spcAft>
              <a:buSzPct val="90000"/>
              <a:buFont typeface="Wingdings" panose="05000000000000000000" pitchFamily="2" charset="2"/>
              <a:buChar char="l"/>
            </a:pPr>
            <a:r>
              <a:rPr lang="en-US" sz="2000" dirty="0" smtClean="0">
                <a:solidFill>
                  <a:schemeClr val="tx1"/>
                </a:solidFill>
              </a:rPr>
              <a:t>OS: </a:t>
            </a:r>
            <a:r>
              <a:rPr lang="pt-BR" sz="2000" dirty="0" smtClean="0">
                <a:solidFill>
                  <a:schemeClr val="tx1"/>
                </a:solidFill>
              </a:rPr>
              <a:t>64-bit </a:t>
            </a:r>
            <a:r>
              <a:rPr lang="pt-BR" sz="2000" dirty="0">
                <a:solidFill>
                  <a:schemeClr val="tx1"/>
                </a:solidFill>
              </a:rPr>
              <a:t>Ubuntu 14.04, Intel(R) Core(TM) i5 </a:t>
            </a:r>
            <a:r>
              <a:rPr lang="pt-BR" sz="2000" dirty="0" smtClean="0">
                <a:solidFill>
                  <a:schemeClr val="tx1"/>
                </a:solidFill>
              </a:rPr>
              <a:t>3.10GHz</a:t>
            </a:r>
            <a:endParaRPr lang="en-US" sz="2000" dirty="0" smtClean="0">
              <a:solidFill>
                <a:schemeClr val="tx1"/>
              </a:solidFill>
            </a:endParaRPr>
          </a:p>
        </p:txBody>
      </p:sp>
      <p:pic>
        <p:nvPicPr>
          <p:cNvPr id="11" name="Picture 5"/>
          <p:cNvPicPr>
            <a:picLocks noChangeAspect="1"/>
          </p:cNvPicPr>
          <p:nvPr/>
        </p:nvPicPr>
        <p:blipFill>
          <a:blip r:embed="rId4">
            <a:clrChange>
              <a:clrFrom>
                <a:srgbClr val="F9F9F9"/>
              </a:clrFrom>
              <a:clrTo>
                <a:srgbClr val="F9F9F9">
                  <a:alpha val="0"/>
                </a:srgbClr>
              </a:clrTo>
            </a:clrChange>
          </a:blip>
          <a:stretch>
            <a:fillRect/>
          </a:stretch>
        </p:blipFill>
        <p:spPr>
          <a:xfrm>
            <a:off x="6736572" y="3601021"/>
            <a:ext cx="2305050" cy="628650"/>
          </a:xfrm>
          <a:prstGeom prst="rect">
            <a:avLst/>
          </a:prstGeom>
        </p:spPr>
      </p:pic>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21568" y="1175975"/>
            <a:ext cx="1802961" cy="630000"/>
          </a:xfrm>
          <a:prstGeom prst="rect">
            <a:avLst/>
          </a:prstGeom>
        </p:spPr>
      </p:pic>
      <p:sp>
        <p:nvSpPr>
          <p:cNvPr id="10"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09</a:t>
            </a:r>
            <a:endParaRPr lang="en-US" sz="1100" dirty="0">
              <a:solidFill>
                <a:schemeClr val="bg1"/>
              </a:solidFill>
            </a:endParaRPr>
          </a:p>
        </p:txBody>
      </p:sp>
    </p:spTree>
    <p:extLst>
      <p:ext uri="{BB962C8B-B14F-4D97-AF65-F5344CB8AC3E}">
        <p14:creationId xmlns:p14="http://schemas.microsoft.com/office/powerpoint/2010/main" val="3387576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l="104" t="3688" r="652" b="2978"/>
          <a:stretch/>
        </p:blipFill>
        <p:spPr>
          <a:xfrm>
            <a:off x="431997" y="1755147"/>
            <a:ext cx="8280000" cy="1095020"/>
          </a:xfrm>
          <a:prstGeom prst="rect">
            <a:avLst/>
          </a:prstGeom>
        </p:spPr>
      </p:pic>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latin typeface="+mn-lt"/>
              </a:rPr>
              <a:t>Computation Overhead</a:t>
            </a:r>
            <a:endParaRPr lang="en-US" sz="3400" dirty="0">
              <a:latin typeface="+mn-lt"/>
            </a:endParaRPr>
          </a:p>
        </p:txBody>
      </p:sp>
      <p:pic>
        <p:nvPicPr>
          <p:cNvPr id="83" name="图片 82"/>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15" name="Rectangle 71"/>
          <p:cNvSpPr/>
          <p:nvPr/>
        </p:nvSpPr>
        <p:spPr>
          <a:xfrm>
            <a:off x="1691624" y="3157551"/>
            <a:ext cx="5760745" cy="646331"/>
          </a:xfrm>
          <a:prstGeom prst="rect">
            <a:avLst/>
          </a:prstGeom>
          <a:noFill/>
        </p:spPr>
        <p:txBody>
          <a:bodyPr wrap="square">
            <a:spAutoFit/>
          </a:bodyPr>
          <a:lstStyle/>
          <a:p>
            <a:pPr algn="ctr"/>
            <a:r>
              <a:rPr lang="en-US" b="1" dirty="0" smtClean="0">
                <a:solidFill>
                  <a:schemeClr val="accent2">
                    <a:lumMod val="75000"/>
                  </a:schemeClr>
                </a:solidFill>
                <a:latin typeface="+mj-lt"/>
              </a:rPr>
              <a:t>Table </a:t>
            </a:r>
            <a:r>
              <a:rPr lang="en-US" b="1" dirty="0">
                <a:solidFill>
                  <a:schemeClr val="accent2">
                    <a:lumMod val="75000"/>
                  </a:schemeClr>
                </a:solidFill>
                <a:latin typeface="+mj-lt"/>
              </a:rPr>
              <a:t>2</a:t>
            </a:r>
            <a:r>
              <a:rPr lang="en-US" b="1" dirty="0" smtClean="0">
                <a:solidFill>
                  <a:schemeClr val="accent2">
                    <a:lumMod val="75000"/>
                  </a:schemeClr>
                </a:solidFill>
                <a:latin typeface="+mj-lt"/>
              </a:rPr>
              <a:t>. Computation Overhead of Identity-based Signature Scheme Per Data Contributor</a:t>
            </a:r>
            <a:endParaRPr lang="en-US" b="1" dirty="0">
              <a:solidFill>
                <a:schemeClr val="accent2">
                  <a:lumMod val="75000"/>
                </a:schemeClr>
              </a:solidFill>
              <a:latin typeface="+mj-lt"/>
            </a:endParaRPr>
          </a:p>
        </p:txBody>
      </p:sp>
      <p:pic>
        <p:nvPicPr>
          <p:cNvPr id="12" name="图片 11"/>
          <p:cNvPicPr>
            <a:picLocks noChangeAspect="1"/>
          </p:cNvPicPr>
          <p:nvPr/>
        </p:nvPicPr>
        <p:blipFill rotWithShape="1">
          <a:blip r:embed="rId5">
            <a:extLst>
              <a:ext uri="{28A0092B-C50C-407E-A947-70E740481C1C}">
                <a14:useLocalDpi xmlns:a14="http://schemas.microsoft.com/office/drawing/2010/main" val="0"/>
              </a:ext>
            </a:extLst>
          </a:blip>
          <a:srcRect l="261" t="4481" r="416" b="3184"/>
          <a:stretch/>
        </p:blipFill>
        <p:spPr>
          <a:xfrm>
            <a:off x="431999" y="3975846"/>
            <a:ext cx="8280000" cy="1491442"/>
          </a:xfrm>
          <a:prstGeom prst="rect">
            <a:avLst/>
          </a:prstGeom>
        </p:spPr>
      </p:pic>
      <p:sp>
        <p:nvSpPr>
          <p:cNvPr id="18" name="Rectangle 71"/>
          <p:cNvSpPr/>
          <p:nvPr/>
        </p:nvSpPr>
        <p:spPr>
          <a:xfrm>
            <a:off x="1691626" y="1196153"/>
            <a:ext cx="5760745" cy="369332"/>
          </a:xfrm>
          <a:prstGeom prst="rect">
            <a:avLst/>
          </a:prstGeom>
          <a:noFill/>
        </p:spPr>
        <p:txBody>
          <a:bodyPr wrap="square">
            <a:spAutoFit/>
          </a:bodyPr>
          <a:lstStyle/>
          <a:p>
            <a:pPr algn="ctr"/>
            <a:r>
              <a:rPr lang="en-US" b="1" dirty="0" smtClean="0">
                <a:solidFill>
                  <a:schemeClr val="accent2">
                    <a:lumMod val="75000"/>
                  </a:schemeClr>
                </a:solidFill>
                <a:latin typeface="+mj-lt"/>
              </a:rPr>
              <a:t>Table </a:t>
            </a:r>
            <a:r>
              <a:rPr lang="en-US" b="1" dirty="0">
                <a:solidFill>
                  <a:schemeClr val="accent2">
                    <a:lumMod val="75000"/>
                  </a:schemeClr>
                </a:solidFill>
                <a:latin typeface="+mj-lt"/>
              </a:rPr>
              <a:t>1</a:t>
            </a:r>
            <a:r>
              <a:rPr lang="en-US" b="1" dirty="0" smtClean="0">
                <a:solidFill>
                  <a:schemeClr val="accent2">
                    <a:lumMod val="75000"/>
                  </a:schemeClr>
                </a:solidFill>
                <a:latin typeface="+mj-lt"/>
              </a:rPr>
              <a:t>. Time Overheads of Key Operations</a:t>
            </a:r>
            <a:endParaRPr lang="en-US" b="1" dirty="0">
              <a:solidFill>
                <a:schemeClr val="accent2">
                  <a:lumMod val="75000"/>
                </a:schemeClr>
              </a:solidFill>
              <a:latin typeface="+mj-lt"/>
            </a:endParaRPr>
          </a:p>
        </p:txBody>
      </p:sp>
      <p:sp>
        <p:nvSpPr>
          <p:cNvPr id="9"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10</a:t>
            </a:r>
            <a:endParaRPr lang="en-US" sz="1100" dirty="0">
              <a:solidFill>
                <a:schemeClr val="bg1"/>
              </a:solidFill>
            </a:endParaRPr>
          </a:p>
        </p:txBody>
      </p:sp>
      <p:grpSp>
        <p:nvGrpSpPr>
          <p:cNvPr id="6" name="Group 5"/>
          <p:cNvGrpSpPr/>
          <p:nvPr/>
        </p:nvGrpSpPr>
        <p:grpSpPr>
          <a:xfrm>
            <a:off x="1160911" y="5614802"/>
            <a:ext cx="6358857" cy="705910"/>
            <a:chOff x="1160911" y="5614802"/>
            <a:chExt cx="6358857" cy="705910"/>
          </a:xfrm>
        </p:grpSpPr>
        <p:sp>
          <p:nvSpPr>
            <p:cNvPr id="3" name="Rounded Rectangular Callout 2"/>
            <p:cNvSpPr/>
            <p:nvPr/>
          </p:nvSpPr>
          <p:spPr>
            <a:xfrm rot="10800000">
              <a:off x="1160911" y="5614802"/>
              <a:ext cx="6358857" cy="705910"/>
            </a:xfrm>
            <a:prstGeom prst="wedgeRoundRectCallout">
              <a:avLst/>
            </a:prstGeom>
            <a:noFill/>
            <a:ln w="28575">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TextBox 3"/>
            <p:cNvSpPr txBox="1"/>
            <p:nvPr/>
          </p:nvSpPr>
          <p:spPr>
            <a:xfrm>
              <a:off x="1160911" y="5647641"/>
              <a:ext cx="6358854" cy="646331"/>
            </a:xfrm>
            <a:prstGeom prst="rect">
              <a:avLst/>
            </a:prstGeom>
            <a:noFill/>
          </p:spPr>
          <p:txBody>
            <a:bodyPr wrap="square" rtlCol="0">
              <a:spAutoFit/>
            </a:bodyPr>
            <a:lstStyle/>
            <a:p>
              <a:r>
                <a:rPr lang="en-US" dirty="0" smtClean="0"/>
                <a:t>Table 2 reveals that our signature scheme is efficient enough, and can be applied to </a:t>
              </a:r>
              <a:r>
                <a:rPr lang="en-US" dirty="0" smtClean="0">
                  <a:solidFill>
                    <a:srgbClr val="FF0000"/>
                  </a:solidFill>
                </a:rPr>
                <a:t>the data contributors with mobile devices</a:t>
              </a:r>
              <a:r>
                <a:rPr lang="en-US" dirty="0" smtClean="0"/>
                <a:t>. </a:t>
              </a:r>
              <a:endParaRPr lang="en-US" dirty="0"/>
            </a:p>
          </p:txBody>
        </p:sp>
      </p:grpSp>
    </p:spTree>
    <p:extLst>
      <p:ext uri="{BB962C8B-B14F-4D97-AF65-F5344CB8AC3E}">
        <p14:creationId xmlns:p14="http://schemas.microsoft.com/office/powerpoint/2010/main" val="11462262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anim calcmode="lin" valueType="num">
                                      <p:cBhvr>
                                        <p:cTn id="8" dur="600" fill="hold"/>
                                        <p:tgtEl>
                                          <p:spTgt spid="6"/>
                                        </p:tgtEl>
                                        <p:attrNameLst>
                                          <p:attrName>ppt_x</p:attrName>
                                        </p:attrNameLst>
                                      </p:cBhvr>
                                      <p:tavLst>
                                        <p:tav tm="0">
                                          <p:val>
                                            <p:strVal val="#ppt_x"/>
                                          </p:val>
                                        </p:tav>
                                        <p:tav tm="100000">
                                          <p:val>
                                            <p:strVal val="#ppt_x"/>
                                          </p:val>
                                        </p:tav>
                                      </p:tavLst>
                                    </p:anim>
                                    <p:anim calcmode="lin" valueType="num">
                                      <p:cBhvr>
                                        <p:cTn id="9" dur="6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4" cstate="print">
            <a:extLst>
              <a:ext uri="{28A0092B-C50C-407E-A947-70E740481C1C}">
                <a14:useLocalDpi xmlns:a14="http://schemas.microsoft.com/office/drawing/2010/main" val="0"/>
              </a:ext>
            </a:extLst>
          </a:blip>
          <a:srcRect l="5744" t="3547" r="2345" b="7679"/>
          <a:stretch/>
        </p:blipFill>
        <p:spPr>
          <a:xfrm>
            <a:off x="773206" y="1553135"/>
            <a:ext cx="5459506" cy="3691218"/>
          </a:xfrm>
          <a:prstGeom prst="rect">
            <a:avLst/>
          </a:prstGeom>
        </p:spPr>
      </p:pic>
      <p:sp>
        <p:nvSpPr>
          <p:cNvPr id="8" name="圆角矩形 7"/>
          <p:cNvSpPr/>
          <p:nvPr/>
        </p:nvSpPr>
        <p:spPr>
          <a:xfrm>
            <a:off x="1742403" y="1527058"/>
            <a:ext cx="360000" cy="3725838"/>
          </a:xfrm>
          <a:prstGeom prst="roundRect">
            <a:avLst/>
          </a:prstGeom>
          <a:noFill/>
          <a:ln>
            <a:solidFill>
              <a:srgbClr val="7F7F7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Computation Overhead (cont.)</a:t>
            </a:r>
            <a:endParaRPr lang="en-US" sz="3400" dirty="0"/>
          </a:p>
        </p:txBody>
      </p:sp>
      <p:pic>
        <p:nvPicPr>
          <p:cNvPr id="83" name="图片 82"/>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cxnSp>
        <p:nvCxnSpPr>
          <p:cNvPr id="6" name="直接箭头连接符 5"/>
          <p:cNvCxnSpPr/>
          <p:nvPr/>
        </p:nvCxnSpPr>
        <p:spPr>
          <a:xfrm>
            <a:off x="1919803" y="2655990"/>
            <a:ext cx="0" cy="1225296"/>
          </a:xfrm>
          <a:prstGeom prst="straightConnector1">
            <a:avLst/>
          </a:prstGeom>
          <a:ln w="50800">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079645" y="3074025"/>
            <a:ext cx="1035861" cy="430887"/>
          </a:xfrm>
          <a:prstGeom prst="rect">
            <a:avLst/>
          </a:prstGeom>
        </p:spPr>
        <p:txBody>
          <a:bodyPr wrap="none">
            <a:spAutoFit/>
          </a:bodyPr>
          <a:lstStyle/>
          <a:p>
            <a:r>
              <a:rPr lang="en-US" altLang="zh-CN" sz="2200" b="1" dirty="0" smtClean="0">
                <a:solidFill>
                  <a:srgbClr val="FFC000"/>
                </a:solidFill>
              </a:rPr>
              <a:t>48.22%</a:t>
            </a:r>
            <a:endParaRPr lang="zh-CN" altLang="en-US" sz="2200" b="1" dirty="0">
              <a:solidFill>
                <a:srgbClr val="FFC000"/>
              </a:solidFill>
            </a:endParaRPr>
          </a:p>
        </p:txBody>
      </p:sp>
      <p:cxnSp>
        <p:nvCxnSpPr>
          <p:cNvPr id="13" name="直接箭头连接符 12"/>
          <p:cNvCxnSpPr/>
          <p:nvPr/>
        </p:nvCxnSpPr>
        <p:spPr>
          <a:xfrm flipH="1">
            <a:off x="1913319" y="1720907"/>
            <a:ext cx="13647" cy="2962656"/>
          </a:xfrm>
          <a:prstGeom prst="straightConnector1">
            <a:avLst/>
          </a:prstGeom>
          <a:ln w="50800">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081600" y="3074025"/>
            <a:ext cx="1035861" cy="430887"/>
          </a:xfrm>
          <a:prstGeom prst="rect">
            <a:avLst/>
          </a:prstGeom>
        </p:spPr>
        <p:txBody>
          <a:bodyPr wrap="none">
            <a:spAutoFit/>
          </a:bodyPr>
          <a:lstStyle/>
          <a:p>
            <a:r>
              <a:rPr lang="en-US" altLang="zh-CN" sz="2200" b="1" dirty="0" smtClean="0">
                <a:solidFill>
                  <a:srgbClr val="FF0000"/>
                </a:solidFill>
              </a:rPr>
              <a:t>87.94%</a:t>
            </a:r>
            <a:endParaRPr lang="zh-CN" altLang="en-US" sz="2200" b="1" dirty="0">
              <a:solidFill>
                <a:srgbClr val="FF0000"/>
              </a:solidFill>
            </a:endParaRPr>
          </a:p>
        </p:txBody>
      </p:sp>
      <p:cxnSp>
        <p:nvCxnSpPr>
          <p:cNvPr id="11" name="直接箭头连接符 10"/>
          <p:cNvCxnSpPr/>
          <p:nvPr/>
        </p:nvCxnSpPr>
        <p:spPr>
          <a:xfrm flipH="1">
            <a:off x="6068750" y="3942464"/>
            <a:ext cx="13647" cy="1005840"/>
          </a:xfrm>
          <a:prstGeom prst="straightConnector1">
            <a:avLst/>
          </a:prstGeom>
          <a:ln w="50800">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232797" y="4200851"/>
            <a:ext cx="1035861" cy="430887"/>
          </a:xfrm>
          <a:prstGeom prst="rect">
            <a:avLst/>
          </a:prstGeom>
        </p:spPr>
        <p:txBody>
          <a:bodyPr wrap="none">
            <a:spAutoFit/>
          </a:bodyPr>
          <a:lstStyle/>
          <a:p>
            <a:r>
              <a:rPr lang="en-US" altLang="zh-CN" sz="2200" b="1" dirty="0" smtClean="0">
                <a:solidFill>
                  <a:srgbClr val="FF0000"/>
                </a:solidFill>
              </a:rPr>
              <a:t>89.93%</a:t>
            </a:r>
            <a:endParaRPr lang="zh-CN" altLang="en-US" sz="2200" b="1" dirty="0">
              <a:solidFill>
                <a:srgbClr val="FF0000"/>
              </a:solidFill>
            </a:endParaRPr>
          </a:p>
        </p:txBody>
      </p:sp>
      <p:grpSp>
        <p:nvGrpSpPr>
          <p:cNvPr id="5" name="组合 4"/>
          <p:cNvGrpSpPr/>
          <p:nvPr/>
        </p:nvGrpSpPr>
        <p:grpSpPr>
          <a:xfrm>
            <a:off x="6198930" y="5139024"/>
            <a:ext cx="2947409" cy="1122312"/>
            <a:chOff x="4214015" y="5432469"/>
            <a:chExt cx="3027406" cy="1122312"/>
          </a:xfrm>
        </p:grpSpPr>
        <p:grpSp>
          <p:nvGrpSpPr>
            <p:cNvPr id="16" name="组合 15"/>
            <p:cNvGrpSpPr/>
            <p:nvPr/>
          </p:nvGrpSpPr>
          <p:grpSpPr>
            <a:xfrm>
              <a:off x="4214015" y="5432469"/>
              <a:ext cx="3027406" cy="1122312"/>
              <a:chOff x="496207" y="3234520"/>
              <a:chExt cx="8343450" cy="1134281"/>
            </a:xfrm>
          </p:grpSpPr>
          <p:sp>
            <p:nvSpPr>
              <p:cNvPr id="18" name="文本框 17"/>
              <p:cNvSpPr txBox="1"/>
              <p:nvPr/>
            </p:nvSpPr>
            <p:spPr>
              <a:xfrm>
                <a:off x="540208" y="3278062"/>
                <a:ext cx="8299449" cy="404377"/>
              </a:xfrm>
              <a:prstGeom prst="rect">
                <a:avLst/>
              </a:prstGeom>
              <a:noFill/>
            </p:spPr>
            <p:txBody>
              <a:bodyPr wrap="square" rtlCol="0">
                <a:spAutoFit/>
              </a:bodyPr>
              <a:lstStyle/>
              <a:p>
                <a:endParaRPr lang="en-US" altLang="zh-CN" sz="2000" dirty="0"/>
              </a:p>
            </p:txBody>
          </p:sp>
          <p:sp>
            <p:nvSpPr>
              <p:cNvPr id="19" name="圆角矩形 18"/>
              <p:cNvSpPr/>
              <p:nvPr/>
            </p:nvSpPr>
            <p:spPr>
              <a:xfrm>
                <a:off x="496207" y="3234520"/>
                <a:ext cx="8105061" cy="1134281"/>
              </a:xfrm>
              <a:prstGeom prst="roundRect">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 name="矩形 2"/>
                <p:cNvSpPr/>
                <p:nvPr/>
              </p:nvSpPr>
              <p:spPr>
                <a:xfrm>
                  <a:off x="4421124" y="5454503"/>
                  <a:ext cx="2526687" cy="1078244"/>
                </a:xfrm>
                <a:prstGeom prst="rect">
                  <a:avLst/>
                </a:prstGeom>
              </p:spPr>
              <p:txBody>
                <a:bodyPr wrap="square">
                  <a:spAutoFit/>
                </a:bodyPr>
                <a:lstStyle/>
                <a:p>
                  <a:pPr lvl="0">
                    <a:spcAft>
                      <a:spcPts val="500"/>
                    </a:spcAft>
                  </a:pPr>
                  <a:r>
                    <a:rPr lang="en-US" altLang="zh-CN" sz="1400" dirty="0">
                      <a:solidFill>
                        <a:srgbClr val="000000"/>
                      </a:solidFill>
                    </a:rPr>
                    <a:t> Verification Time Per signature</a:t>
                  </a:r>
                </a:p>
                <a:p>
                  <a:pPr lvl="0">
                    <a:spcBef>
                      <a:spcPts val="500"/>
                    </a:spcBef>
                    <a:spcAft>
                      <a:spcPts val="500"/>
                    </a:spcAft>
                  </a:pPr>
                  <a14:m>
                    <m:oMathPara xmlns:m="http://schemas.openxmlformats.org/officeDocument/2006/math">
                      <m:oMathParaPr>
                        <m:jc m:val="left"/>
                      </m:oMathParaPr>
                      <m:oMath xmlns:m="http://schemas.openxmlformats.org/officeDocument/2006/math">
                        <m:r>
                          <a:rPr lang="en-US" altLang="zh-CN" sz="1400" i="1">
                            <a:solidFill>
                              <a:srgbClr val="000000"/>
                            </a:solidFill>
                            <a:latin typeface="Cambria Math" panose="02040503050406030204" pitchFamily="18" charset="0"/>
                          </a:rPr>
                          <m:t>= </m:t>
                        </m:r>
                        <m:func>
                          <m:funcPr>
                            <m:ctrlPr>
                              <a:rPr lang="en-US" altLang="zh-CN" sz="1400" i="1">
                                <a:solidFill>
                                  <a:srgbClr val="000000"/>
                                </a:solidFill>
                                <a:latin typeface="Cambria Math" charset="0"/>
                              </a:rPr>
                            </m:ctrlPr>
                          </m:funcPr>
                          <m:fName>
                            <m:limLow>
                              <m:limLowPr>
                                <m:ctrlPr>
                                  <a:rPr lang="en-US" altLang="zh-CN" sz="1400" i="1">
                                    <a:solidFill>
                                      <a:srgbClr val="000000"/>
                                    </a:solidFill>
                                    <a:latin typeface="Cambria Math" charset="0"/>
                                  </a:rPr>
                                </m:ctrlPr>
                              </m:limLowPr>
                              <m:e>
                                <m:r>
                                  <m:rPr>
                                    <m:sty m:val="p"/>
                                  </m:rPr>
                                  <a:rPr lang="en-US" altLang="zh-CN" sz="1400">
                                    <a:solidFill>
                                      <a:srgbClr val="000000"/>
                                    </a:solidFill>
                                    <a:latin typeface="Cambria Math" panose="02040503050406030204" pitchFamily="18" charset="0"/>
                                  </a:rPr>
                                  <m:t>lim</m:t>
                                </m:r>
                              </m:e>
                              <m:lim>
                                <m:r>
                                  <a:rPr lang="en-US" altLang="zh-CN" sz="1400" i="1">
                                    <a:solidFill>
                                      <a:srgbClr val="000000"/>
                                    </a:solidFill>
                                    <a:latin typeface="Cambria Math" panose="02040503050406030204" pitchFamily="18" charset="0"/>
                                  </a:rPr>
                                  <m:t>𝑛</m:t>
                                </m:r>
                                <m:r>
                                  <a:rPr lang="en-US" altLang="zh-CN" sz="1400" i="1">
                                    <a:solidFill>
                                      <a:srgbClr val="000000"/>
                                    </a:solidFill>
                                    <a:latin typeface="Cambria Math" panose="02040503050406030204" pitchFamily="18" charset="0"/>
                                    <a:ea typeface="Cambria Math" panose="02040503050406030204" pitchFamily="18" charset="0"/>
                                  </a:rPr>
                                  <m:t>→+∞</m:t>
                                </m:r>
                              </m:lim>
                            </m:limLow>
                          </m:fName>
                          <m:e>
                            <m:f>
                              <m:fPr>
                                <m:ctrlPr>
                                  <a:rPr lang="en-US" altLang="zh-CN" sz="1400" i="1">
                                    <a:solidFill>
                                      <a:srgbClr val="000000"/>
                                    </a:solidFill>
                                    <a:latin typeface="Cambria Math" charset="0"/>
                                  </a:rPr>
                                </m:ctrlPr>
                              </m:fPr>
                              <m:num>
                                <m:r>
                                  <a:rPr lang="en-US" altLang="zh-CN" sz="1400" i="1">
                                    <a:solidFill>
                                      <a:srgbClr val="000000"/>
                                    </a:solidFill>
                                    <a:latin typeface="Cambria Math" panose="02040503050406030204" pitchFamily="18" charset="0"/>
                                  </a:rPr>
                                  <m:t>3</m:t>
                                </m:r>
                                <m:sSub>
                                  <m:sSubPr>
                                    <m:ctrlPr>
                                      <a:rPr lang="en-US" altLang="zh-CN" sz="1400" i="1">
                                        <a:solidFill>
                                          <a:srgbClr val="000000"/>
                                        </a:solidFill>
                                        <a:latin typeface="Cambria Math" charset="0"/>
                                      </a:rPr>
                                    </m:ctrlPr>
                                  </m:sSubPr>
                                  <m:e>
                                    <m:r>
                                      <a:rPr lang="en-US" altLang="zh-CN" sz="1400" i="1">
                                        <a:solidFill>
                                          <a:srgbClr val="000000"/>
                                        </a:solidFill>
                                        <a:latin typeface="Cambria Math" panose="02040503050406030204" pitchFamily="18" charset="0"/>
                                      </a:rPr>
                                      <m:t>𝑇</m:t>
                                    </m:r>
                                  </m:e>
                                  <m:sub>
                                    <m:r>
                                      <a:rPr lang="en-US" altLang="zh-CN" sz="1400" i="1">
                                        <a:solidFill>
                                          <a:srgbClr val="000000"/>
                                        </a:solidFill>
                                        <a:latin typeface="Cambria Math" panose="02040503050406030204" pitchFamily="18" charset="0"/>
                                      </a:rPr>
                                      <m:t>𝑝𝑎𝑟</m:t>
                                    </m:r>
                                  </m:sub>
                                </m:sSub>
                                <m:r>
                                  <a:rPr lang="en-US" altLang="zh-CN" sz="1400" i="1">
                                    <a:solidFill>
                                      <a:srgbClr val="000000"/>
                                    </a:solidFill>
                                    <a:latin typeface="Cambria Math" panose="02040503050406030204" pitchFamily="18" charset="0"/>
                                  </a:rPr>
                                  <m:t>+</m:t>
                                </m:r>
                                <m:r>
                                  <a:rPr lang="en-US" altLang="zh-CN" sz="1400" i="1">
                                    <a:solidFill>
                                      <a:srgbClr val="000000"/>
                                    </a:solidFill>
                                    <a:latin typeface="Cambria Math" panose="02040503050406030204" pitchFamily="18" charset="0"/>
                                  </a:rPr>
                                  <m:t>𝑛</m:t>
                                </m:r>
                                <m:sSub>
                                  <m:sSubPr>
                                    <m:ctrlPr>
                                      <a:rPr lang="en-US" altLang="zh-CN" sz="1400" i="1">
                                        <a:solidFill>
                                          <a:srgbClr val="000000"/>
                                        </a:solidFill>
                                        <a:latin typeface="Cambria Math" charset="0"/>
                                      </a:rPr>
                                    </m:ctrlPr>
                                  </m:sSubPr>
                                  <m:e>
                                    <m:r>
                                      <a:rPr lang="en-US" altLang="zh-CN" sz="1400" i="1">
                                        <a:solidFill>
                                          <a:srgbClr val="000000"/>
                                        </a:solidFill>
                                        <a:latin typeface="Cambria Math" panose="02040503050406030204" pitchFamily="18" charset="0"/>
                                      </a:rPr>
                                      <m:t>𝑇</m:t>
                                    </m:r>
                                  </m:e>
                                  <m:sub>
                                    <m:r>
                                      <a:rPr lang="en-US" altLang="zh-CN" sz="1400" i="1">
                                        <a:solidFill>
                                          <a:srgbClr val="000000"/>
                                        </a:solidFill>
                                        <a:latin typeface="Cambria Math" panose="02040503050406030204" pitchFamily="18" charset="0"/>
                                      </a:rPr>
                                      <m:t>𝑚𝑡𝑝</m:t>
                                    </m:r>
                                  </m:sub>
                                </m:sSub>
                                <m:r>
                                  <a:rPr lang="en-US" altLang="zh-CN" sz="1400" i="1">
                                    <a:solidFill>
                                      <a:srgbClr val="000000"/>
                                    </a:solidFill>
                                    <a:latin typeface="Cambria Math" panose="02040503050406030204" pitchFamily="18" charset="0"/>
                                  </a:rPr>
                                  <m:t>+</m:t>
                                </m:r>
                                <m:r>
                                  <a:rPr lang="en-US" altLang="zh-CN" sz="1400" i="1">
                                    <a:solidFill>
                                      <a:srgbClr val="000000"/>
                                    </a:solidFill>
                                    <a:latin typeface="Cambria Math" panose="02040503050406030204" pitchFamily="18" charset="0"/>
                                  </a:rPr>
                                  <m:t>𝑛</m:t>
                                </m:r>
                                <m:sSub>
                                  <m:sSubPr>
                                    <m:ctrlPr>
                                      <a:rPr lang="en-US" altLang="zh-CN" sz="1400" i="1">
                                        <a:solidFill>
                                          <a:srgbClr val="000000"/>
                                        </a:solidFill>
                                        <a:latin typeface="Cambria Math" charset="0"/>
                                      </a:rPr>
                                    </m:ctrlPr>
                                  </m:sSubPr>
                                  <m:e>
                                    <m:r>
                                      <a:rPr lang="en-US" altLang="zh-CN" sz="1400" i="1">
                                        <a:solidFill>
                                          <a:srgbClr val="000000"/>
                                        </a:solidFill>
                                        <a:latin typeface="Cambria Math" panose="02040503050406030204" pitchFamily="18" charset="0"/>
                                      </a:rPr>
                                      <m:t>𝑇</m:t>
                                    </m:r>
                                  </m:e>
                                  <m:sub>
                                    <m:r>
                                      <a:rPr lang="en-US" altLang="zh-CN" sz="1400" i="1">
                                        <a:solidFill>
                                          <a:srgbClr val="000000"/>
                                        </a:solidFill>
                                        <a:latin typeface="Cambria Math" panose="02040503050406030204" pitchFamily="18" charset="0"/>
                                      </a:rPr>
                                      <m:t>𝑒𝑥𝑝</m:t>
                                    </m:r>
                                  </m:sub>
                                </m:sSub>
                              </m:num>
                              <m:den>
                                <m:r>
                                  <a:rPr lang="en-US" altLang="zh-CN" sz="1400" i="1">
                                    <a:solidFill>
                                      <a:srgbClr val="000000"/>
                                    </a:solidFill>
                                    <a:latin typeface="Cambria Math" panose="02040503050406030204" pitchFamily="18" charset="0"/>
                                  </a:rPr>
                                  <m:t>𝑛</m:t>
                                </m:r>
                              </m:den>
                            </m:f>
                          </m:e>
                        </m:func>
                      </m:oMath>
                    </m:oMathPara>
                  </a14:m>
                  <a:endParaRPr lang="en-US" altLang="zh-CN" sz="1400" dirty="0">
                    <a:solidFill>
                      <a:srgbClr val="000000"/>
                    </a:solidFill>
                  </a:endParaRPr>
                </a:p>
                <a:p>
                  <a:pPr lvl="0"/>
                  <a14:m>
                    <m:oMathPara xmlns:m="http://schemas.openxmlformats.org/officeDocument/2006/math">
                      <m:oMathParaPr>
                        <m:jc m:val="left"/>
                      </m:oMathParaPr>
                      <m:oMath xmlns:m="http://schemas.openxmlformats.org/officeDocument/2006/math">
                        <m:r>
                          <a:rPr lang="en-US" altLang="zh-CN" sz="1400" i="1">
                            <a:solidFill>
                              <a:srgbClr val="000000"/>
                            </a:solidFill>
                            <a:latin typeface="Cambria Math" panose="02040503050406030204" pitchFamily="18" charset="0"/>
                          </a:rPr>
                          <m:t>=  </m:t>
                        </m:r>
                        <m:sSub>
                          <m:sSubPr>
                            <m:ctrlPr>
                              <a:rPr lang="en-US" altLang="zh-CN" sz="1400" i="1">
                                <a:solidFill>
                                  <a:srgbClr val="000000"/>
                                </a:solidFill>
                                <a:latin typeface="Cambria Math" charset="0"/>
                              </a:rPr>
                            </m:ctrlPr>
                          </m:sSubPr>
                          <m:e>
                            <m:r>
                              <a:rPr lang="en-US" altLang="zh-CN" sz="1400" i="1">
                                <a:solidFill>
                                  <a:srgbClr val="000000"/>
                                </a:solidFill>
                                <a:latin typeface="Cambria Math" panose="02040503050406030204" pitchFamily="18" charset="0"/>
                              </a:rPr>
                              <m:t>𝑇</m:t>
                            </m:r>
                          </m:e>
                          <m:sub>
                            <m:r>
                              <a:rPr lang="en-US" altLang="zh-CN" sz="1400" i="1">
                                <a:solidFill>
                                  <a:srgbClr val="000000"/>
                                </a:solidFill>
                                <a:latin typeface="Cambria Math" panose="02040503050406030204" pitchFamily="18" charset="0"/>
                              </a:rPr>
                              <m:t>𝑚𝑡𝑝</m:t>
                            </m:r>
                          </m:sub>
                        </m:sSub>
                        <m:r>
                          <a:rPr lang="en-US" altLang="zh-CN" sz="1400" i="1">
                            <a:solidFill>
                              <a:srgbClr val="000000"/>
                            </a:solidFill>
                            <a:latin typeface="Cambria Math" panose="02040503050406030204" pitchFamily="18" charset="0"/>
                          </a:rPr>
                          <m:t>+</m:t>
                        </m:r>
                        <m:sSub>
                          <m:sSubPr>
                            <m:ctrlPr>
                              <a:rPr lang="en-US" altLang="zh-CN" sz="1400" i="1">
                                <a:solidFill>
                                  <a:srgbClr val="000000"/>
                                </a:solidFill>
                                <a:latin typeface="Cambria Math" charset="0"/>
                              </a:rPr>
                            </m:ctrlPr>
                          </m:sSubPr>
                          <m:e>
                            <m:r>
                              <a:rPr lang="en-US" altLang="zh-CN" sz="1400" i="1">
                                <a:solidFill>
                                  <a:srgbClr val="000000"/>
                                </a:solidFill>
                                <a:latin typeface="Cambria Math" panose="02040503050406030204" pitchFamily="18" charset="0"/>
                              </a:rPr>
                              <m:t>𝑇</m:t>
                            </m:r>
                          </m:e>
                          <m:sub>
                            <m:r>
                              <a:rPr lang="en-US" altLang="zh-CN" sz="1400" i="1">
                                <a:solidFill>
                                  <a:srgbClr val="000000"/>
                                </a:solidFill>
                                <a:latin typeface="Cambria Math" panose="02040503050406030204" pitchFamily="18" charset="0"/>
                              </a:rPr>
                              <m:t>𝑒𝑥𝑝</m:t>
                            </m:r>
                          </m:sub>
                        </m:sSub>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4421124" y="5454503"/>
                  <a:ext cx="2526687" cy="1078244"/>
                </a:xfrm>
                <a:prstGeom prst="rect">
                  <a:avLst/>
                </a:prstGeom>
                <a:blipFill>
                  <a:blip r:embed="rId6"/>
                  <a:stretch>
                    <a:fillRect t="-1130" r="-1241"/>
                  </a:stretch>
                </a:blipFill>
              </p:spPr>
              <p:txBody>
                <a:bodyPr/>
                <a:lstStyle/>
                <a:p>
                  <a:r>
                    <a:rPr lang="zh-CN" altLang="en-US">
                      <a:noFill/>
                    </a:rPr>
                    <a:t> </a:t>
                  </a:r>
                </a:p>
              </p:txBody>
            </p:sp>
          </mc:Fallback>
        </mc:AlternateContent>
      </p:grpSp>
      <p:cxnSp>
        <p:nvCxnSpPr>
          <p:cNvPr id="21" name="直接箭头连接符 20"/>
          <p:cNvCxnSpPr>
            <a:endCxn id="19" idx="0"/>
          </p:cNvCxnSpPr>
          <p:nvPr/>
        </p:nvCxnSpPr>
        <p:spPr>
          <a:xfrm>
            <a:off x="4470400" y="3954500"/>
            <a:ext cx="3160128" cy="1184524"/>
          </a:xfrm>
          <a:prstGeom prst="straightConnector1">
            <a:avLst/>
          </a:prstGeom>
          <a:ln w="19050">
            <a:solidFill>
              <a:srgbClr val="A8BEDD"/>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19" idx="1"/>
          </p:cNvCxnSpPr>
          <p:nvPr/>
        </p:nvCxnSpPr>
        <p:spPr>
          <a:xfrm>
            <a:off x="3982065" y="4858446"/>
            <a:ext cx="2216865" cy="841734"/>
          </a:xfrm>
          <a:prstGeom prst="straightConnector1">
            <a:avLst/>
          </a:prstGeom>
          <a:ln w="19050">
            <a:solidFill>
              <a:srgbClr val="A8BEDD"/>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0"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11</a:t>
            </a:r>
            <a:endParaRPr lang="en-US" sz="1100" dirty="0">
              <a:solidFill>
                <a:schemeClr val="bg1"/>
              </a:solidFill>
            </a:endParaRPr>
          </a:p>
        </p:txBody>
      </p:sp>
      <p:sp>
        <p:nvSpPr>
          <p:cNvPr id="2" name="文本框 1"/>
          <p:cNvSpPr txBox="1"/>
          <p:nvPr/>
        </p:nvSpPr>
        <p:spPr>
          <a:xfrm rot="10800000">
            <a:off x="294356" y="2500245"/>
            <a:ext cx="461665" cy="1796862"/>
          </a:xfrm>
          <a:prstGeom prst="rect">
            <a:avLst/>
          </a:prstGeom>
          <a:noFill/>
        </p:spPr>
        <p:txBody>
          <a:bodyPr vert="eaVert" wrap="square" rtlCol="0">
            <a:spAutoFit/>
          </a:bodyPr>
          <a:lstStyle/>
          <a:p>
            <a:r>
              <a:rPr lang="en-US" altLang="zh-CN" b="1" dirty="0" smtClean="0"/>
              <a:t>Per Signature (</a:t>
            </a:r>
            <a:r>
              <a:rPr lang="en-US" altLang="zh-CN" b="1" dirty="0" err="1" smtClean="0"/>
              <a:t>ms</a:t>
            </a:r>
            <a:r>
              <a:rPr lang="en-US" altLang="zh-CN" b="1" dirty="0" smtClean="0"/>
              <a:t>)</a:t>
            </a:r>
            <a:endParaRPr lang="zh-CN" altLang="en-US" b="1" dirty="0"/>
          </a:p>
        </p:txBody>
      </p:sp>
      <p:sp>
        <p:nvSpPr>
          <p:cNvPr id="7" name="文本框 6"/>
          <p:cNvSpPr txBox="1"/>
          <p:nvPr/>
        </p:nvSpPr>
        <p:spPr>
          <a:xfrm>
            <a:off x="1982083" y="5325895"/>
            <a:ext cx="2997322" cy="369332"/>
          </a:xfrm>
          <a:prstGeom prst="rect">
            <a:avLst/>
          </a:prstGeom>
          <a:noFill/>
        </p:spPr>
        <p:txBody>
          <a:bodyPr wrap="square" rtlCol="0">
            <a:spAutoFit/>
          </a:bodyPr>
          <a:lstStyle/>
          <a:p>
            <a:r>
              <a:rPr lang="en-US" altLang="zh-CN" b="1" dirty="0" smtClean="0"/>
              <a:t>Number of Data Contributors</a:t>
            </a:r>
            <a:endParaRPr lang="zh-CN" altLang="en-US" b="1" dirty="0"/>
          </a:p>
        </p:txBody>
      </p:sp>
    </p:spTree>
    <p:custDataLst>
      <p:tags r:id="rId1"/>
    </p:custDataLst>
    <p:extLst>
      <p:ext uri="{BB962C8B-B14F-4D97-AF65-F5344CB8AC3E}">
        <p14:creationId xmlns:p14="http://schemas.microsoft.com/office/powerpoint/2010/main" val="205915671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anim calcmode="lin" valueType="num">
                                      <p:cBhvr>
                                        <p:cTn id="15" dur="600" fill="hold"/>
                                        <p:tgtEl>
                                          <p:spTgt spid="6"/>
                                        </p:tgtEl>
                                        <p:attrNameLst>
                                          <p:attrName>ppt_x</p:attrName>
                                        </p:attrNameLst>
                                      </p:cBhvr>
                                      <p:tavLst>
                                        <p:tav tm="0">
                                          <p:val>
                                            <p:strVal val="#ppt_x"/>
                                          </p:val>
                                        </p:tav>
                                        <p:tav tm="100000">
                                          <p:val>
                                            <p:strVal val="#ppt_x"/>
                                          </p:val>
                                        </p:tav>
                                      </p:tavLst>
                                    </p:anim>
                                    <p:anim calcmode="lin" valueType="num">
                                      <p:cBhvr>
                                        <p:cTn id="16" dur="600" fill="hold"/>
                                        <p:tgtEl>
                                          <p:spTgt spid="6"/>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600"/>
                                        <p:tgtEl>
                                          <p:spTgt spid="12"/>
                                        </p:tgtEl>
                                      </p:cBhvr>
                                    </p:animEffect>
                                    <p:anim calcmode="lin" valueType="num">
                                      <p:cBhvr>
                                        <p:cTn id="20" dur="600" fill="hold"/>
                                        <p:tgtEl>
                                          <p:spTgt spid="12"/>
                                        </p:tgtEl>
                                        <p:attrNameLst>
                                          <p:attrName>ppt_x</p:attrName>
                                        </p:attrNameLst>
                                      </p:cBhvr>
                                      <p:tavLst>
                                        <p:tav tm="0">
                                          <p:val>
                                            <p:strVal val="#ppt_x"/>
                                          </p:val>
                                        </p:tav>
                                        <p:tav tm="100000">
                                          <p:val>
                                            <p:strVal val="#ppt_x"/>
                                          </p:val>
                                        </p:tav>
                                      </p:tavLst>
                                    </p:anim>
                                    <p:anim calcmode="lin" valueType="num">
                                      <p:cBhvr>
                                        <p:cTn id="21" dur="6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xit" presetSubtype="1" fill="hold" nodeType="clickEffect">
                                  <p:stCondLst>
                                    <p:cond delay="0"/>
                                  </p:stCondLst>
                                  <p:childTnLst>
                                    <p:animEffect transition="out" filter="wipe(up)">
                                      <p:cBhvr>
                                        <p:cTn id="25" dur="400"/>
                                        <p:tgtEl>
                                          <p:spTgt spid="6"/>
                                        </p:tgtEl>
                                      </p:cBhvr>
                                    </p:animEffect>
                                    <p:set>
                                      <p:cBhvr>
                                        <p:cTn id="26" dur="1" fill="hold">
                                          <p:stCondLst>
                                            <p:cond delay="399"/>
                                          </p:stCondLst>
                                        </p:cTn>
                                        <p:tgtEl>
                                          <p:spTgt spid="6"/>
                                        </p:tgtEl>
                                        <p:attrNameLst>
                                          <p:attrName>style.visibility</p:attrName>
                                        </p:attrNameLst>
                                      </p:cBhvr>
                                      <p:to>
                                        <p:strVal val="hidden"/>
                                      </p:to>
                                    </p:set>
                                  </p:childTnLst>
                                </p:cTn>
                              </p:par>
                              <p:par>
                                <p:cTn id="27" presetID="22" presetClass="exit" presetSubtype="1" fill="hold" grpId="1" nodeType="withEffect">
                                  <p:stCondLst>
                                    <p:cond delay="0"/>
                                  </p:stCondLst>
                                  <p:childTnLst>
                                    <p:animEffect transition="out" filter="wipe(up)">
                                      <p:cBhvr>
                                        <p:cTn id="28" dur="400"/>
                                        <p:tgtEl>
                                          <p:spTgt spid="12"/>
                                        </p:tgtEl>
                                      </p:cBhvr>
                                    </p:animEffect>
                                    <p:set>
                                      <p:cBhvr>
                                        <p:cTn id="29" dur="1" fill="hold">
                                          <p:stCondLst>
                                            <p:cond delay="399"/>
                                          </p:stCondLst>
                                        </p:cTn>
                                        <p:tgtEl>
                                          <p:spTgt spid="12"/>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anim calcmode="lin" valueType="num">
                                      <p:cBhvr>
                                        <p:cTn id="35" dur="600" fill="hold"/>
                                        <p:tgtEl>
                                          <p:spTgt spid="13"/>
                                        </p:tgtEl>
                                        <p:attrNameLst>
                                          <p:attrName>ppt_x</p:attrName>
                                        </p:attrNameLst>
                                      </p:cBhvr>
                                      <p:tavLst>
                                        <p:tav tm="0">
                                          <p:val>
                                            <p:strVal val="#ppt_x"/>
                                          </p:val>
                                        </p:tav>
                                        <p:tav tm="100000">
                                          <p:val>
                                            <p:strVal val="#ppt_x"/>
                                          </p:val>
                                        </p:tav>
                                      </p:tavLst>
                                    </p:anim>
                                    <p:anim calcmode="lin" valueType="num">
                                      <p:cBhvr>
                                        <p:cTn id="36" dur="600" fill="hold"/>
                                        <p:tgtEl>
                                          <p:spTgt spid="13"/>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600"/>
                                        <p:tgtEl>
                                          <p:spTgt spid="17"/>
                                        </p:tgtEl>
                                      </p:cBhvr>
                                    </p:animEffect>
                                    <p:anim calcmode="lin" valueType="num">
                                      <p:cBhvr>
                                        <p:cTn id="40" dur="600" fill="hold"/>
                                        <p:tgtEl>
                                          <p:spTgt spid="17"/>
                                        </p:tgtEl>
                                        <p:attrNameLst>
                                          <p:attrName>ppt_x</p:attrName>
                                        </p:attrNameLst>
                                      </p:cBhvr>
                                      <p:tavLst>
                                        <p:tav tm="0">
                                          <p:val>
                                            <p:strVal val="#ppt_x"/>
                                          </p:val>
                                        </p:tav>
                                        <p:tav tm="100000">
                                          <p:val>
                                            <p:strVal val="#ppt_x"/>
                                          </p:val>
                                        </p:tav>
                                      </p:tavLst>
                                    </p:anim>
                                    <p:anim calcmode="lin" valueType="num">
                                      <p:cBhvr>
                                        <p:cTn id="41" dur="6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xit" presetSubtype="1" fill="hold" nodeType="clickEffect">
                                  <p:stCondLst>
                                    <p:cond delay="0"/>
                                  </p:stCondLst>
                                  <p:childTnLst>
                                    <p:animEffect transition="out" filter="wipe(up)">
                                      <p:cBhvr>
                                        <p:cTn id="45" dur="600"/>
                                        <p:tgtEl>
                                          <p:spTgt spid="13"/>
                                        </p:tgtEl>
                                      </p:cBhvr>
                                    </p:animEffect>
                                    <p:set>
                                      <p:cBhvr>
                                        <p:cTn id="46" dur="1" fill="hold">
                                          <p:stCondLst>
                                            <p:cond delay="599"/>
                                          </p:stCondLst>
                                        </p:cTn>
                                        <p:tgtEl>
                                          <p:spTgt spid="13"/>
                                        </p:tgtEl>
                                        <p:attrNameLst>
                                          <p:attrName>style.visibility</p:attrName>
                                        </p:attrNameLst>
                                      </p:cBhvr>
                                      <p:to>
                                        <p:strVal val="hidden"/>
                                      </p:to>
                                    </p:set>
                                  </p:childTnLst>
                                </p:cTn>
                              </p:par>
                              <p:par>
                                <p:cTn id="47" presetID="22" presetClass="exit" presetSubtype="1" fill="hold" grpId="1" nodeType="withEffect">
                                  <p:stCondLst>
                                    <p:cond delay="0"/>
                                  </p:stCondLst>
                                  <p:childTnLst>
                                    <p:animEffect transition="out" filter="wipe(up)">
                                      <p:cBhvr>
                                        <p:cTn id="48" dur="600"/>
                                        <p:tgtEl>
                                          <p:spTgt spid="17"/>
                                        </p:tgtEl>
                                      </p:cBhvr>
                                    </p:animEffect>
                                    <p:set>
                                      <p:cBhvr>
                                        <p:cTn id="49" dur="1" fill="hold">
                                          <p:stCondLst>
                                            <p:cond delay="599"/>
                                          </p:stCondLst>
                                        </p:cTn>
                                        <p:tgtEl>
                                          <p:spTgt spid="17"/>
                                        </p:tgtEl>
                                        <p:attrNameLst>
                                          <p:attrName>style.visibility</p:attrName>
                                        </p:attrNameLst>
                                      </p:cBhvr>
                                      <p:to>
                                        <p:strVal val="hidden"/>
                                      </p:to>
                                    </p:set>
                                  </p:childTnLst>
                                </p:cTn>
                              </p:par>
                              <p:par>
                                <p:cTn id="50" presetID="22" presetClass="exit" presetSubtype="1" fill="hold" grpId="1" nodeType="withEffect">
                                  <p:stCondLst>
                                    <p:cond delay="0"/>
                                  </p:stCondLst>
                                  <p:childTnLst>
                                    <p:animEffect transition="out" filter="wipe(up)">
                                      <p:cBhvr>
                                        <p:cTn id="51" dur="600"/>
                                        <p:tgtEl>
                                          <p:spTgt spid="8"/>
                                        </p:tgtEl>
                                      </p:cBhvr>
                                    </p:animEffect>
                                    <p:set>
                                      <p:cBhvr>
                                        <p:cTn id="52" dur="1" fill="hold">
                                          <p:stCondLst>
                                            <p:cond delay="599"/>
                                          </p:stCondLst>
                                        </p:cTn>
                                        <p:tgtEl>
                                          <p:spTgt spid="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47" presetClass="entr" presetSubtype="0"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600"/>
                                        <p:tgtEl>
                                          <p:spTgt spid="11"/>
                                        </p:tgtEl>
                                      </p:cBhvr>
                                    </p:animEffect>
                                    <p:anim calcmode="lin" valueType="num">
                                      <p:cBhvr>
                                        <p:cTn id="58" dur="600" fill="hold"/>
                                        <p:tgtEl>
                                          <p:spTgt spid="11"/>
                                        </p:tgtEl>
                                        <p:attrNameLst>
                                          <p:attrName>ppt_x</p:attrName>
                                        </p:attrNameLst>
                                      </p:cBhvr>
                                      <p:tavLst>
                                        <p:tav tm="0">
                                          <p:val>
                                            <p:strVal val="#ppt_x"/>
                                          </p:val>
                                        </p:tav>
                                        <p:tav tm="100000">
                                          <p:val>
                                            <p:strVal val="#ppt_x"/>
                                          </p:val>
                                        </p:tav>
                                      </p:tavLst>
                                    </p:anim>
                                    <p:anim calcmode="lin" valueType="num">
                                      <p:cBhvr>
                                        <p:cTn id="59" dur="600" fill="hold"/>
                                        <p:tgtEl>
                                          <p:spTgt spid="11"/>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600"/>
                                        <p:tgtEl>
                                          <p:spTgt spid="14"/>
                                        </p:tgtEl>
                                      </p:cBhvr>
                                    </p:animEffect>
                                    <p:anim calcmode="lin" valueType="num">
                                      <p:cBhvr>
                                        <p:cTn id="63" dur="600" fill="hold"/>
                                        <p:tgtEl>
                                          <p:spTgt spid="14"/>
                                        </p:tgtEl>
                                        <p:attrNameLst>
                                          <p:attrName>ppt_x</p:attrName>
                                        </p:attrNameLst>
                                      </p:cBhvr>
                                      <p:tavLst>
                                        <p:tav tm="0">
                                          <p:val>
                                            <p:strVal val="#ppt_x"/>
                                          </p:val>
                                        </p:tav>
                                        <p:tav tm="100000">
                                          <p:val>
                                            <p:strVal val="#ppt_x"/>
                                          </p:val>
                                        </p:tav>
                                      </p:tavLst>
                                    </p:anim>
                                    <p:anim calcmode="lin" valueType="num">
                                      <p:cBhvr>
                                        <p:cTn id="64" dur="6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7" presetClass="entr" presetSubtype="0" fill="hold"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600"/>
                                        <p:tgtEl>
                                          <p:spTgt spid="21"/>
                                        </p:tgtEl>
                                      </p:cBhvr>
                                    </p:animEffect>
                                    <p:anim calcmode="lin" valueType="num">
                                      <p:cBhvr>
                                        <p:cTn id="70" dur="600" fill="hold"/>
                                        <p:tgtEl>
                                          <p:spTgt spid="21"/>
                                        </p:tgtEl>
                                        <p:attrNameLst>
                                          <p:attrName>ppt_x</p:attrName>
                                        </p:attrNameLst>
                                      </p:cBhvr>
                                      <p:tavLst>
                                        <p:tav tm="0">
                                          <p:val>
                                            <p:strVal val="#ppt_x"/>
                                          </p:val>
                                        </p:tav>
                                        <p:tav tm="100000">
                                          <p:val>
                                            <p:strVal val="#ppt_x"/>
                                          </p:val>
                                        </p:tav>
                                      </p:tavLst>
                                    </p:anim>
                                    <p:anim calcmode="lin" valueType="num">
                                      <p:cBhvr>
                                        <p:cTn id="71" dur="600" fill="hold"/>
                                        <p:tgtEl>
                                          <p:spTgt spid="21"/>
                                        </p:tgtEl>
                                        <p:attrNameLst>
                                          <p:attrName>ppt_y</p:attrName>
                                        </p:attrNameLst>
                                      </p:cBhvr>
                                      <p:tavLst>
                                        <p:tav tm="0">
                                          <p:val>
                                            <p:strVal val="#ppt_y-.1"/>
                                          </p:val>
                                        </p:tav>
                                        <p:tav tm="100000">
                                          <p:val>
                                            <p:strVal val="#ppt_y"/>
                                          </p:val>
                                        </p:tav>
                                      </p:tavLst>
                                    </p:anim>
                                  </p:childTnLst>
                                </p:cTn>
                              </p:par>
                              <p:par>
                                <p:cTn id="72" presetID="47" presetClass="entr" presetSubtype="0"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600"/>
                                        <p:tgtEl>
                                          <p:spTgt spid="27"/>
                                        </p:tgtEl>
                                      </p:cBhvr>
                                    </p:animEffect>
                                    <p:anim calcmode="lin" valueType="num">
                                      <p:cBhvr>
                                        <p:cTn id="75" dur="600" fill="hold"/>
                                        <p:tgtEl>
                                          <p:spTgt spid="27"/>
                                        </p:tgtEl>
                                        <p:attrNameLst>
                                          <p:attrName>ppt_x</p:attrName>
                                        </p:attrNameLst>
                                      </p:cBhvr>
                                      <p:tavLst>
                                        <p:tav tm="0">
                                          <p:val>
                                            <p:strVal val="#ppt_x"/>
                                          </p:val>
                                        </p:tav>
                                        <p:tav tm="100000">
                                          <p:val>
                                            <p:strVal val="#ppt_x"/>
                                          </p:val>
                                        </p:tav>
                                      </p:tavLst>
                                    </p:anim>
                                    <p:anim calcmode="lin" valueType="num">
                                      <p:cBhvr>
                                        <p:cTn id="76" dur="600" fill="hold"/>
                                        <p:tgtEl>
                                          <p:spTgt spid="27"/>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fade">
                                      <p:cBhvr>
                                        <p:cTn id="79" dur="600"/>
                                        <p:tgtEl>
                                          <p:spTgt spid="5"/>
                                        </p:tgtEl>
                                      </p:cBhvr>
                                    </p:animEffect>
                                    <p:anim calcmode="lin" valueType="num">
                                      <p:cBhvr>
                                        <p:cTn id="80" dur="600" fill="hold"/>
                                        <p:tgtEl>
                                          <p:spTgt spid="5"/>
                                        </p:tgtEl>
                                        <p:attrNameLst>
                                          <p:attrName>ppt_x</p:attrName>
                                        </p:attrNameLst>
                                      </p:cBhvr>
                                      <p:tavLst>
                                        <p:tav tm="0">
                                          <p:val>
                                            <p:strVal val="#ppt_x"/>
                                          </p:val>
                                        </p:tav>
                                        <p:tav tm="100000">
                                          <p:val>
                                            <p:strVal val="#ppt_x"/>
                                          </p:val>
                                        </p:tav>
                                      </p:tavLst>
                                    </p:anim>
                                    <p:anim calcmode="lin" valueType="num">
                                      <p:cBhvr>
                                        <p:cTn id="81"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2" grpId="0"/>
      <p:bldP spid="12" grpId="1"/>
      <p:bldP spid="17" grpId="0"/>
      <p:bldP spid="17" grpId="1"/>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4" cstate="print">
            <a:extLst>
              <a:ext uri="{28A0092B-C50C-407E-A947-70E740481C1C}">
                <a14:useLocalDpi xmlns:a14="http://schemas.microsoft.com/office/drawing/2010/main" val="0"/>
              </a:ext>
            </a:extLst>
          </a:blip>
          <a:srcRect l="7108" t="2348" r="3971" b="7951"/>
          <a:stretch/>
        </p:blipFill>
        <p:spPr>
          <a:xfrm>
            <a:off x="854242" y="1515978"/>
            <a:ext cx="5281863" cy="3729789"/>
          </a:xfrm>
          <a:prstGeom prst="rect">
            <a:avLst/>
          </a:prstGeom>
        </p:spPr>
      </p:pic>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Computation Overhead (cont.)</a:t>
            </a:r>
            <a:endParaRPr lang="en-US" sz="3400" dirty="0"/>
          </a:p>
        </p:txBody>
      </p:sp>
      <p:pic>
        <p:nvPicPr>
          <p:cNvPr id="83" name="图片 82"/>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grpSp>
        <p:nvGrpSpPr>
          <p:cNvPr id="5" name="Group 4"/>
          <p:cNvGrpSpPr/>
          <p:nvPr/>
        </p:nvGrpSpPr>
        <p:grpSpPr>
          <a:xfrm>
            <a:off x="6260776" y="1270230"/>
            <a:ext cx="2417195" cy="369332"/>
            <a:chOff x="6260776" y="1270230"/>
            <a:chExt cx="2417195" cy="369332"/>
          </a:xfrm>
        </p:grpSpPr>
        <p:sp>
          <p:nvSpPr>
            <p:cNvPr id="19" name="圆角矩形 18"/>
            <p:cNvSpPr/>
            <p:nvPr/>
          </p:nvSpPr>
          <p:spPr>
            <a:xfrm>
              <a:off x="6260776" y="1270230"/>
              <a:ext cx="2417195" cy="369332"/>
            </a:xfrm>
            <a:prstGeom prst="roundRect">
              <a:avLst/>
            </a:prstGeom>
            <a:noFill/>
            <a:ln w="28575">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260776" y="1270230"/>
              <a:ext cx="2417195" cy="369332"/>
            </a:xfrm>
            <a:prstGeom prst="rect">
              <a:avLst/>
            </a:prstGeom>
            <a:noFill/>
            <a:ln>
              <a:noFill/>
            </a:ln>
          </p:spPr>
          <p:txBody>
            <a:bodyPr wrap="square">
              <a:spAutoFit/>
            </a:bodyPr>
            <a:lstStyle/>
            <a:p>
              <a:pPr algn="ctr"/>
              <a:r>
                <a:rPr lang="zh-CN" altLang="en-US" dirty="0"/>
                <a:t>𝛽 </a:t>
              </a:r>
              <a:r>
                <a:rPr lang="en-US" altLang="zh-CN" dirty="0"/>
                <a:t>secure “dot” products </a:t>
              </a:r>
            </a:p>
          </p:txBody>
        </p:sp>
      </p:grpSp>
      <p:cxnSp>
        <p:nvCxnSpPr>
          <p:cNvPr id="27" name="直接箭头连接符 26"/>
          <p:cNvCxnSpPr/>
          <p:nvPr/>
        </p:nvCxnSpPr>
        <p:spPr>
          <a:xfrm flipV="1">
            <a:off x="1889410" y="1454896"/>
            <a:ext cx="4315336" cy="3114294"/>
          </a:xfrm>
          <a:prstGeom prst="straightConnector1">
            <a:avLst/>
          </a:prstGeom>
          <a:ln w="19050">
            <a:solidFill>
              <a:srgbClr val="F2ED4B"/>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V="1">
            <a:off x="1712794" y="3427109"/>
            <a:ext cx="4491952" cy="1365723"/>
          </a:xfrm>
          <a:prstGeom prst="straightConnector1">
            <a:avLst/>
          </a:prstGeom>
          <a:ln w="19050">
            <a:solidFill>
              <a:srgbClr val="375DAB"/>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a:xfrm>
            <a:off x="6260775" y="3238014"/>
            <a:ext cx="2417195" cy="369332"/>
            <a:chOff x="6260775" y="3238014"/>
            <a:chExt cx="2417195" cy="369332"/>
          </a:xfrm>
        </p:grpSpPr>
        <p:sp>
          <p:nvSpPr>
            <p:cNvPr id="13" name="圆角矩形 12"/>
            <p:cNvSpPr/>
            <p:nvPr/>
          </p:nvSpPr>
          <p:spPr>
            <a:xfrm>
              <a:off x="6260775" y="3238014"/>
              <a:ext cx="2417195" cy="369332"/>
            </a:xfrm>
            <a:prstGeom prst="roundRect">
              <a:avLst/>
            </a:prstGeom>
            <a:noFill/>
            <a:ln w="28575">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260775" y="3238014"/>
              <a:ext cx="2417195" cy="369332"/>
            </a:xfrm>
            <a:prstGeom prst="rect">
              <a:avLst/>
            </a:prstGeom>
            <a:noFill/>
            <a:ln>
              <a:noFill/>
            </a:ln>
          </p:spPr>
          <p:txBody>
            <a:bodyPr wrap="square">
              <a:spAutoFit/>
            </a:bodyPr>
            <a:lstStyle/>
            <a:p>
              <a:pPr algn="ctr"/>
              <a:r>
                <a:rPr lang="en-US" altLang="zh-CN" dirty="0"/>
                <a:t>2</a:t>
              </a:r>
              <a:r>
                <a:rPr lang="zh-CN" altLang="en-US" dirty="0"/>
                <a:t>𝛽 </a:t>
              </a:r>
              <a:r>
                <a:rPr lang="en-US" altLang="zh-CN" dirty="0"/>
                <a:t>BGN encryptions</a:t>
              </a:r>
            </a:p>
          </p:txBody>
        </p:sp>
      </p:grpSp>
      <p:sp>
        <p:nvSpPr>
          <p:cNvPr id="15"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12</a:t>
            </a:r>
            <a:endParaRPr lang="en-US" sz="1100" dirty="0">
              <a:solidFill>
                <a:schemeClr val="bg1"/>
              </a:solidFill>
            </a:endParaRPr>
          </a:p>
        </p:txBody>
      </p:sp>
      <p:sp>
        <p:nvSpPr>
          <p:cNvPr id="16" name="文本框 15"/>
          <p:cNvSpPr txBox="1"/>
          <p:nvPr/>
        </p:nvSpPr>
        <p:spPr>
          <a:xfrm rot="10800000">
            <a:off x="366555" y="2743194"/>
            <a:ext cx="461665" cy="1265149"/>
          </a:xfrm>
          <a:prstGeom prst="rect">
            <a:avLst/>
          </a:prstGeom>
          <a:noFill/>
        </p:spPr>
        <p:txBody>
          <a:bodyPr vert="eaVert" wrap="square" rtlCol="0">
            <a:spAutoFit/>
          </a:bodyPr>
          <a:lstStyle/>
          <a:p>
            <a:r>
              <a:rPr lang="en-US" altLang="zh-CN" b="1" dirty="0" smtClean="0"/>
              <a:t>Run Time (s)</a:t>
            </a:r>
            <a:endParaRPr lang="zh-CN" altLang="en-US" b="1" dirty="0"/>
          </a:p>
        </p:txBody>
      </p:sp>
      <p:sp>
        <p:nvSpPr>
          <p:cNvPr id="17" name="文本框 16"/>
          <p:cNvSpPr txBox="1"/>
          <p:nvPr/>
        </p:nvSpPr>
        <p:spPr>
          <a:xfrm>
            <a:off x="2379124" y="5336160"/>
            <a:ext cx="2228970" cy="369332"/>
          </a:xfrm>
          <a:prstGeom prst="rect">
            <a:avLst/>
          </a:prstGeom>
          <a:noFill/>
        </p:spPr>
        <p:txBody>
          <a:bodyPr wrap="square" rtlCol="0">
            <a:spAutoFit/>
          </a:bodyPr>
          <a:lstStyle/>
          <a:p>
            <a:r>
              <a:rPr lang="en-US" altLang="zh-CN" b="1" dirty="0" smtClean="0"/>
              <a:t>Number of Attributes</a:t>
            </a:r>
            <a:endParaRPr lang="zh-CN" altLang="en-US" b="1" dirty="0"/>
          </a:p>
        </p:txBody>
      </p:sp>
    </p:spTree>
    <p:custDataLst>
      <p:tags r:id="rId1"/>
    </p:custDataLst>
    <p:extLst>
      <p:ext uri="{BB962C8B-B14F-4D97-AF65-F5344CB8AC3E}">
        <p14:creationId xmlns:p14="http://schemas.microsoft.com/office/powerpoint/2010/main" val="104569439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600"/>
                                        <p:tgtEl>
                                          <p:spTgt spid="33"/>
                                        </p:tgtEl>
                                      </p:cBhvr>
                                    </p:animEffect>
                                    <p:anim calcmode="lin" valueType="num">
                                      <p:cBhvr>
                                        <p:cTn id="8" dur="600" fill="hold"/>
                                        <p:tgtEl>
                                          <p:spTgt spid="33"/>
                                        </p:tgtEl>
                                        <p:attrNameLst>
                                          <p:attrName>ppt_x</p:attrName>
                                        </p:attrNameLst>
                                      </p:cBhvr>
                                      <p:tavLst>
                                        <p:tav tm="0">
                                          <p:val>
                                            <p:strVal val="#ppt_x"/>
                                          </p:val>
                                        </p:tav>
                                        <p:tav tm="100000">
                                          <p:val>
                                            <p:strVal val="#ppt_x"/>
                                          </p:val>
                                        </p:tav>
                                      </p:tavLst>
                                    </p:anim>
                                    <p:anim calcmode="lin" valueType="num">
                                      <p:cBhvr>
                                        <p:cTn id="9" dur="600" fill="hold"/>
                                        <p:tgtEl>
                                          <p:spTgt spid="3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p:cTn id="13" dur="600" fill="hold"/>
                                        <p:tgtEl>
                                          <p:spTgt spid="7"/>
                                        </p:tgtEl>
                                        <p:attrNameLst>
                                          <p:attrName>ppt_x</p:attrName>
                                        </p:attrNameLst>
                                      </p:cBhvr>
                                      <p:tavLst>
                                        <p:tav tm="0">
                                          <p:val>
                                            <p:strVal val="#ppt_x"/>
                                          </p:val>
                                        </p:tav>
                                        <p:tav tm="100000">
                                          <p:val>
                                            <p:strVal val="#ppt_x"/>
                                          </p:val>
                                        </p:tav>
                                      </p:tavLst>
                                    </p:anim>
                                    <p:anim calcmode="lin" valueType="num">
                                      <p:cBhvr>
                                        <p:cTn id="14" dur="6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600"/>
                                        <p:tgtEl>
                                          <p:spTgt spid="27"/>
                                        </p:tgtEl>
                                      </p:cBhvr>
                                    </p:animEffect>
                                    <p:anim calcmode="lin" valueType="num">
                                      <p:cBhvr>
                                        <p:cTn id="20" dur="600" fill="hold"/>
                                        <p:tgtEl>
                                          <p:spTgt spid="27"/>
                                        </p:tgtEl>
                                        <p:attrNameLst>
                                          <p:attrName>ppt_x</p:attrName>
                                        </p:attrNameLst>
                                      </p:cBhvr>
                                      <p:tavLst>
                                        <p:tav tm="0">
                                          <p:val>
                                            <p:strVal val="#ppt_x"/>
                                          </p:val>
                                        </p:tav>
                                        <p:tav tm="100000">
                                          <p:val>
                                            <p:strVal val="#ppt_x"/>
                                          </p:val>
                                        </p:tav>
                                      </p:tavLst>
                                    </p:anim>
                                    <p:anim calcmode="lin" valueType="num">
                                      <p:cBhvr>
                                        <p:cTn id="21" dur="600" fill="hold"/>
                                        <p:tgtEl>
                                          <p:spTgt spid="2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p:cTn id="25" dur="600" fill="hold"/>
                                        <p:tgtEl>
                                          <p:spTgt spid="5"/>
                                        </p:tgtEl>
                                        <p:attrNameLst>
                                          <p:attrName>ppt_x</p:attrName>
                                        </p:attrNameLst>
                                      </p:cBhvr>
                                      <p:tavLst>
                                        <p:tav tm="0">
                                          <p:val>
                                            <p:strVal val="#ppt_x"/>
                                          </p:val>
                                        </p:tav>
                                        <p:tav tm="100000">
                                          <p:val>
                                            <p:strVal val="#ppt_x"/>
                                          </p:val>
                                        </p:tav>
                                      </p:tavLst>
                                    </p:anim>
                                    <p:anim calcmode="lin" valueType="num">
                                      <p:cBhvr>
                                        <p:cTn id="26"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4" cstate="print">
            <a:extLst>
              <a:ext uri="{28A0092B-C50C-407E-A947-70E740481C1C}">
                <a14:useLocalDpi xmlns:a14="http://schemas.microsoft.com/office/drawing/2010/main" val="0"/>
              </a:ext>
            </a:extLst>
          </a:blip>
          <a:srcRect l="4874" t="-303" r="1875" b="7263"/>
          <a:stretch/>
        </p:blipFill>
        <p:spPr>
          <a:xfrm>
            <a:off x="738554" y="1512277"/>
            <a:ext cx="5539154" cy="3868616"/>
          </a:xfrm>
          <a:prstGeom prst="rect">
            <a:avLst/>
          </a:prstGeom>
        </p:spPr>
      </p:pic>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Communication Overhead</a:t>
            </a:r>
            <a:endParaRPr lang="en-US" sz="3400" dirty="0"/>
          </a:p>
        </p:txBody>
      </p:sp>
      <p:pic>
        <p:nvPicPr>
          <p:cNvPr id="83" name="图片 82"/>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grpSp>
        <p:nvGrpSpPr>
          <p:cNvPr id="11" name="组合 10"/>
          <p:cNvGrpSpPr/>
          <p:nvPr/>
        </p:nvGrpSpPr>
        <p:grpSpPr>
          <a:xfrm>
            <a:off x="6290201" y="1283562"/>
            <a:ext cx="2666054" cy="594130"/>
            <a:chOff x="6335921" y="1156562"/>
            <a:chExt cx="2666054" cy="594130"/>
          </a:xfrm>
        </p:grpSpPr>
        <p:sp>
          <p:nvSpPr>
            <p:cNvPr id="19" name="圆角矩形 18"/>
            <p:cNvSpPr/>
            <p:nvPr/>
          </p:nvSpPr>
          <p:spPr>
            <a:xfrm>
              <a:off x="6335921" y="1156562"/>
              <a:ext cx="2666054" cy="594130"/>
            </a:xfrm>
            <a:prstGeom prst="roundRect">
              <a:avLst/>
            </a:prstGeom>
            <a:noFill/>
            <a:ln w="28575">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335921" y="1192017"/>
              <a:ext cx="2666054" cy="523220"/>
            </a:xfrm>
            <a:prstGeom prst="rect">
              <a:avLst/>
            </a:prstGeom>
            <a:noFill/>
            <a:ln>
              <a:noFill/>
            </a:ln>
          </p:spPr>
          <p:txBody>
            <a:bodyPr wrap="square">
              <a:spAutoFit/>
            </a:bodyPr>
            <a:lstStyle/>
            <a:p>
              <a:pPr algn="ctr"/>
              <a:r>
                <a:rPr lang="zh-CN" altLang="en-US" sz="1400" dirty="0"/>
                <a:t>𝑛 </a:t>
              </a:r>
              <a:r>
                <a:rPr lang="en-US" altLang="zh-CN" sz="1400" dirty="0"/>
                <a:t>encrypted similarity differences </a:t>
              </a:r>
              <a:r>
                <a:rPr lang="zh-CN" altLang="en-US" sz="1400" dirty="0"/>
                <a:t>𝑚 </a:t>
              </a:r>
              <a:r>
                <a:rPr lang="en-US" altLang="zh-CN" sz="1400" dirty="0"/>
                <a:t>indexes and encrypted profiles</a:t>
              </a:r>
            </a:p>
          </p:txBody>
        </p:sp>
      </p:grpSp>
      <p:cxnSp>
        <p:nvCxnSpPr>
          <p:cNvPr id="27" name="直接箭头连接符 26"/>
          <p:cNvCxnSpPr/>
          <p:nvPr/>
        </p:nvCxnSpPr>
        <p:spPr>
          <a:xfrm flipV="1">
            <a:off x="3855244" y="1569201"/>
            <a:ext cx="2349502" cy="1408155"/>
          </a:xfrm>
          <a:prstGeom prst="straightConnector1">
            <a:avLst/>
          </a:prstGeom>
          <a:ln w="19050">
            <a:solidFill>
              <a:srgbClr val="2859A9"/>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6290201" y="2886929"/>
            <a:ext cx="2666054" cy="343232"/>
            <a:chOff x="6290201" y="2759929"/>
            <a:chExt cx="2666054" cy="343232"/>
          </a:xfrm>
        </p:grpSpPr>
        <p:sp>
          <p:nvSpPr>
            <p:cNvPr id="23" name="圆角矩形 22"/>
            <p:cNvSpPr/>
            <p:nvPr/>
          </p:nvSpPr>
          <p:spPr>
            <a:xfrm>
              <a:off x="6290201" y="2759929"/>
              <a:ext cx="2666054" cy="343232"/>
            </a:xfrm>
            <a:prstGeom prst="roundRect">
              <a:avLst/>
            </a:prstGeom>
            <a:noFill/>
            <a:ln w="28575">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290201" y="2777656"/>
              <a:ext cx="2666054" cy="307777"/>
            </a:xfrm>
            <a:prstGeom prst="rect">
              <a:avLst/>
            </a:prstGeom>
            <a:noFill/>
            <a:ln>
              <a:noFill/>
            </a:ln>
          </p:spPr>
          <p:txBody>
            <a:bodyPr wrap="square">
              <a:spAutoFit/>
            </a:bodyPr>
            <a:lstStyle/>
            <a:p>
              <a:pPr algn="ctr"/>
              <a:r>
                <a:rPr lang="zh-CN" altLang="en-US" sz="1400" dirty="0"/>
                <a:t>𝑚 </a:t>
              </a:r>
              <a:r>
                <a:rPr lang="en-US" altLang="zh-CN" sz="1400" dirty="0"/>
                <a:t>encrypted similarity differences</a:t>
              </a:r>
            </a:p>
          </p:txBody>
        </p:sp>
      </p:grpSp>
      <p:grpSp>
        <p:nvGrpSpPr>
          <p:cNvPr id="15" name="组合 14"/>
          <p:cNvGrpSpPr/>
          <p:nvPr/>
        </p:nvGrpSpPr>
        <p:grpSpPr>
          <a:xfrm>
            <a:off x="6290201" y="4239398"/>
            <a:ext cx="2666054" cy="343232"/>
            <a:chOff x="6290201" y="4112398"/>
            <a:chExt cx="2666054" cy="343232"/>
          </a:xfrm>
        </p:grpSpPr>
        <p:sp>
          <p:nvSpPr>
            <p:cNvPr id="32" name="圆角矩形 31"/>
            <p:cNvSpPr/>
            <p:nvPr/>
          </p:nvSpPr>
          <p:spPr>
            <a:xfrm>
              <a:off x="6290201" y="4112398"/>
              <a:ext cx="2666054" cy="343232"/>
            </a:xfrm>
            <a:prstGeom prst="roundRect">
              <a:avLst/>
            </a:prstGeom>
            <a:noFill/>
            <a:ln w="28575">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6290201" y="4130125"/>
              <a:ext cx="2666054" cy="307777"/>
            </a:xfrm>
            <a:prstGeom prst="rect">
              <a:avLst/>
            </a:prstGeom>
            <a:noFill/>
            <a:ln>
              <a:noFill/>
            </a:ln>
          </p:spPr>
          <p:txBody>
            <a:bodyPr wrap="square">
              <a:spAutoFit/>
            </a:bodyPr>
            <a:lstStyle/>
            <a:p>
              <a:pPr algn="ctr"/>
              <a:r>
                <a:rPr lang="en-US" altLang="zh-CN" sz="1400" dirty="0"/>
                <a:t>one data submission</a:t>
              </a:r>
            </a:p>
          </p:txBody>
        </p:sp>
      </p:grpSp>
      <p:cxnSp>
        <p:nvCxnSpPr>
          <p:cNvPr id="36" name="直接箭头连接符 35"/>
          <p:cNvCxnSpPr/>
          <p:nvPr/>
        </p:nvCxnSpPr>
        <p:spPr>
          <a:xfrm>
            <a:off x="3855244" y="3815556"/>
            <a:ext cx="2349502" cy="595457"/>
          </a:xfrm>
          <a:prstGeom prst="straightConnector1">
            <a:avLst/>
          </a:prstGeom>
          <a:ln w="19050">
            <a:solidFill>
              <a:srgbClr val="EE2A2F"/>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5029995" y="3058544"/>
            <a:ext cx="1174751" cy="0"/>
          </a:xfrm>
          <a:prstGeom prst="straightConnector1">
            <a:avLst/>
          </a:prstGeom>
          <a:ln w="19050">
            <a:solidFill>
              <a:srgbClr val="6FBE4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8"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13</a:t>
            </a:r>
            <a:endParaRPr lang="en-US" sz="1100" dirty="0">
              <a:solidFill>
                <a:schemeClr val="bg1"/>
              </a:solidFill>
            </a:endParaRPr>
          </a:p>
        </p:txBody>
      </p:sp>
      <p:sp>
        <p:nvSpPr>
          <p:cNvPr id="20" name="文本框 19"/>
          <p:cNvSpPr txBox="1"/>
          <p:nvPr/>
        </p:nvSpPr>
        <p:spPr>
          <a:xfrm>
            <a:off x="1970051" y="5458230"/>
            <a:ext cx="2997322" cy="369332"/>
          </a:xfrm>
          <a:prstGeom prst="rect">
            <a:avLst/>
          </a:prstGeom>
          <a:noFill/>
        </p:spPr>
        <p:txBody>
          <a:bodyPr wrap="square" rtlCol="0">
            <a:spAutoFit/>
          </a:bodyPr>
          <a:lstStyle/>
          <a:p>
            <a:r>
              <a:rPr lang="en-US" altLang="zh-CN" b="1" dirty="0" smtClean="0"/>
              <a:t>Number of Data Contributors</a:t>
            </a:r>
            <a:endParaRPr lang="zh-CN" altLang="en-US" b="1" dirty="0"/>
          </a:p>
        </p:txBody>
      </p:sp>
      <p:sp>
        <p:nvSpPr>
          <p:cNvPr id="21" name="文本框 20"/>
          <p:cNvSpPr txBox="1"/>
          <p:nvPr/>
        </p:nvSpPr>
        <p:spPr>
          <a:xfrm rot="10800000">
            <a:off x="210147" y="1929691"/>
            <a:ext cx="461665" cy="3049984"/>
          </a:xfrm>
          <a:prstGeom prst="rect">
            <a:avLst/>
          </a:prstGeom>
          <a:noFill/>
        </p:spPr>
        <p:txBody>
          <a:bodyPr vert="eaVert" wrap="square" rtlCol="0">
            <a:spAutoFit/>
          </a:bodyPr>
          <a:lstStyle/>
          <a:p>
            <a:r>
              <a:rPr lang="en-US" altLang="zh-CN" b="1" dirty="0" smtClean="0"/>
              <a:t>Communication Overhead (MB)</a:t>
            </a:r>
            <a:endParaRPr lang="zh-CN" altLang="en-US" b="1" dirty="0"/>
          </a:p>
        </p:txBody>
      </p:sp>
    </p:spTree>
    <p:custDataLst>
      <p:tags r:id="rId1"/>
    </p:custDataLst>
    <p:extLst>
      <p:ext uri="{BB962C8B-B14F-4D97-AF65-F5344CB8AC3E}">
        <p14:creationId xmlns:p14="http://schemas.microsoft.com/office/powerpoint/2010/main" val="26918587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600"/>
                                        <p:tgtEl>
                                          <p:spTgt spid="15"/>
                                        </p:tgtEl>
                                      </p:cBhvr>
                                    </p:animEffect>
                                    <p:anim calcmode="lin" valueType="num">
                                      <p:cBhvr>
                                        <p:cTn id="13" dur="600" fill="hold"/>
                                        <p:tgtEl>
                                          <p:spTgt spid="15"/>
                                        </p:tgtEl>
                                        <p:attrNameLst>
                                          <p:attrName>ppt_x</p:attrName>
                                        </p:attrNameLst>
                                      </p:cBhvr>
                                      <p:tavLst>
                                        <p:tav tm="0">
                                          <p:val>
                                            <p:strVal val="#ppt_x"/>
                                          </p:val>
                                        </p:tav>
                                        <p:tav tm="100000">
                                          <p:val>
                                            <p:strVal val="#ppt_x"/>
                                          </p:val>
                                        </p:tav>
                                      </p:tavLst>
                                    </p:anim>
                                    <p:anim calcmode="lin" valueType="num">
                                      <p:cBhvr>
                                        <p:cTn id="14" dur="6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600"/>
                                        <p:tgtEl>
                                          <p:spTgt spid="27"/>
                                        </p:tgtEl>
                                      </p:cBhvr>
                                    </p:animEffect>
                                    <p:anim calcmode="lin" valueType="num">
                                      <p:cBhvr>
                                        <p:cTn id="20" dur="600" fill="hold"/>
                                        <p:tgtEl>
                                          <p:spTgt spid="27"/>
                                        </p:tgtEl>
                                        <p:attrNameLst>
                                          <p:attrName>ppt_x</p:attrName>
                                        </p:attrNameLst>
                                      </p:cBhvr>
                                      <p:tavLst>
                                        <p:tav tm="0">
                                          <p:val>
                                            <p:strVal val="#ppt_x"/>
                                          </p:val>
                                        </p:tav>
                                        <p:tav tm="100000">
                                          <p:val>
                                            <p:strVal val="#ppt_x"/>
                                          </p:val>
                                        </p:tav>
                                      </p:tavLst>
                                    </p:anim>
                                    <p:anim calcmode="lin" valueType="num">
                                      <p:cBhvr>
                                        <p:cTn id="21" dur="600" fill="hold"/>
                                        <p:tgtEl>
                                          <p:spTgt spid="2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600"/>
                                        <p:tgtEl>
                                          <p:spTgt spid="11"/>
                                        </p:tgtEl>
                                      </p:cBhvr>
                                    </p:animEffect>
                                    <p:anim calcmode="lin" valueType="num">
                                      <p:cBhvr>
                                        <p:cTn id="25" dur="600" fill="hold"/>
                                        <p:tgtEl>
                                          <p:spTgt spid="11"/>
                                        </p:tgtEl>
                                        <p:attrNameLst>
                                          <p:attrName>ppt_x</p:attrName>
                                        </p:attrNameLst>
                                      </p:cBhvr>
                                      <p:tavLst>
                                        <p:tav tm="0">
                                          <p:val>
                                            <p:strVal val="#ppt_x"/>
                                          </p:val>
                                        </p:tav>
                                        <p:tav tm="100000">
                                          <p:val>
                                            <p:strVal val="#ppt_x"/>
                                          </p:val>
                                        </p:tav>
                                      </p:tavLst>
                                    </p:anim>
                                    <p:anim calcmode="lin" valueType="num">
                                      <p:cBhvr>
                                        <p:cTn id="26" dur="600" fill="hold"/>
                                        <p:tgtEl>
                                          <p:spTgt spid="11"/>
                                        </p:tgtEl>
                                        <p:attrNameLst>
                                          <p:attrName>ppt_y</p:attrName>
                                        </p:attrNameLst>
                                      </p:cBhvr>
                                      <p:tavLst>
                                        <p:tav tm="0">
                                          <p:val>
                                            <p:strVal val="#ppt_y+.1"/>
                                          </p:val>
                                        </p:tav>
                                        <p:tav tm="100000">
                                          <p:val>
                                            <p:strVal val="#ppt_y"/>
                                          </p:val>
                                        </p:tav>
                                      </p:tavLst>
                                    </p:anim>
                                  </p:childTnLst>
                                </p:cTn>
                              </p:par>
                            </p:childTnLst>
                          </p:cTn>
                        </p:par>
                        <p:par>
                          <p:cTn id="27" fill="hold">
                            <p:stCondLst>
                              <p:cond delay="600"/>
                            </p:stCondLst>
                            <p:childTnLst>
                              <p:par>
                                <p:cTn id="28" presetID="42" presetClass="entr" presetSubtype="0" fill="hold" nodeType="after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fade">
                                      <p:cBhvr>
                                        <p:cTn id="30" dur="600"/>
                                        <p:tgtEl>
                                          <p:spTgt spid="45"/>
                                        </p:tgtEl>
                                      </p:cBhvr>
                                    </p:animEffect>
                                    <p:anim calcmode="lin" valueType="num">
                                      <p:cBhvr>
                                        <p:cTn id="31" dur="600" fill="hold"/>
                                        <p:tgtEl>
                                          <p:spTgt spid="45"/>
                                        </p:tgtEl>
                                        <p:attrNameLst>
                                          <p:attrName>ppt_x</p:attrName>
                                        </p:attrNameLst>
                                      </p:cBhvr>
                                      <p:tavLst>
                                        <p:tav tm="0">
                                          <p:val>
                                            <p:strVal val="#ppt_x"/>
                                          </p:val>
                                        </p:tav>
                                        <p:tav tm="100000">
                                          <p:val>
                                            <p:strVal val="#ppt_x"/>
                                          </p:val>
                                        </p:tav>
                                      </p:tavLst>
                                    </p:anim>
                                    <p:anim calcmode="lin" valueType="num">
                                      <p:cBhvr>
                                        <p:cTn id="32" dur="600" fill="hold"/>
                                        <p:tgtEl>
                                          <p:spTgt spid="45"/>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anim calcmode="lin" valueType="num">
                                      <p:cBhvr>
                                        <p:cTn id="36" dur="600" fill="hold"/>
                                        <p:tgtEl>
                                          <p:spTgt spid="12"/>
                                        </p:tgtEl>
                                        <p:attrNameLst>
                                          <p:attrName>ppt_x</p:attrName>
                                        </p:attrNameLst>
                                      </p:cBhvr>
                                      <p:tavLst>
                                        <p:tav tm="0">
                                          <p:val>
                                            <p:strVal val="#ppt_x"/>
                                          </p:val>
                                        </p:tav>
                                        <p:tav tm="100000">
                                          <p:val>
                                            <p:strVal val="#ppt_x"/>
                                          </p:val>
                                        </p:tav>
                                      </p:tavLst>
                                    </p:anim>
                                    <p:anim calcmode="lin" valueType="num">
                                      <p:cBhvr>
                                        <p:cTn id="37" dur="6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p:cNvSpPr txBox="1">
            <a:spLocks/>
          </p:cNvSpPr>
          <p:nvPr/>
        </p:nvSpPr>
        <p:spPr>
          <a:xfrm>
            <a:off x="0" y="353034"/>
            <a:ext cx="6831874" cy="4921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400" dirty="0" smtClean="0"/>
              <a:t>Summary</a:t>
            </a:r>
            <a:endParaRPr lang="en-US" sz="3400" dirty="0"/>
          </a:p>
        </p:txBody>
      </p:sp>
      <p:pic>
        <p:nvPicPr>
          <p:cNvPr id="83" name="图片 82"/>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544615"/>
            <a:ext cx="9144000" cy="365497"/>
          </a:xfrm>
          <a:prstGeom prst="rect">
            <a:avLst/>
          </a:prstGeom>
        </p:spPr>
      </p:pic>
      <p:sp>
        <p:nvSpPr>
          <p:cNvPr id="10" name="Rounded Rectangle 90"/>
          <p:cNvSpPr/>
          <p:nvPr/>
        </p:nvSpPr>
        <p:spPr>
          <a:xfrm>
            <a:off x="432000" y="1186098"/>
            <a:ext cx="8280000" cy="483487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Aft>
                <a:spcPts val="1000"/>
              </a:spcAft>
              <a:buSzPct val="90000"/>
              <a:buFont typeface="Wingdings" panose="05000000000000000000" pitchFamily="2" charset="2"/>
              <a:buChar char="l"/>
            </a:pPr>
            <a:r>
              <a:rPr lang="en-US" sz="3000" dirty="0" smtClean="0">
                <a:solidFill>
                  <a:schemeClr val="tx1"/>
                </a:solidFill>
              </a:rPr>
              <a:t>Considered </a:t>
            </a:r>
            <a:r>
              <a:rPr lang="en-US" sz="3000" dirty="0">
                <a:solidFill>
                  <a:schemeClr val="tx1"/>
                </a:solidFill>
              </a:rPr>
              <a:t>both </a:t>
            </a:r>
            <a:r>
              <a:rPr lang="en-US" sz="3000" b="1" dirty="0">
                <a:solidFill>
                  <a:schemeClr val="tx1"/>
                </a:solidFill>
              </a:rPr>
              <a:t>data truthfulness</a:t>
            </a:r>
            <a:r>
              <a:rPr lang="en-US" sz="3000" dirty="0">
                <a:solidFill>
                  <a:srgbClr val="FF0000"/>
                </a:solidFill>
              </a:rPr>
              <a:t> </a:t>
            </a:r>
            <a:r>
              <a:rPr lang="en-US" sz="3000" dirty="0">
                <a:solidFill>
                  <a:schemeClr val="tx1"/>
                </a:solidFill>
              </a:rPr>
              <a:t>and </a:t>
            </a:r>
            <a:r>
              <a:rPr lang="en-US" sz="3000" b="1" dirty="0">
                <a:solidFill>
                  <a:schemeClr val="tx1"/>
                </a:solidFill>
              </a:rPr>
              <a:t>privacy preservation</a:t>
            </a:r>
            <a:r>
              <a:rPr lang="en-US" sz="3000" dirty="0">
                <a:solidFill>
                  <a:schemeClr val="tx1"/>
                </a:solidFill>
              </a:rPr>
              <a:t> in data markets, and </a:t>
            </a:r>
            <a:r>
              <a:rPr lang="en-US" sz="3000" dirty="0" smtClean="0">
                <a:solidFill>
                  <a:schemeClr val="tx1"/>
                </a:solidFill>
              </a:rPr>
              <a:t>proposed </a:t>
            </a:r>
            <a:r>
              <a:rPr lang="en-US" sz="3000" dirty="0">
                <a:solidFill>
                  <a:schemeClr val="tx1"/>
                </a:solidFill>
              </a:rPr>
              <a:t>TPDM</a:t>
            </a:r>
            <a:r>
              <a:rPr lang="en-US" sz="3000" dirty="0" smtClean="0">
                <a:solidFill>
                  <a:schemeClr val="tx1"/>
                </a:solidFill>
              </a:rPr>
              <a:t>.</a:t>
            </a:r>
          </a:p>
          <a:p>
            <a:pPr marL="342900" indent="-342900">
              <a:spcAft>
                <a:spcPts val="1000"/>
              </a:spcAft>
              <a:buSzPct val="90000"/>
              <a:buFont typeface="Wingdings" panose="05000000000000000000" pitchFamily="2" charset="2"/>
              <a:buChar char="l"/>
            </a:pPr>
            <a:r>
              <a:rPr lang="en-US" sz="3000" dirty="0" smtClean="0">
                <a:solidFill>
                  <a:schemeClr val="tx1"/>
                </a:solidFill>
              </a:rPr>
              <a:t>Instantiated </a:t>
            </a:r>
            <a:r>
              <a:rPr lang="en-US" sz="3000" dirty="0">
                <a:solidFill>
                  <a:schemeClr val="tx1"/>
                </a:solidFill>
              </a:rPr>
              <a:t>TPDM with a </a:t>
            </a:r>
            <a:r>
              <a:rPr lang="en-US" sz="3000" b="1" dirty="0">
                <a:solidFill>
                  <a:schemeClr val="tx1"/>
                </a:solidFill>
              </a:rPr>
              <a:t>profile-matching service</a:t>
            </a:r>
            <a:r>
              <a:rPr lang="en-US" sz="3000" dirty="0">
                <a:solidFill>
                  <a:schemeClr val="tx1"/>
                </a:solidFill>
              </a:rPr>
              <a:t>, and </a:t>
            </a:r>
            <a:r>
              <a:rPr lang="en-US" sz="3000" dirty="0" smtClean="0">
                <a:solidFill>
                  <a:schemeClr val="tx1"/>
                </a:solidFill>
              </a:rPr>
              <a:t>evaluated </a:t>
            </a:r>
            <a:r>
              <a:rPr lang="en-US" sz="3000" dirty="0">
                <a:solidFill>
                  <a:schemeClr val="tx1"/>
                </a:solidFill>
              </a:rPr>
              <a:t>its performance on a real-world dataset</a:t>
            </a:r>
            <a:r>
              <a:rPr lang="en-US" sz="3000" dirty="0" smtClean="0">
                <a:solidFill>
                  <a:schemeClr val="tx1"/>
                </a:solidFill>
              </a:rPr>
              <a:t>.</a:t>
            </a:r>
          </a:p>
          <a:p>
            <a:pPr marL="342900" indent="-342900">
              <a:buSzPct val="90000"/>
              <a:buFont typeface="Wingdings" panose="05000000000000000000" pitchFamily="2" charset="2"/>
              <a:buChar char="l"/>
            </a:pPr>
            <a:r>
              <a:rPr lang="en-US" sz="3000" dirty="0">
                <a:solidFill>
                  <a:schemeClr val="tx1"/>
                </a:solidFill>
              </a:rPr>
              <a:t>Evaluation results have demonstrated its </a:t>
            </a:r>
            <a:r>
              <a:rPr lang="en-US" sz="3000" b="1" dirty="0" smtClean="0">
                <a:solidFill>
                  <a:schemeClr val="tx1"/>
                </a:solidFill>
              </a:rPr>
              <a:t>feasibility and scalability</a:t>
            </a:r>
            <a:r>
              <a:rPr lang="en-US" sz="3000" dirty="0">
                <a:solidFill>
                  <a:schemeClr val="tx1"/>
                </a:solidFill>
              </a:rPr>
              <a:t>, especially from computation and communication overheads.</a:t>
            </a:r>
            <a:endParaRPr lang="en-US" sz="3000" dirty="0" smtClean="0">
              <a:solidFill>
                <a:schemeClr val="tx1"/>
              </a:solidFill>
            </a:endParaRPr>
          </a:p>
        </p:txBody>
      </p:sp>
      <p:sp>
        <p:nvSpPr>
          <p:cNvPr id="6" name="Pentagon 42"/>
          <p:cNvSpPr/>
          <p:nvPr/>
        </p:nvSpPr>
        <p:spPr>
          <a:xfrm>
            <a:off x="8677971" y="6522048"/>
            <a:ext cx="398432" cy="288178"/>
          </a:xfrm>
          <a:prstGeom prst="homePlat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bg1"/>
                </a:solidFill>
              </a:rPr>
              <a:t>14</a:t>
            </a:r>
            <a:endParaRPr lang="en-US" sz="1100" dirty="0">
              <a:solidFill>
                <a:schemeClr val="bg1"/>
              </a:solidFill>
            </a:endParaRPr>
          </a:p>
        </p:txBody>
      </p:sp>
    </p:spTree>
    <p:extLst>
      <p:ext uri="{BB962C8B-B14F-4D97-AF65-F5344CB8AC3E}">
        <p14:creationId xmlns:p14="http://schemas.microsoft.com/office/powerpoint/2010/main" val="2213044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3E3E3">
            <a:alpha val="50000"/>
          </a:srgbClr>
        </a:solidFill>
        <a:effectLst/>
      </p:bgPr>
    </p:bg>
    <p:spTree>
      <p:nvGrpSpPr>
        <p:cNvPr id="1" name=""/>
        <p:cNvGrpSpPr/>
        <p:nvPr/>
      </p:nvGrpSpPr>
      <p:grpSpPr>
        <a:xfrm>
          <a:off x="0" y="0"/>
          <a:ext cx="0" cy="0"/>
          <a:chOff x="0" y="0"/>
          <a:chExt cx="0" cy="0"/>
        </a:xfrm>
      </p:grpSpPr>
      <p:sp>
        <p:nvSpPr>
          <p:cNvPr id="4" name="Rectangle 3"/>
          <p:cNvSpPr/>
          <p:nvPr/>
        </p:nvSpPr>
        <p:spPr>
          <a:xfrm>
            <a:off x="0" y="3937000"/>
            <a:ext cx="9144000" cy="21336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itle 1"/>
          <p:cNvSpPr>
            <a:spLocks noGrp="1"/>
          </p:cNvSpPr>
          <p:nvPr>
            <p:ph type="title"/>
          </p:nvPr>
        </p:nvSpPr>
        <p:spPr>
          <a:xfrm>
            <a:off x="457200" y="4411229"/>
            <a:ext cx="8229600" cy="798896"/>
          </a:xfrm>
        </p:spPr>
        <p:txBody>
          <a:bodyPr>
            <a:noAutofit/>
          </a:bodyPr>
          <a:lstStyle/>
          <a:p>
            <a:pPr algn="r"/>
            <a:r>
              <a:rPr lang="en-US" sz="4800" dirty="0" smtClean="0">
                <a:solidFill>
                  <a:schemeClr val="bg1"/>
                </a:solidFill>
              </a:rPr>
              <a:t>Q &amp; A</a:t>
            </a:r>
            <a:endParaRPr lang="en-US" sz="4800" dirty="0">
              <a:solidFill>
                <a:schemeClr val="bg1"/>
              </a:solidFill>
            </a:endParaRPr>
          </a:p>
        </p:txBody>
      </p:sp>
      <p:sp>
        <p:nvSpPr>
          <p:cNvPr id="3" name="Subtitle 4"/>
          <p:cNvSpPr txBox="1">
            <a:spLocks/>
          </p:cNvSpPr>
          <p:nvPr/>
        </p:nvSpPr>
        <p:spPr>
          <a:xfrm>
            <a:off x="457200" y="5317217"/>
            <a:ext cx="8229600" cy="406400"/>
          </a:xfrm>
          <a:prstGeom prst="rect">
            <a:avLst/>
          </a:prstGeom>
        </p:spPr>
        <p:txBody>
          <a:bodyPr vert="horz" lIns="91440" tIns="45720" rIns="91440" bIns="45720" rtlCol="0">
            <a:noAutofit/>
          </a:bodyPr>
          <a:lstStyle/>
          <a:p>
            <a:pPr marL="342900" marR="0" lvl="0" indent="-342900" algn="r" defTabSz="914400" rtl="0" eaLnBrk="1" fontAlgn="auto" latinLnBrk="0" hangingPunct="1">
              <a:lnSpc>
                <a:spcPct val="100000"/>
              </a:lnSpc>
              <a:spcBef>
                <a:spcPct val="20000"/>
              </a:spcBef>
              <a:spcAft>
                <a:spcPts val="0"/>
              </a:spcAft>
              <a:buClrTx/>
              <a:buSzTx/>
              <a:buFontTx/>
              <a:buNone/>
              <a:tabLst/>
              <a:defRPr/>
            </a:pPr>
            <a:r>
              <a:rPr kumimoji="0" lang="ms-MY" sz="2200" b="0" i="0" u="none" strike="noStrike" kern="1200" cap="none" spc="0" normalizeH="0" baseline="0" noProof="0" dirty="0" smtClean="0">
                <a:ln>
                  <a:noFill/>
                </a:ln>
                <a:solidFill>
                  <a:prstClr val="white"/>
                </a:solidFill>
                <a:effectLst/>
                <a:uLnTx/>
                <a:uFillTx/>
                <a:latin typeface="+mj-lt"/>
                <a:ea typeface="+mn-ea"/>
                <a:cs typeface="+mn-cs"/>
              </a:rPr>
              <a:t>Your Advice </a:t>
            </a:r>
            <a:r>
              <a:rPr kumimoji="0" lang="ms-MY" sz="2200" b="1" i="0" u="none" strike="noStrike" kern="1200" cap="none" spc="0" normalizeH="0" baseline="0" noProof="0" dirty="0" smtClean="0">
                <a:ln>
                  <a:noFill/>
                </a:ln>
                <a:solidFill>
                  <a:prstClr val="white"/>
                </a:solidFill>
                <a:effectLst/>
                <a:uLnTx/>
                <a:uFillTx/>
                <a:latin typeface="+mj-lt"/>
                <a:ea typeface="+mn-ea"/>
                <a:cs typeface="+mn-cs"/>
              </a:rPr>
              <a:t>Makes Me Perfect</a:t>
            </a:r>
            <a:endParaRPr kumimoji="0" lang="en-US" sz="2200" b="1" i="0" u="none" strike="noStrike" kern="1200" cap="none" spc="0" normalizeH="0" baseline="0" noProof="0" dirty="0">
              <a:ln>
                <a:noFill/>
              </a:ln>
              <a:solidFill>
                <a:prstClr val="white"/>
              </a:solidFill>
              <a:effectLst/>
              <a:uLnTx/>
              <a:uFillTx/>
              <a:latin typeface="+mj-lt"/>
              <a:ea typeface="+mn-ea"/>
              <a:cs typeface="+mn-cs"/>
            </a:endParaRPr>
          </a:p>
        </p:txBody>
      </p:sp>
      <p:pic>
        <p:nvPicPr>
          <p:cNvPr id="8" name="图片 7"/>
          <p:cNvPicPr>
            <a:picLocks noChangeAspect="1"/>
          </p:cNvPicPr>
          <p:nvPr/>
        </p:nvPicPr>
        <p:blipFill>
          <a:blip r:embed="rId2"/>
          <a:stretch>
            <a:fillRect/>
          </a:stretch>
        </p:blipFill>
        <p:spPr>
          <a:xfrm>
            <a:off x="3331568" y="4204904"/>
            <a:ext cx="1575319" cy="1598400"/>
          </a:xfrm>
          <a:prstGeom prst="rect">
            <a:avLst/>
          </a:prstGeom>
        </p:spPr>
      </p:pic>
    </p:spTree>
    <p:extLst>
      <p:ext uri="{BB962C8B-B14F-4D97-AF65-F5344CB8AC3E}">
        <p14:creationId xmlns:p14="http://schemas.microsoft.com/office/powerpoint/2010/main" val="403515496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0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600" fill="hold"/>
                                        <p:tgtEl>
                                          <p:spTgt spid="8"/>
                                        </p:tgtEl>
                                        <p:attrNameLst>
                                          <p:attrName>ppt_x</p:attrName>
                                        </p:attrNameLst>
                                      </p:cBhvr>
                                      <p:tavLst>
                                        <p:tav tm="0">
                                          <p:val>
                                            <p:strVal val="0-#ppt_w/2"/>
                                          </p:val>
                                        </p:tav>
                                        <p:tav tm="100000">
                                          <p:val>
                                            <p:strVal val="#ppt_x"/>
                                          </p:val>
                                        </p:tav>
                                      </p:tavLst>
                                    </p:anim>
                                    <p:anim calcmode="lin" valueType="num">
                                      <p:cBhvr additive="base">
                                        <p:cTn id="13" dur="600" fill="hold"/>
                                        <p:tgtEl>
                                          <p:spTgt spid="8"/>
                                        </p:tgtEl>
                                        <p:attrNameLst>
                                          <p:attrName>ppt_y</p:attrName>
                                        </p:attrNameLst>
                                      </p:cBhvr>
                                      <p:tavLst>
                                        <p:tav tm="0">
                                          <p:val>
                                            <p:strVal val="#ppt_y"/>
                                          </p:val>
                                        </p:tav>
                                        <p:tav tm="100000">
                                          <p:val>
                                            <p:strVal val="#ppt_y"/>
                                          </p:val>
                                        </p:tav>
                                      </p:tavLst>
                                    </p:anim>
                                  </p:childTnLst>
                                </p:cTn>
                              </p:par>
                              <p:par>
                                <p:cTn id="14" presetID="2" presetClass="entr" presetSubtype="2" decel="5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600" fill="hold"/>
                                        <p:tgtEl>
                                          <p:spTgt spid="6"/>
                                        </p:tgtEl>
                                        <p:attrNameLst>
                                          <p:attrName>ppt_x</p:attrName>
                                        </p:attrNameLst>
                                      </p:cBhvr>
                                      <p:tavLst>
                                        <p:tav tm="0">
                                          <p:val>
                                            <p:strVal val="1+#ppt_w/2"/>
                                          </p:val>
                                        </p:tav>
                                        <p:tav tm="100000">
                                          <p:val>
                                            <p:strVal val="#ppt_x"/>
                                          </p:val>
                                        </p:tav>
                                      </p:tavLst>
                                    </p:anim>
                                    <p:anim calcmode="lin" valueType="num">
                                      <p:cBhvr additive="base">
                                        <p:cTn id="17" dur="600" fill="hold"/>
                                        <p:tgtEl>
                                          <p:spTgt spid="6"/>
                                        </p:tgtEl>
                                        <p:attrNameLst>
                                          <p:attrName>ppt_y</p:attrName>
                                        </p:attrNameLst>
                                      </p:cBhvr>
                                      <p:tavLst>
                                        <p:tav tm="0">
                                          <p:val>
                                            <p:strVal val="#ppt_y"/>
                                          </p:val>
                                        </p:tav>
                                        <p:tav tm="100000">
                                          <p:val>
                                            <p:strVal val="#ppt_y"/>
                                          </p:val>
                                        </p:tav>
                                      </p:tavLst>
                                    </p:anim>
                                  </p:childTnLst>
                                </p:cTn>
                              </p:par>
                              <p:par>
                                <p:cTn id="18" presetID="2" presetClass="entr" presetSubtype="2" decel="5000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600" fill="hold"/>
                                        <p:tgtEl>
                                          <p:spTgt spid="3"/>
                                        </p:tgtEl>
                                        <p:attrNameLst>
                                          <p:attrName>ppt_x</p:attrName>
                                        </p:attrNameLst>
                                      </p:cBhvr>
                                      <p:tavLst>
                                        <p:tav tm="0">
                                          <p:val>
                                            <p:strVal val="1+#ppt_w/2"/>
                                          </p:val>
                                        </p:tav>
                                        <p:tav tm="100000">
                                          <p:val>
                                            <p:strVal val="#ppt_x"/>
                                          </p:val>
                                        </p:tav>
                                      </p:tavLst>
                                    </p:anim>
                                    <p:anim calcmode="lin" valueType="num">
                                      <p:cBhvr additive="base">
                                        <p:cTn id="21" dur="6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7200" y="3530601"/>
            <a:ext cx="8229600" cy="492122"/>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800" b="0" i="0" u="none" strike="noStrike" kern="1200" cap="none" spc="0" normalizeH="0" baseline="0" noProof="0" dirty="0" smtClean="0">
                <a:ln>
                  <a:noFill/>
                </a:ln>
                <a:solidFill>
                  <a:srgbClr val="1B6AA3"/>
                </a:solidFill>
                <a:effectLst/>
                <a:uLnTx/>
                <a:uFillTx/>
                <a:latin typeface="+mj-lt"/>
                <a:ea typeface="+mn-ea"/>
                <a:cs typeface="+mn-cs"/>
              </a:rPr>
              <a:t>Thanks For Watching!</a:t>
            </a:r>
            <a:endParaRPr kumimoji="0" lang="en-US" sz="5800" b="0" i="0" u="none" strike="noStrike" kern="1200" cap="none" spc="0" normalizeH="0" baseline="0" noProof="0" dirty="0">
              <a:ln>
                <a:noFill/>
              </a:ln>
              <a:solidFill>
                <a:srgbClr val="1B6AA3"/>
              </a:solidFill>
              <a:effectLst/>
              <a:uLnTx/>
              <a:uFillTx/>
              <a:latin typeface="+mj-lt"/>
              <a:ea typeface="+mn-ea"/>
              <a:cs typeface="+mn-cs"/>
            </a:endParaRPr>
          </a:p>
        </p:txBody>
      </p:sp>
      <p:sp>
        <p:nvSpPr>
          <p:cNvPr id="6" name="Subtitle 4"/>
          <p:cNvSpPr txBox="1">
            <a:spLocks/>
          </p:cNvSpPr>
          <p:nvPr/>
        </p:nvSpPr>
        <p:spPr>
          <a:xfrm>
            <a:off x="457200" y="4473812"/>
            <a:ext cx="8229600" cy="406400"/>
          </a:xfrm>
          <a:prstGeom prst="rect">
            <a:avLst/>
          </a:prstGeom>
          <a:ln>
            <a:noFill/>
          </a:ln>
        </p:spPr>
        <p:txBody>
          <a:bodyPr vert="horz" lIns="91440" tIns="45720" rIns="91440" bIns="45720" rtlCol="0">
            <a:noAutofit/>
          </a:bodyPr>
          <a:lstStyle/>
          <a:p>
            <a:pPr marL="342900" marR="0" lvl="0" indent="-342900" algn="ctr" defTabSz="914400" rtl="0" eaLnBrk="1" fontAlgn="auto" latinLnBrk="0" hangingPunct="1">
              <a:lnSpc>
                <a:spcPct val="100000"/>
              </a:lnSpc>
              <a:spcBef>
                <a:spcPct val="20000"/>
              </a:spcBef>
              <a:spcAft>
                <a:spcPts val="0"/>
              </a:spcAft>
              <a:buClrTx/>
              <a:buSzTx/>
              <a:buFontTx/>
              <a:buNone/>
              <a:tabLst/>
              <a:defRPr/>
            </a:pPr>
            <a:r>
              <a:rPr kumimoji="0" lang="ms-MY" sz="2400" b="1" i="0" u="none" strike="noStrike" kern="1200" cap="none" spc="0" normalizeH="0" baseline="0" noProof="0" dirty="0" smtClean="0">
                <a:ln>
                  <a:noFill/>
                </a:ln>
                <a:solidFill>
                  <a:srgbClr val="A6A6A6"/>
                </a:solidFill>
                <a:effectLst/>
                <a:uLnTx/>
                <a:uFillTx/>
                <a:latin typeface="+mj-lt"/>
                <a:ea typeface="+mn-ea"/>
                <a:cs typeface="+mn-cs"/>
              </a:rPr>
              <a:t>Meet Happy Enjoy!</a:t>
            </a:r>
            <a:endParaRPr kumimoji="0" lang="en-US" sz="2400" b="1" i="0" u="none" strike="noStrike" kern="1200" cap="none" spc="0" normalizeH="0" baseline="0" noProof="0" dirty="0">
              <a:ln>
                <a:noFill/>
              </a:ln>
              <a:solidFill>
                <a:srgbClr val="A6A6A6"/>
              </a:solidFill>
              <a:effectLst/>
              <a:uLnTx/>
              <a:uFillTx/>
              <a:latin typeface="+mj-lt"/>
              <a:ea typeface="+mn-ea"/>
              <a:cs typeface="+mn-cs"/>
            </a:endParaRPr>
          </a:p>
        </p:txBody>
      </p:sp>
      <p:sp>
        <p:nvSpPr>
          <p:cNvPr id="7" name="AutoShape 81"/>
          <p:cNvSpPr>
            <a:spLocks/>
          </p:cNvSpPr>
          <p:nvPr/>
        </p:nvSpPr>
        <p:spPr bwMode="auto">
          <a:xfrm>
            <a:off x="4122744" y="2087608"/>
            <a:ext cx="850730" cy="9452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rgbClr val="1B6AA3"/>
          </a:solidFill>
          <a:ln>
            <a:solidFill>
              <a:srgbClr val="1B6AA3"/>
            </a:solid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20" tIns="45720" rIns="45720" bIns="45720" anchor="ctr"/>
          <a:lstStyle/>
          <a:p>
            <a:pPr defTabSz="548640"/>
            <a:endParaRPr lang="en-US" sz="3600">
              <a:solidFill>
                <a:srgbClr val="1B6AA3"/>
              </a:solidFill>
              <a:effectLst>
                <a:outerShdw blurRad="38100" dist="38100" dir="2700000" algn="tl">
                  <a:srgbClr val="000000"/>
                </a:outerShdw>
              </a:effectLst>
            </a:endParaRPr>
          </a:p>
        </p:txBody>
      </p:sp>
    </p:spTree>
    <p:extLst>
      <p:ext uri="{BB962C8B-B14F-4D97-AF65-F5344CB8AC3E}">
        <p14:creationId xmlns:p14="http://schemas.microsoft.com/office/powerpoint/2010/main" val="1901461667"/>
      </p:ext>
    </p:extLst>
  </p:cSld>
  <p:clrMapOvr>
    <a:masterClrMapping/>
  </p:clrMapOvr>
  <p:transition spd="med">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8|9.4|8.1|12.1"/>
</p:tagLst>
</file>

<file path=ppt/tags/tag2.xml><?xml version="1.0" encoding="utf-8"?>
<p:tagLst xmlns:a="http://schemas.openxmlformats.org/drawingml/2006/main" xmlns:r="http://schemas.openxmlformats.org/officeDocument/2006/relationships" xmlns:p="http://schemas.openxmlformats.org/presentationml/2006/main">
  <p:tag name="TIMING" val="|1.5|10.7|4.8"/>
</p:tagLst>
</file>

<file path=ppt/tags/tag3.xml><?xml version="1.0" encoding="utf-8"?>
<p:tagLst xmlns:a="http://schemas.openxmlformats.org/drawingml/2006/main" xmlns:r="http://schemas.openxmlformats.org/officeDocument/2006/relationships" xmlns:p="http://schemas.openxmlformats.org/presentationml/2006/main">
  <p:tag name="TIMING" val="|9.5|3.2|4.6|0.8|2.1|1.7|13.5"/>
</p:tagLst>
</file>

<file path=ppt/tags/tag4.xml><?xml version="1.0" encoding="utf-8"?>
<p:tagLst xmlns:a="http://schemas.openxmlformats.org/drawingml/2006/main" xmlns:r="http://schemas.openxmlformats.org/officeDocument/2006/relationships" xmlns:p="http://schemas.openxmlformats.org/presentationml/2006/main">
  <p:tag name="TIMING" val="|14.2|1.4"/>
</p:tagLst>
</file>

<file path=ppt/tags/tag5.xml><?xml version="1.0" encoding="utf-8"?>
<p:tagLst xmlns:a="http://schemas.openxmlformats.org/drawingml/2006/main" xmlns:r="http://schemas.openxmlformats.org/officeDocument/2006/relationships" xmlns:p="http://schemas.openxmlformats.org/presentationml/2006/main">
  <p:tag name="TIMING" val="|3.9|9.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ustom 1">
      <a:dk1>
        <a:srgbClr val="000000"/>
      </a:dk1>
      <a:lt1>
        <a:sysClr val="window" lastClr="FFFFFF"/>
      </a:lt1>
      <a:dk2>
        <a:srgbClr val="3F3F3F"/>
      </a:dk2>
      <a:lt2>
        <a:srgbClr val="FCFCFC"/>
      </a:lt2>
      <a:accent1>
        <a:srgbClr val="F8D35E"/>
      </a:accent1>
      <a:accent2>
        <a:srgbClr val="1B6AA3"/>
      </a:accent2>
      <a:accent3>
        <a:srgbClr val="3FD5BA"/>
      </a:accent3>
      <a:accent4>
        <a:srgbClr val="F47264"/>
      </a:accent4>
      <a:accent5>
        <a:srgbClr val="8F8FBF"/>
      </a:accent5>
      <a:accent6>
        <a:srgbClr val="7CC8EC"/>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lumMod val="20000"/>
            <a:lumOff val="8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1_Office Theme">
  <a:themeElements>
    <a:clrScheme name="Custom 1">
      <a:dk1>
        <a:srgbClr val="000000"/>
      </a:dk1>
      <a:lt1>
        <a:sysClr val="window" lastClr="FFFFFF"/>
      </a:lt1>
      <a:dk2>
        <a:srgbClr val="3F3F3F"/>
      </a:dk2>
      <a:lt2>
        <a:srgbClr val="FCFCFC"/>
      </a:lt2>
      <a:accent1>
        <a:srgbClr val="F8D35E"/>
      </a:accent1>
      <a:accent2>
        <a:srgbClr val="1B6AA3"/>
      </a:accent2>
      <a:accent3>
        <a:srgbClr val="3FD5BA"/>
      </a:accent3>
      <a:accent4>
        <a:srgbClr val="F47264"/>
      </a:accent4>
      <a:accent5>
        <a:srgbClr val="8F8FBF"/>
      </a:accent5>
      <a:accent6>
        <a:srgbClr val="7CC8EC"/>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lumMod val="20000"/>
            <a:lumOff val="8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3_Office Theme">
  <a:themeElements>
    <a:clrScheme name="Custom 1">
      <a:dk1>
        <a:srgbClr val="000000"/>
      </a:dk1>
      <a:lt1>
        <a:sysClr val="window" lastClr="FFFFFF"/>
      </a:lt1>
      <a:dk2>
        <a:srgbClr val="3F3F3F"/>
      </a:dk2>
      <a:lt2>
        <a:srgbClr val="FCFCFC"/>
      </a:lt2>
      <a:accent1>
        <a:srgbClr val="F8D35E"/>
      </a:accent1>
      <a:accent2>
        <a:srgbClr val="1B6AA3"/>
      </a:accent2>
      <a:accent3>
        <a:srgbClr val="3FD5BA"/>
      </a:accent3>
      <a:accent4>
        <a:srgbClr val="F47264"/>
      </a:accent4>
      <a:accent5>
        <a:srgbClr val="8F8FBF"/>
      </a:accent5>
      <a:accent6>
        <a:srgbClr val="7CC8EC"/>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lumMod val="20000"/>
            <a:lumOff val="8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2569</TotalTime>
  <Words>2398</Words>
  <Application>Microsoft Macintosh PowerPoint</Application>
  <PresentationFormat>全屏显示(4:3)</PresentationFormat>
  <Paragraphs>205</Paragraphs>
  <Slides>19</Slides>
  <Notes>17</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19</vt:i4>
      </vt:variant>
    </vt:vector>
  </HeadingPairs>
  <TitlesOfParts>
    <vt:vector size="32" baseType="lpstr">
      <vt:lpstr>Calibri</vt:lpstr>
      <vt:lpstr>Cambria Math</vt:lpstr>
      <vt:lpstr>Open Sans</vt:lpstr>
      <vt:lpstr>Source Sans Pro</vt:lpstr>
      <vt:lpstr>Wingdings</vt:lpstr>
      <vt:lpstr>等线</vt:lpstr>
      <vt:lpstr>等线 Light</vt:lpstr>
      <vt:lpstr>宋体</vt:lpstr>
      <vt:lpstr>Arial</vt:lpstr>
      <vt:lpstr>Office 主题​​</vt:lpstr>
      <vt:lpstr>Office Theme</vt:lpstr>
      <vt:lpstr>1_Office Theme</vt:lpstr>
      <vt:lpstr>3_Office Theme</vt:lpstr>
      <vt:lpstr>Verifiable and Privacy Preserving Computation in Data Markets</vt:lpstr>
      <vt:lpstr>PowerPoint 演示文稿</vt:lpstr>
      <vt:lpstr>PowerPoint 演示文稿</vt:lpstr>
      <vt:lpstr>PowerPoint 演示文稿</vt:lpstr>
      <vt:lpstr>PowerPoint 演示文稿</vt:lpstr>
      <vt:lpstr>PowerPoint 演示文稿</vt:lpstr>
      <vt:lpstr>Our Approach: TPDM</vt:lpstr>
      <vt:lpstr>PowerPoint 演示文稿</vt:lpstr>
      <vt:lpstr>PowerPoint 演示文稿</vt:lpstr>
      <vt:lpstr>PowerPoint 演示文稿</vt:lpstr>
      <vt:lpstr>Evaluation Result</vt:lpstr>
      <vt:lpstr>PowerPoint 演示文稿</vt:lpstr>
      <vt:lpstr>PowerPoint 演示文稿</vt:lpstr>
      <vt:lpstr>PowerPoint 演示文稿</vt:lpstr>
      <vt:lpstr>PowerPoint 演示文稿</vt:lpstr>
      <vt:lpstr>PowerPoint 演示文稿</vt:lpstr>
      <vt:lpstr>PowerPoint 演示文稿</vt:lpstr>
      <vt:lpstr>Q &amp; A</vt:lpstr>
      <vt:lpstr>PowerPoint 演示文稿</vt:lpstr>
    </vt:vector>
  </TitlesOfParts>
  <Company>SJTU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Verifiable and Privacy Preserving Computation in Data Markets</dc:title>
  <dc:creator>Rvince Niu</dc:creator>
  <cp:lastModifiedBy>Niu, Chaoyue</cp:lastModifiedBy>
  <cp:revision>568</cp:revision>
  <dcterms:created xsi:type="dcterms:W3CDTF">2017-06-05T12:19:41Z</dcterms:created>
  <dcterms:modified xsi:type="dcterms:W3CDTF">2018-06-04T05:55:45Z</dcterms:modified>
</cp:coreProperties>
</file>